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97dc59a01451c" /><Relationship Type="http://schemas.openxmlformats.org/officeDocument/2006/relationships/extended-properties" Target="/docProps/app.xml" Id="R2e8394c96283486d" /><Relationship Type="http://schemas.openxmlformats.org/officeDocument/2006/relationships/officeDocument" Target="/ppt/presentation.xml" Id="R67d939662f18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56f835daa4179"/>
  </p:sldMasterIdLst>
  <p:notesMasterIdLst>
    <p:notesMasterId xmlns:r="http://schemas.openxmlformats.org/officeDocument/2006/relationships" r:id="R029938cd0046463a"/>
  </p:notesMasterIdLst>
  <p:sldIdLst>
    <p:sldId xmlns:r="http://schemas.openxmlformats.org/officeDocument/2006/relationships" id="256" r:id="R3574e77ab8434054"/>
    <p:sldId xmlns:r="http://schemas.openxmlformats.org/officeDocument/2006/relationships" id="257" r:id="R80768517b8504739"/>
    <p:sldId xmlns:r="http://schemas.openxmlformats.org/officeDocument/2006/relationships" id="258" r:id="R5d661a6ea8724d5d"/>
    <p:sldId xmlns:r="http://schemas.openxmlformats.org/officeDocument/2006/relationships" id="259" r:id="R173c5a274d444813"/>
    <p:sldId xmlns:r="http://schemas.openxmlformats.org/officeDocument/2006/relationships" id="260" r:id="R26f3d89a7be249e6"/>
    <p:sldId xmlns:r="http://schemas.openxmlformats.org/officeDocument/2006/relationships" id="261" r:id="Ref14927e5cec48ca"/>
    <p:sldId xmlns:r="http://schemas.openxmlformats.org/officeDocument/2006/relationships" id="262" r:id="Rdd3f9d4d2f274562"/>
    <p:sldId xmlns:r="http://schemas.openxmlformats.org/officeDocument/2006/relationships" id="263" r:id="R8dc74f9a18974d55"/>
    <p:sldId xmlns:r="http://schemas.openxmlformats.org/officeDocument/2006/relationships" id="264" r:id="R7dd1e5d5097b4780"/>
    <p:sldId xmlns:r="http://schemas.openxmlformats.org/officeDocument/2006/relationships" id="265" r:id="Rf6b36c7457404905"/>
    <p:sldId xmlns:r="http://schemas.openxmlformats.org/officeDocument/2006/relationships" id="266" r:id="R9be32bcddb4549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c548d0884e4872" /><Relationship Type="http://schemas.openxmlformats.org/officeDocument/2006/relationships/slideMaster" Target="/ppt/slideMasters/slideMaster1.xml" Id="R6b356f835daa4179" /><Relationship Type="http://schemas.openxmlformats.org/officeDocument/2006/relationships/notesMaster" Target="/ppt/notesMasters/notesMaster1.xml" Id="R029938cd0046463a" /><Relationship Type="http://schemas.openxmlformats.org/officeDocument/2006/relationships/presProps" Target="/ppt/presProps.xml" Id="Rcc56549110c34fa0" /><Relationship Type="http://schemas.openxmlformats.org/officeDocument/2006/relationships/tableStyles" Target="/ppt/tableStyles.xml" Id="R43766f47ecc142c8" /><Relationship Type="http://schemas.openxmlformats.org/officeDocument/2006/relationships/slide" Target="/ppt/slides/slide1.xml" Id="R3574e77ab8434054" /><Relationship Type="http://schemas.openxmlformats.org/officeDocument/2006/relationships/slide" Target="/ppt/slides/slide2.xml" Id="R80768517b8504739" /><Relationship Type="http://schemas.openxmlformats.org/officeDocument/2006/relationships/slide" Target="/ppt/slides/slide3.xml" Id="R5d661a6ea8724d5d" /><Relationship Type="http://schemas.openxmlformats.org/officeDocument/2006/relationships/slide" Target="/ppt/slides/slide4.xml" Id="R173c5a274d444813" /><Relationship Type="http://schemas.openxmlformats.org/officeDocument/2006/relationships/slide" Target="/ppt/slides/slide5.xml" Id="R26f3d89a7be249e6" /><Relationship Type="http://schemas.openxmlformats.org/officeDocument/2006/relationships/slide" Target="/ppt/slides/slide6.xml" Id="Ref14927e5cec48ca" /><Relationship Type="http://schemas.openxmlformats.org/officeDocument/2006/relationships/slide" Target="/ppt/slides/slide7.xml" Id="Rdd3f9d4d2f274562" /><Relationship Type="http://schemas.openxmlformats.org/officeDocument/2006/relationships/slide" Target="/ppt/slides/slide8.xml" Id="R8dc74f9a18974d55" /><Relationship Type="http://schemas.openxmlformats.org/officeDocument/2006/relationships/slide" Target="/ppt/slides/slide9.xml" Id="R7dd1e5d5097b4780" /><Relationship Type="http://schemas.openxmlformats.org/officeDocument/2006/relationships/slide" Target="/ppt/slides/slide10.xml" Id="Rf6b36c7457404905" /><Relationship Type="http://schemas.openxmlformats.org/officeDocument/2006/relationships/slide" Target="/ppt/slides/slide11.xml" Id="R9be32bcddb45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e6878167e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b85f7c5e34f1b" /><Relationship Type="http://schemas.openxmlformats.org/officeDocument/2006/relationships/notesMaster" Target="/ppt/notesMasters/notesMaster1.xml" Id="Rc015e3fca803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6d2eac2084526" /><Relationship Type="http://schemas.openxmlformats.org/officeDocument/2006/relationships/notesMaster" Target="/ppt/notesMasters/notesMaster1.xml" Id="R10b21122d0cf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fae0838ff14770" /><Relationship Type="http://schemas.openxmlformats.org/officeDocument/2006/relationships/notesMaster" Target="/ppt/notesMasters/notesMaster1.xml" Id="Rcfd4f40f0850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c056111b13423c" /><Relationship Type="http://schemas.openxmlformats.org/officeDocument/2006/relationships/notesMaster" Target="/ppt/notesMasters/notesMaster1.xml" Id="R12e98ea1cc81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45a706c28f49e5" /><Relationship Type="http://schemas.openxmlformats.org/officeDocument/2006/relationships/notesMaster" Target="/ppt/notesMasters/notesMaster1.xml" Id="Rf22fe9cbd5e2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724538440a457e" /><Relationship Type="http://schemas.openxmlformats.org/officeDocument/2006/relationships/notesMaster" Target="/ppt/notesMasters/notesMaster1.xml" Id="Rd9536dd18f21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49bc3af5044726" /><Relationship Type="http://schemas.openxmlformats.org/officeDocument/2006/relationships/notesMaster" Target="/ppt/notesMasters/notesMaster1.xml" Id="R934452d5eaa848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967de349a642d7" /><Relationship Type="http://schemas.openxmlformats.org/officeDocument/2006/relationships/notesMaster" Target="/ppt/notesMasters/notesMaster1.xml" Id="Reed31bb1c149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336a4022384347" /><Relationship Type="http://schemas.openxmlformats.org/officeDocument/2006/relationships/notesMaster" Target="/ppt/notesMasters/notesMaster1.xml" Id="R21effc132b2d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4ffda2805a4d1b" /><Relationship Type="http://schemas.openxmlformats.org/officeDocument/2006/relationships/notesMaster" Target="/ppt/notesMasters/notesMaster1.xml" Id="R09f3b4b337e844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822344848a4eaf" /><Relationship Type="http://schemas.openxmlformats.org/officeDocument/2006/relationships/notesMaster" Target="/ppt/notesMasters/notesMaster1.xml" Id="Rd0ed15cf740640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발표 자료가 아니라 이번 주 기술 진행과 멘토 피드백을 받기 위한 보고 자료다. 우측 화면은 구현 완료 화면이 아니라 운영 UI TO-BE 콘셉트다.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Docs/AI_MASTER/01_역량및기술스택.md</a:t>
            </a:r>
          </a:p>
          <a:p xmlns:a="http://schemas.openxmlformats.org/drawingml/2006/main">
            <a:r>
              <a:t>- Docs/AI_MASTER/07_E2E서비스개발.md</a:t>
            </a:r>
          </a:p>
          <a:p xmlns:a="http://schemas.openxmlformats.org/drawingml/2006/main">
            <a:r>
              <a:t>- prototype/final_ui_mockup.png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현재까지의 핵심 진척을 한 장으로 설명한다. Vertical Slice의 CREATE/UPDATE를 유지하면서 7 Action, 사용자 확인, 로그, 품질 검증까지 확장했다.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Docs/AI_MASTER/05_POC모듈구현.md</a:t>
            </a:r>
          </a:p>
          <a:p xmlns:a="http://schemas.openxmlformats.org/drawingml/2006/main">
            <a:r>
              <a:t>- Docs/IMPLEMENTATION/08_멘토_시연_브리핑.md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Node는 별도 서버가 아니라 한 건의 Mail이 통과하는 논리 책임 단위다. Task 상태와 History가 다음 Mail 판단의 Context가 되므로 단순 분류보다 Agentic한 폐루프를 가진다.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src/mailtaskagent/decision.py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출력은 제안이자 구조화 정보다. 최종 Action과 DB 변경은 Python이 결정하며, 중요한 상태 변경은 사용자가 확정한다.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Docs/AI_MASTER/05_POC모듈구현.md</a:t>
            </a:r>
          </a:p>
          <a:p xmlns:a="http://schemas.openxmlformats.org/drawingml/2006/main">
            <a:r>
              <a:t>- src/mailtaskagent/llm_client.py</a:t>
            </a:r>
          </a:p>
          <a:p xmlns:a="http://schemas.openxmlformats.org/drawingml/2006/main">
            <a:r>
              <a:t>- src/mailtaskagent/storage.py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Action과 Status를 구분한다. Action은 이번 Mail에 대한 결정이고 Status는 Task의 현재 상태다. 완료·취소·기한 단축 같은 중요 변경은 사용자 확인을 통과한다.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시나리오와 검증 Case를 구분한다. SC-001~003은 사용자 여정이고, 15개 Business/Security Case는 각 여정의 경계 조건이다.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Docs/AI_MASTER/03_시나리오수립.md</a:t>
            </a:r>
          </a:p>
          <a:p xmlns:a="http://schemas.openxmlformats.org/drawingml/2006/main">
            <a:r>
              <a:t>- data/scenario_expectations.json</a:t>
            </a:r>
          </a:p>
          <a:p xmlns:a="http://schemas.openxmlformats.org/drawingml/2006/main">
            <a:r>
              <a:t>- data/dummy_mails.json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매 Mail마다 분석 버튼을 누르는 제품 설계가 아니다. 현재 Batch 버튼은 합성 Mail Source에서 신규 메일 15건이 들어오는 상황을 재현한다. 실제 Mail Adapter는 Core 안정화 이후 입력 경계에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src/mailtaskagent/ui.py</a:t>
            </a:r>
          </a:p>
          <a:p xmlns:a="http://schemas.openxmlformats.org/drawingml/2006/main">
            <a:r>
              <a:t>- Docs/IMPLEMENTATION/08_멘토_시연_브리핑.md</a:t>
            </a:r>
          </a:p>
          <a:p xmlns:a="http://schemas.openxmlformats.org/drawingml/2006/main">
            <a:r>
              <a:t>- prototype/current_streamlit_ui.png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로그에는 Mail 입력부터 완료까지 단계별 Processing Event를 표시한다. Audit History에는 실제 Task 변경 전후와 판단 근거, 사용자 결정을 남긴다. Secret은 저장 전에 제거한다.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src/mailtaskagent/ui.py</a:t>
            </a:r>
          </a:p>
          <a:p xmlns:a="http://schemas.openxmlformats.org/drawingml/2006/main">
            <a:r>
              <a:t>- src/mailtaskagent/storage.py</a:t>
            </a:r>
          </a:p>
          <a:p xmlns:a="http://schemas.openxmlformats.org/drawingml/2006/main">
            <a:r>
              <a:t>- Docs/AI_MASTER/06_테스트및고도화.md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15/15와 28/28은 현재 정의한 합성 Dataset의 E2E 결과다. 사용자 확인율 46.7%는 위험 경계 Case를 의도적으로 많이 넣은 평가 구성의 결과이며 실제 운영 메일 비율 예측이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evidence/live_evaluation_2026-08-26.json</a:t>
            </a:r>
          </a:p>
          <a:p xmlns:a="http://schemas.openxmlformats.org/drawingml/2006/main">
            <a:r>
              <a:t>- Docs/AI_MASTER/06_테스트및고도화.md</a:t>
            </a:r>
          </a:p>
          <a:p xmlns:a="http://schemas.openxmlformats.org/drawingml/2006/main">
            <a:r>
              <a:t>- Docs/IMPLEMENTATION/06_테스트_전략_및_케이스.md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TO-BE 화면은 Streamlit Core 구조를 버리는 것이 아니라, 동일 기능을 일상 업무 중심 정보구조로 다듬는 방향이다. 자동 동기화는 Mail Adapter가 연결된 이후의 사용자 경험이다.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prototype/final_ui_mockup.html</a:t>
            </a:r>
          </a:p>
          <a:p xmlns:a="http://schemas.openxmlformats.org/drawingml/2006/main">
            <a:r>
              <a:t>- prototype/final_ui_mockup.png</a:t>
            </a:r>
          </a:p>
          <a:p xmlns:a="http://schemas.openxmlformats.org/drawingml/2006/main">
            <a:r>
              <a:t>- Docs/AI_MASTER/07_E2E서비스개발.md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완성을 최우선으로 Core 범위를 유지한다. 테스트 Gmail은 Core E2E와 KPI가 안정화되고 일정이 남을 경우에만 진행한다. Outlook/Graph와 사내 운영환경은 Post-MVP다.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Docs/AI_MASTER/01_역량및기술스택.md</a:t>
            </a:r>
          </a:p>
          <a:p xmlns:a="http://schemas.openxmlformats.org/drawingml/2006/main">
            <a:r>
              <a:t>- Docs/AI_MASTER/07_E2E서비스개발.md</a:t>
            </a:r>
          </a:p>
          <a:p xmlns:a="http://schemas.openxmlformats.org/drawingml/2006/main">
            <a:r>
              <a:t>- Docs/IMPLEMENTATION/05_3단계_최종_E2E_구현범위.md</a:t>
            </a:r>
          </a:p>
          <a:p xmlns:a="http://schemas.openxmlformats.org/drawingml/2006/main">
            <a:r>
              <a:t>- Docs/IMPLEMENTATION/07_4단계_Post_MVP_사내확장.md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d1ec2320245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9488e877549e3" /><Relationship Type="http://schemas.openxmlformats.org/officeDocument/2006/relationships/slideLayout" Target="/ppt/slideLayouts/slideLayout1.xml" Id="Rcbc942cc77db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942cc77db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60cf980a94bd8" /><Relationship Type="http://schemas.openxmlformats.org/officeDocument/2006/relationships/image" Target="/ppt/media/image.png" Id="Ra88cae205e354b23" /><Relationship Type="http://schemas.openxmlformats.org/officeDocument/2006/relationships/notesSlide" Target="/ppt/notesSlides/notesSlide1.xml" Id="R853ca1d8627944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0e48322544228" /><Relationship Type="http://schemas.openxmlformats.org/officeDocument/2006/relationships/notesSlide" Target="/ppt/notesSlides/notesSlide2.xml" Id="Rae99cf685a11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256a507ab48bc" /><Relationship Type="http://schemas.openxmlformats.org/officeDocument/2006/relationships/notesSlide" Target="/ppt/notesSlides/notesSlide3.xml" Id="R71a734b035114f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e2ea405c249b4" /><Relationship Type="http://schemas.openxmlformats.org/officeDocument/2006/relationships/notesSlide" Target="/ppt/notesSlides/notesSlide4.xml" Id="R89a75541cebd4a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de0e7794b4d48" /><Relationship Type="http://schemas.openxmlformats.org/officeDocument/2006/relationships/notesSlide" Target="/ppt/notesSlides/notesSlide5.xml" Id="R63aac63538d4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eec54bef54c6f" /><Relationship Type="http://schemas.openxmlformats.org/officeDocument/2006/relationships/notesSlide" Target="/ppt/notesSlides/notesSlide6.xml" Id="Rf5ab8522843046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0277e3734d3b" /><Relationship Type="http://schemas.openxmlformats.org/officeDocument/2006/relationships/image" Target="/ppt/media/image2.png" Id="R3d2af76b2ab64b57" /><Relationship Type="http://schemas.openxmlformats.org/officeDocument/2006/relationships/notesSlide" Target="/ppt/notesSlides/notesSlide7.xml" Id="Rfedaf2955c2345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d78d53a124741" /><Relationship Type="http://schemas.openxmlformats.org/officeDocument/2006/relationships/notesSlide" Target="/ppt/notesSlides/notesSlide8.xml" Id="R4f4cfeca70e1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a21940d842d0" /><Relationship Type="http://schemas.openxmlformats.org/officeDocument/2006/relationships/notesSlide" Target="/ppt/notesSlides/notesSlide9.xml" Id="R3f360238a5cf4a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53b54101844df" /><Relationship Type="http://schemas.openxmlformats.org/officeDocument/2006/relationships/image" Target="/ppt/media/image3.png" Id="Re7acfb55565546e0" /><Relationship Type="http://schemas.openxmlformats.org/officeDocument/2006/relationships/notesSlide" Target="/ppt/notesSlides/notesSlide10.xml" Id="R24f242eb19ae47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10c21031d42c3" /><Relationship Type="http://schemas.openxmlformats.org/officeDocument/2006/relationships/notesSlide" Target="/ppt/notesSlides/notesSlide11.xml" Id="R8390d28f5c5a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CD01-3CAA-4611-8E7B-A32427A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AI MASTER · 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2DEA0-E912-49BC-A469-5451C7C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MailTaskAgent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0F2FC-3474-42E7-9866-5386FAE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메일을 Task Lifecycle로 전환하는</a:t>
            </a:r>
          </a:p>
          <a:p xmlns:a="http://schemas.openxmlformats.org/drawingml/2006/main">
            <a:pPr algn="l">
              <a:defRPr sz="24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Agentic AI Core 진행 보고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57200" y="34290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169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FBD44-B06F-48AB-AA57-311ECC16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Node · Action · Human-in-the-loop ·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D18AF-889A-4777-B3DF-3A4DD7A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2026.08.27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82E25-DAE4-4CC5-8D13-8EB55B7E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"/>
            <a:ext cx="5638800" cy="5581650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F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cae205e354b23"/>
          <a:stretch xmlns:a="http://schemas.openxmlformats.org/drawingml/2006/main"/>
        </p:blipFill>
        <p:spPr>
          <a:xfrm xmlns:a="http://schemas.openxmlformats.org/drawingml/2006/main">
            <a:off x="6343650" y="1466850"/>
            <a:ext cx="5143500" cy="3371850"/>
          </a:xfrm>
          <a:prstGeom xmlns:a="http://schemas.openxmlformats.org/drawingml/2006/main" prst="roundRect">
            <a:avLst>
              <a:gd name="adj" fmla="val 2299"/>
            </a:avLst>
          </a:prstGeom>
        </p:spPr>
      </p:pic>
    </p:spTree>
    <p:extLst>
      <p:ext uri="{BB962C8B-B14F-4D97-AF65-F5344CB8AC3E}">
        <p14:creationId xmlns:p14="http://schemas.microsoft.com/office/powerpoint/2010/main" val="212996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69599-E9F4-4843-B402-52C681D8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EC9A3-E0EB-46C9-BBA8-C708C9A2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이번 주에는 Core E2E의 ‘판단–실행–추적’ 고리가 연결됐습니다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CA2BB-3A40-44A4-A28F-6B9953C3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ECF5E-F7DA-4933-8B1E-70FC2C2C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메일 분석 결과가 화면에 보이는 데서 끝나지 않고, 기존 Task와 상태를 조회해 Action을 결정하고 안전하게 반영합니다.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D2F60-A7B7-4AE2-B0A9-A5B473FB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Mail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733550" y="27241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69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C52C9-7924-48C0-A059-8117265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362450" y="27241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69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836F9-2F5B-466E-BFE0-5F0092E4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877050" y="27241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69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DCE97-B61D-49A6-A0CA-324515FA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753600" y="27241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69E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84FBD-5849-454B-A2A5-3620F00B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955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History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57200" y="3695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E142B-A8F6-4C19-B6D5-8FF0AD42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M-01~M-05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6119C-84AF-41C6-A239-F6ADEB4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공통 Node 연결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2990850" y="42291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E92A4-4B82-40C3-866A-9FD6E3CD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7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785AB-A667-4081-B370-D43C7C4D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실행 경로 구현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753100" y="42291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B1118-5739-4355-A14D-738AB2B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BA825-AA5B-4B5C-AB09-5F0DA454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회사 LLM Live Case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515350" y="42291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89EA3-3BD4-4F25-9A52-D8D88D9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42 passed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A2D20-F152-470D-88C7-1E504B5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자동 회귀 테스트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C96FF-206D-43F1-B637-D19ADDD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04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264A"/>
          </a:solidFill>
          <a:ln xmlns:a="http://schemas.openxmlformats.org/drawingml/2006/main" w="9525">
            <a:solidFill>
              <a:srgbClr val="132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9B1AE-EA4D-47DE-8128-364AFEA4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변화: LLM이 직접 DB를 수정하지 않고, Python 검증과 사용자 확인을 통과한 결과만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589864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2664F1-F62B-492F-996D-8E9440C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6AD50-5D4F-4D77-BB59-6B819698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Agentic AI는 상태를 보고 다음 Action을 결정합니다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28317-DB8C-4EB7-A6C2-D1D2EE6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2266950" y="3124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4457700" y="3124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648450" y="3124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8839200" y="3124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4D561-6702-4BB7-A966-3D9CFCA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3AFF3-2F5B-4A39-A486-AC22FB7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ABEC9-5433-47E2-A5D1-6357067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Mail Analyzer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51C8C-8530-4B58-8B15-6A8DB67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업무 여부·Intent</a:t>
            </a:r>
          </a:p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요청·기한·근거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71486-1928-4C23-82EE-298D94E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5265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5A787-B50F-439A-8CC9-9EED0580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CFC34-0A8F-4F07-B650-49724DA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Task Matcher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860D2-2333-4FEE-82B4-7124FF6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conversation_id 우선</a:t>
            </a:r>
          </a:p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후보·점수·근거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34B26-25DD-4A34-97F1-16A97D8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5265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3264A"/>
          </a:solidFill>
          <a:ln xmlns:a="http://schemas.openxmlformats.org/drawingml/2006/main" w="9525">
            <a:solidFill>
              <a:srgbClr val="132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66F5E-14EE-451F-81ED-D6738D9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M-03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DDF08-A804-4D7E-8817-603894F5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Action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C45B6-0253-43DF-826C-4F97E6BE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6F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CE6FA"/>
                </a:solidFill>
                <a:latin typeface="Malgun Gothic"/>
                <a:ea typeface="Malgun Gothic"/>
                <a:cs typeface="Malgun Gothic"/>
              </a:rPr>
              <a:t>현재 Task 상태를 보고</a:t>
            </a:r>
          </a:p>
          <a:p xmlns:a="http://schemas.openxmlformats.org/drawingml/2006/main">
            <a:pPr algn="l">
              <a:defRPr sz="1275" b="0">
                <a:solidFill>
                  <a:srgbClr val="DCE6F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CE6FA"/>
                </a:solidFill>
                <a:latin typeface="Malgun Gothic"/>
                <a:ea typeface="Malgun Gothic"/>
                <a:cs typeface="Malgun Gothic"/>
              </a:rPr>
              <a:t>7 Action 중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92992-9F3F-421F-BAD5-39C44C4A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42AE8-C4C9-49ED-B760-68130F48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63CE5-F2A0-4C50-8A60-AAA7332A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State &amp;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96602-A6E1-44D2-99F1-F66755EE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Validation 이후</a:t>
            </a:r>
          </a:p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Transaction으로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B5390-F6A0-4A68-842B-AF65071E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EF16C-B2D7-40C1-8477-F8A826A0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M-05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F2F7A-AEC2-4CE6-8711-EDE879A0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Review &amp;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57EC4-6840-4E19-BC06-74BB2724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ASK_USER 확정</a:t>
            </a:r>
          </a:p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Dashboard·로그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1333500" y="480060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C7FB3-202A-48B8-9044-597F7C8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339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4A1FD-52A8-4261-AE91-ED47430A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339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D6043-5820-4270-97E1-C455F27C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48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새 후속 Mail이 들어오면 저장된 Task 상태와 History가 다시 Context가 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0444D-5E4F-404E-B074-87A2F8DF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Observe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A1EC2-3BCD-4F60-BA9E-D2013E70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→ Reason → Decide → Act → Verify → Memory</a:t>
            </a:r>
          </a:p>
        </p:txBody>
      </p:sp>
    </p:spTree>
    <p:extLst>
      <p:ext uri="{BB962C8B-B14F-4D97-AF65-F5344CB8AC3E}">
        <p14:creationId xmlns:p14="http://schemas.microsoft.com/office/powerpoint/2010/main" val="665283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84B6F-B4A4-46B5-BA31-F6FE97B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7CC86-4D0F-497B-A1E0-5E101DD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정확성과 안전성은 LLM·Python·사용자 역할 분리에서 나옵니다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4B010-F6E8-4485-B641-53E3588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03554-48DB-4856-9B1A-C527563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04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AB3B9-0653-4CF4-AF6B-E223704B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LLM · M-01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089BD-17D7-4FBD-99E5-6DF983A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478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메일 의미와 Intent를 구조화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B821-8126-4654-92DB-2EF0CD9F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요청 · 기한 · 완료/취소 표현 · 회신 필요 · 판단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A3E32-27B0-4614-BD55-8C5B4846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104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7F3"/>
          </a:solidFill>
          <a:ln xmlns:a="http://schemas.openxmlformats.org/drawingml/2006/main" w="9525">
            <a:solidFill>
              <a:srgbClr val="ECF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9CCA6-08EE-4DED-9A4A-1F954C3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PYTHON · M-02/M-03 + 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5B883-0D44-4504-A6FA-EC719CD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후보 검색 → 최종 Action → Validation → DB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A3866-A7A0-4CB6-A58F-08EEA92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Metadata/Token Matching · 7 Action · 5 Status · Transaction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8F920-2063-48BA-B205-FD02AA32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04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18AE2-047D-41BA-A5EF-A39E10E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USER · M-05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422D1-C87E-4C41-B579-0B027BE8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중요하거나 애매한 제안을 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CEA32-E81B-4C2E-9D0F-D4A4C79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68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기존 Task 연결 · 신규 Task · 무시 · 완료/취소/기한 단축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30682-EBFF-4C64-9791-42B753B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0764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3264A"/>
          </a:solidFill>
          <a:ln xmlns:a="http://schemas.openxmlformats.org/drawingml/2006/main" w="9525">
            <a:solidFill>
              <a:srgbClr val="132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B047C-D263-4B78-AA85-905D1221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DB 변경 권한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7A0B7-87FE-418F-8D46-AFF83938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검증된 Python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Logic에만 부여</a:t>
            </a:r>
          </a:p>
        </p:txBody>
      </p:sp>
    </p:spTree>
    <p:extLst>
      <p:ext uri="{BB962C8B-B14F-4D97-AF65-F5344CB8AC3E}">
        <p14:creationId xmlns:p14="http://schemas.microsoft.com/office/powerpoint/2010/main" val="1689925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D8C2BE-A48B-4D87-A131-9431A51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46D0-FC3B-475A-882F-A08070C4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7개 Action과 5개 Status로 Task Lifecycle을 제어합니다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D605B-A4AD-4358-9BBD-3FF2509C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F0491-1B5D-4C6D-B086-E1913D9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새 업무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6B910-A53A-41A6-B4A0-A07F4F92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2305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3A2A6-0DC6-4F13-BF3E-29F4928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CREATE_TASK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D2BD4-2C0E-452A-98E8-EB010CC2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811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진행·연결·대기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2F59C-F9EE-4A18-9D9D-DBF80C19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3486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231BC-3B9F-48A1-9BEB-0B3D34C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3181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UPDATE_TASK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LINK_TO_TASK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SET_WAITING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A1360-B853-46CB-881A-3969B03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811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8B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28B26"/>
                </a:solidFill>
                <a:latin typeface="Malgun Gothic"/>
                <a:ea typeface="Malgun Gothic"/>
                <a:cs typeface="Malgun Gothic"/>
              </a:rPr>
              <a:t>종료 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C1A7F-E867-4416-A1C1-05C4A33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2305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4720A-9D79-42BE-8E1D-99AB849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MARK_COMPLETED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C0D09-AE76-432E-8C8F-236BE8F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안전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F700B-433C-46F6-8624-6347678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43100"/>
            <a:ext cx="2438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7EBCC-B4F4-4A18-9024-C2991436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133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ASK_USER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IGNORE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09DB-2E28-4C1C-9B7C-82E8A0A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STATUS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61970-62E8-4529-B217-95506553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4BBD4-EB2D-47F8-8B46-454ED93B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TODO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609850" y="47244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286D1-ECC9-4799-A4E8-B1D6525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530F8-4106-493D-9747-B62F65FD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005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IN_PROGRESS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314950" y="47244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60C01-E69F-47E6-B97B-D4975211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C0EBD-B1A1-4E9F-BABC-7F24F37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005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WAITING_REPLY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8020050" y="47244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69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08BCAB-5AF7-4759-BE4E-B24047A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815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64A"/>
          </a:solidFill>
          <a:ln xmlns:a="http://schemas.openxmlformats.org/drawingml/2006/main" w="9525">
            <a:solidFill>
              <a:srgbClr val="132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0B972-BBAB-4554-B031-7FE698F2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005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COMPLETED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55788-261B-41FE-9DEA-C3B3F1F3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91150"/>
            <a:ext cx="2381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2CB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F5A56-23AD-4A37-A2C1-6CF6BAEF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435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CANCELLED · 사용자 승인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D7685-6BE6-4B36-9C81-8CE991F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816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↳</a:t>
            </a:r>
          </a:p>
        </p:txBody>
      </p:sp>
    </p:spTree>
    <p:extLst>
      <p:ext uri="{BB962C8B-B14F-4D97-AF65-F5344CB8AC3E}">
        <p14:creationId xmlns:p14="http://schemas.microsoft.com/office/powerpoint/2010/main" val="1384798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4645C-9CA4-486E-97A6-27048138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10C83-92A0-4134-93AE-22158589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3개 사용자 시나리오를 15개 경계 Case로 검증합니다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D82E3-2231-44EE-94B4-48095C6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6A8E5-FD05-4440-B29A-98900FA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169E1"/>
          </a:solidFill>
          <a:ln xmlns:a="http://schemas.openxmlformats.org/drawingml/2006/main" w="9525">
            <a:solidFill>
              <a:srgbClr val="4169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DAAF1-BBB2-402D-9F76-8736997C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514B1-A6AB-44FB-994A-C694F262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00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신규 업무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7B01E-BF4A-4BFE-875E-3DA87EC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Mail → CREATE_TASK → TODO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772150" y="15430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7A5E2-252C-44A0-921A-D39AD02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명확한 기한 · 기한 없음 · 조치 불필요 공지 · 중복 방지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57200" y="268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3D2E9-A677-4882-B934-74412FD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8A67"/>
          </a:solidFill>
          <a:ln xmlns:a="http://schemas.openxmlformats.org/drawingml/2006/main" w="9525">
            <a:solidFill>
              <a:srgbClr val="1E8A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D44C9-81BB-4B90-A7EF-E8AF05E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SC-002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9FC1D-4F90-4BB3-99FE-1AC99C3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후속 Mail 연결·변경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45EFF-33D7-44B2-8FA0-9E0468F3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기존 Task → UPDATE / LINK / WAITING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772150" y="29337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B4D75-2DB2-447E-92E1-E3A2AC90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기한 연장·단축 · 정보 연결 · 회신 대기·재개 · 완료·취소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57200" y="4076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96F4A-AB8C-4B35-8ED0-C520782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B5D68"/>
          </a:solidFill>
          <a:ln xmlns:a="http://schemas.openxmlformats.org/drawingml/2006/main" w="9525">
            <a:solidFill>
              <a:srgbClr val="DB5D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1E161-D1D6-4B47-A567-E55B8222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SC-003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769B8-CD7C-45F1-93BA-5B96DB0D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불확실한 Mail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CDA10-FFAA-458F-B735-AB40E40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ASK_USER → 사용자가 최종 결정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772150" y="43243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DD502-74A4-4592-BFB0-11F0E37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후보 복수 · 다른 Thread · 모호한 기한 · 불명확 완료 · Prompt Injection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8FD31-3BA8-4CBA-82B6-0B6AA97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04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64A"/>
          </a:solidFill>
          <a:ln xmlns:a="http://schemas.openxmlformats.org/drawingml/2006/main" w="9525">
            <a:solidFill>
              <a:srgbClr val="132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796CA-49EA-4FD2-9055-6042C03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15개는 기능 15개가 아니라, 정상·예외·보안 조건을 재현하는 합성·비식별 평가 Dataset입니다.</a:t>
            </a:r>
          </a:p>
        </p:txBody>
      </p:sp>
    </p:spTree>
    <p:extLst>
      <p:ext uri="{BB962C8B-B14F-4D97-AF65-F5344CB8AC3E}">
        <p14:creationId xmlns:p14="http://schemas.microsoft.com/office/powerpoint/2010/main" val="1138738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D692F-3A67-47B1-A2C1-316DF21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9957D-A796-4BA0-ADD9-1E92FF7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현재 UI는 Mail·Task·Review·Log·품질 검증을 연결합니다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7DEDC-DE06-4B38-8EB4-58F71111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af76b2ab64b57"/>
          <a:stretch xmlns:a="http://schemas.openxmlformats.org/drawingml/2006/main"/>
        </p:blipFill>
        <p:spPr>
          <a:xfrm xmlns:a="http://schemas.openxmlformats.org/drawingml/2006/main">
            <a:off x="457200" y="1544241"/>
            <a:ext cx="7067550" cy="4417219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CDB0-6253-4B9E-8F8E-7E6C9C0A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81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C3D5D-671B-4CC7-BBF8-EFF569E4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8B301-4591-42B8-A129-8C54747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업무 현황 · Task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7ED05-75F4-4C82-B1B1-8F8FF5F7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7CAAA-6EEC-4CCC-8A79-5440CC50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메일 처리함 · 15건 Batch 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2AFBA-0B10-4FDA-A565-968806C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5D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B9F9A-AD75-4266-AF25-4A6E1DE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확인 필요 · ASK_USER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CA534-414D-4FBB-A735-989D1FE2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BD1ED-199F-4A31-B046-94951D0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운영 로그 · M-01~M-05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12F28-D87C-4BD7-892B-D5DEDED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201FD-284B-4437-BC00-877B1CD2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품질 검증 · Mock / Live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5CFBF-31BF-4CFE-9A8D-05AD00B4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7E0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4BA14-7B21-444D-900E-6A2AB23E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운영 시에는 Mail Adapter가 자동 호출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69960-C40D-44D6-BF80-5A18F01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62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현재 버튼은 합성 Mail 유입을 재현하는 데모 Trigger</a:t>
            </a:r>
          </a:p>
        </p:txBody>
      </p:sp>
    </p:spTree>
    <p:extLst>
      <p:ext uri="{BB962C8B-B14F-4D97-AF65-F5344CB8AC3E}">
        <p14:creationId xmlns:p14="http://schemas.microsoft.com/office/powerpoint/2010/main" val="2134132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B3336B-945F-4801-ADCA-AD1690C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32763-0357-4516-B991-3D62E049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멘토 피드백을 반영해 Agent 판단 근거와 처리 단계를 추적합니다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EE1C5-34A8-4408-89CA-1DA06A3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6A7BD-B388-40A5-813D-4FAE8461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PROCESSING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62B81-29BE-4E87-B3C6-53528AB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561975" y="21145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2D0E-6E8E-45FA-9681-7B7D0D2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MAIL_INPUT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F5D82-915C-4607-8308-874B231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D114F-D99A-4264-9237-F7060A9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561975" y="25717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F552B-9475-4369-9274-CF41797A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SCHEMA_VALIDATION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BA799-9A6A-4663-BC1D-43FDA0EC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2E439-23B6-42D2-8426-01FCA4B8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61975" y="30289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15C3F-1A8A-4F75-8473-93A6089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M-01 LLM_ANALYSIS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6A249-10C7-44FC-AB24-5AF078E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AF4CE-3190-4262-8D69-AA982944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561975" y="34861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2D95C-8E01-458B-94A4-33DA964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M-02 TASK_MATCHING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F8B3A-F998-4369-A52B-A147C8F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C873E-6F64-408D-A6A8-31FB2581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5D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561975" y="39433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E9F3A-DCBE-45CF-9836-42667B9F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M-03 ACTION_DECISION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687B3-94AF-4176-A7E1-8DC4A61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04CCA-D882-4A7F-AC98-21FC92AD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561975" y="44005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BCEE7-D99A-4BB9-B586-E245DA2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ACTION_VALIDATION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EE0D3-F710-4063-B889-4AB3A63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CB28C-D1BC-4F28-9271-53EE6751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561975" y="48577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FEA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7B6700-34D5-4FB4-83C4-8C9D5A8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M-04 DB_TRANSACTION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372C02-045C-4CB1-BF1B-3B47F14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12F465-13E0-4926-A294-603EC5A8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73A06-BEC4-491B-A5C9-D25751F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PROCESS_COMPLETED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9176E-504F-432A-B5B2-64B6ACD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43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시각 · 성공/실패 · 소요 시간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6877050" y="16954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A4513-9D28-40B1-9B2A-BEA0CB90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AUDIT HISTORY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AA657-7CC1-4B12-BD97-6188802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DB73FF-12BE-41BF-BA7F-AF9D4E8C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8597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Source Mail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4A7820-1747-4466-82DD-3708D156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CEA975-F3C8-41FB-B47C-024A7D68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선택된 Agent Action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2F38D4-259E-4E27-84F9-ADBC61B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EB1695-E34B-417B-81BD-ADB4630C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6707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변경 전 값 → 변경 후 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5F9F6B-A6FF-4FFF-841C-EAD6AA8D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0E81C2-C4A0-4A2C-932B-A4D7969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Agent 판단 근거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ACE15C-8327-45D4-8251-032EE90E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2CB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2BBA14-3CDE-4E7E-B500-41F5B3E8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4817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사용자 최종 결정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275BB3-78FB-4818-A6DF-48829AB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3950"/>
            <a:ext cx="3981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83C8EC-2360-463E-8DEE-D1CFE1D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3872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처리 시각 · 오류/중단 여부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B6E107-2742-4457-81CB-79C8D4B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Secret Redaction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F8BFBF-68DB-436B-A3E0-C6F782E1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API Key · Authorization Header · Token은 UI·로그·DB에 저장하지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957449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6DF3D-F699-4984-A89C-D740F668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BD911-9C04-4AE9-BAE9-06C8753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현재 증적은 Core Workflow의 일관된 동작을 보여줍니다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DD2A2-F5E8-4BA0-A322-17CA3089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DD59F-7280-4B80-92E7-761468D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회사 LLM Live 평가와 Mock 회귀를 분리해 동일한 기대 Action으로 비교했습니다.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3AE2C-A2BF-4C93-A3BC-9695E52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2766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F4F6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6557D-11E0-4A81-8F64-20222CC9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BA92D-0432-4BF4-91AB-30DD1C04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회사 LLM Live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CD31E-7716-42BA-B9B1-630F9E15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실행 오류 0건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47D23-0078-43A1-B93F-C2B54D1B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32766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F4F6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FC8C5-35D2-4F64-A350-A07BDBC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28 / 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673AC-32D4-4562-9CE6-D37CC2E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Action 단계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79A60-AC2B-40D4-A546-F6B637CA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현재 Dataset 기준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03C27-2C8A-4ED6-96C5-D278EE5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32766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F4F6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9A7E0-B4BD-4E43-8494-673CA02E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5F75A-0AC4-4AC0-A4F4-C471BD4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pytest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5EF39-CECF-411F-8E4A-D45E6E59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회귀·안전·Review 포함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4CA13-224F-4C89-BB9B-0573761C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28B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28B26"/>
                </a:solidFill>
                <a:latin typeface="Malgun Gothic"/>
                <a:ea typeface="Malgun Gothic"/>
                <a:cs typeface="Malgun Gothic"/>
              </a:rPr>
              <a:t>53.955초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19290-DB0C-49D4-BEC3-CC07926B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Live 15개 평가 총 처리시간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55054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F1814-B90A-419D-A1A4-B23812B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측정 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C2892-4C59-45C4-98D3-7F3AC80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업무 분류·핵심 필드·Task ID 정확도, 사람 수동 Baseline, 비용 KPI는 완료 수치로 작성하지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870350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42A15-1809-4A16-8DA6-91063487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543C2-6797-4792-BEEA-3B0E235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TO-BE는 ‘오늘의 업무’를 바로 관리하는 운영 UI입니다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64FC3-D8C3-4534-8655-DDE4F233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cfb55565546e0"/>
          <a:stretch xmlns:a="http://schemas.openxmlformats.org/drawingml/2006/main"/>
        </p:blipFill>
        <p:spPr>
          <a:xfrm xmlns:a="http://schemas.openxmlformats.org/drawingml/2006/main">
            <a:off x="969613" y="1504950"/>
            <a:ext cx="7090475" cy="4648200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49C0-A6BD-471E-9A67-3B0524E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00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37258-ADF8-40D2-8405-A633DCB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81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자동 Mail 동기화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0F00-B991-4C03-BACD-4F3C9F8C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새 Mail은 별도 분석 클릭 없이 처리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896350" y="2476500"/>
            <a:ext cx="260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9FD8E-FB8C-4041-936B-F566CBB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77328-5D92-494C-AFBF-8B8CDE63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오늘의 우선 업무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91228-5D62-4923-901C-9EF02F8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908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기한·회신 대기·진행 상태 중심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896350" y="3543300"/>
            <a:ext cx="260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918D6-BDB8-4ED1-BD98-BE85953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8314A-00E8-4583-BB4B-E56C7B01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Agent 확인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C280E-E02A-41F4-9E2C-AE18868C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자동 변경을 멈춘 제안만 집중 확인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896350" y="4610100"/>
            <a:ext cx="260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D4E08-FB60-4912-9606-14B8EC84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23C41-1D29-4810-8D04-6EB89D46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81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활동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3246D-F7CD-434A-89A2-64DFD93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원본 Mail과 변경 근거를 추적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F8261-DA6B-419E-9BF4-4C2D76C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674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19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5D6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B5D68"/>
                </a:solidFill>
                <a:latin typeface="Malgun Gothic"/>
                <a:ea typeface="Malgun Gothic"/>
                <a:cs typeface="Malgun Gothic"/>
              </a:rPr>
              <a:t>※ 운영 UI 콘셉트이며 현재 구현 완료 화면과 구분</a:t>
            </a:r>
          </a:p>
        </p:txBody>
      </p:sp>
    </p:spTree>
    <p:extLst>
      <p:ext uri="{BB962C8B-B14F-4D97-AF65-F5344CB8AC3E}">
        <p14:creationId xmlns:p14="http://schemas.microsoft.com/office/powerpoint/2010/main" val="1408804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B5874-5443-4191-9B57-2323E6A6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WEEKLY MENTOR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8E2E-12D4-4C06-B367-F0079EF6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Core를 마감한 뒤 실제 Mail 연동을 판단하겠습니다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257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F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095F9-9325-4E61-B7E6-587D57A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93114-541D-4F84-9022-7CB7229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NOW · CORE 마감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3F68B-3D5B-447E-AC35-CB53A6F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32766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D760-0C93-4BB5-90C8-C782E15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19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Ground Truth 세부 KPI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수동 처리시간 Baseline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Matching·상태 정책 보강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UI 사용성 정리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최종 Demo 증적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3CF58-5414-4CAE-AAB2-49F9D10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8115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8A67"/>
                </a:solidFill>
                <a:latin typeface="Malgun Gothic"/>
                <a:ea typeface="Malgun Gothic"/>
                <a:cs typeface="Malgun Gothic"/>
              </a:rPr>
              <a:t>OPTION · 일정 여유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74BC7-94D0-4BA7-BB9B-0D80128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32766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DD78B-01ED-4C72-B536-7DB78134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2819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테스트 Gmail Adapter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Read-only 입력 경계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동일 M-01~M-05 재사용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Core 회귀 테스트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73C5-C1E2-4591-AD16-F4D9EE1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8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8A"/>
                </a:solidFill>
                <a:latin typeface="Malgun Gothic"/>
                <a:ea typeface="Malgun Gothic"/>
                <a:cs typeface="Malgun Gothic"/>
              </a:rPr>
              <a:t>POST-MVP · 사내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8B275-8F26-47E6-B434-093A60CE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38862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40FCD-806C-49D5-86B7-C9E180C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429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Outlook / Microsoft Graph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n8n · 사내 서버/VM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인증·권한·운영 알림</a:t>
            </a:r>
          </a:p>
          <a:p xmlns:a="http://schemas.openxmlformats.org/drawingml/2006/main">
            <a:pPr algn="l">
              <a:def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운영 DB·배포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4A8FA-EBBB-4B0F-9991-C6DED61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멘토에게 확인받고 싶은 3가지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706B3-1C40-457E-AD93-E59CF47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169E1"/>
                </a:solidFill>
                <a:latin typeface="Malgun Gothic"/>
                <a:ea typeface="Malgun Gothic"/>
                <a:cs typeface="Malgun Gothic"/>
              </a:rPr>
              <a:t>① 현재 Core Scope가 Agentic AI 목표에 충분한가?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9453B-DD02-4CE2-AE98-EECE8764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② ASK_USER 기준과 완료·취소 승인 정책이 적절한가?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E3AAF-920F-45B2-949D-56EB1F59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13D"/>
                </a:solidFill>
                <a:latin typeface="Malgun Gothic"/>
                <a:ea typeface="Malgun Gothic"/>
                <a:cs typeface="Malgun Gothic"/>
              </a:rPr>
              <a:t>③ 남은 기간은 KPI 정교화와 UI 중 어디에 더 집중해야 하는가?</a:t>
            </a:r>
          </a:p>
        </p:txBody>
      </p:sp>
    </p:spTree>
    <p:extLst>
      <p:ext uri="{BB962C8B-B14F-4D97-AF65-F5344CB8AC3E}">
        <p14:creationId xmlns:p14="http://schemas.microsoft.com/office/powerpoint/2010/main" val="191819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2026-08-27T03:07:02.0690000Z</dcterms:created>
  <dcterms:modified xsi:type="dcterms:W3CDTF">2026-08-27T03:07:02.0690000Z</dcterms:modified>
</coreProperties>
</file>