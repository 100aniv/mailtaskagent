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7be236166743de" /><Relationship Type="http://schemas.openxmlformats.org/officeDocument/2006/relationships/extended-properties" Target="/docProps/app.xml" Id="R3a781b8e390344fa" /><Relationship Type="http://schemas.openxmlformats.org/officeDocument/2006/relationships/officeDocument" Target="/ppt/presentation.xml" Id="Re5a9b2b6ca0244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8f6a7229b84703"/>
  </p:sldMasterIdLst>
  <p:notesMasterIdLst>
    <p:notesMasterId xmlns:r="http://schemas.openxmlformats.org/officeDocument/2006/relationships" r:id="Ra432063a1e7f4b88"/>
  </p:notesMasterIdLst>
  <p:sldIdLst>
    <p:sldId xmlns:r="http://schemas.openxmlformats.org/officeDocument/2006/relationships" id="256" r:id="Ra46c409455f24d22"/>
    <p:sldId xmlns:r="http://schemas.openxmlformats.org/officeDocument/2006/relationships" id="257" r:id="Ref3752bd02c64366"/>
    <p:sldId xmlns:r="http://schemas.openxmlformats.org/officeDocument/2006/relationships" id="258" r:id="R388904ff5ff04c8d"/>
    <p:sldId xmlns:r="http://schemas.openxmlformats.org/officeDocument/2006/relationships" id="259" r:id="R9a45942010754595"/>
    <p:sldId xmlns:r="http://schemas.openxmlformats.org/officeDocument/2006/relationships" id="260" r:id="R831bfe41fbc44c3a"/>
    <p:sldId xmlns:r="http://schemas.openxmlformats.org/officeDocument/2006/relationships" id="261" r:id="R8c82c952229e40a4"/>
    <p:sldId xmlns:r="http://schemas.openxmlformats.org/officeDocument/2006/relationships" id="262" r:id="R63e1ba748ac3497e"/>
    <p:sldId xmlns:r="http://schemas.openxmlformats.org/officeDocument/2006/relationships" id="263" r:id="R9873d5b664a047e7"/>
    <p:sldId xmlns:r="http://schemas.openxmlformats.org/officeDocument/2006/relationships" id="264" r:id="Rc853bacbff834095"/>
    <p:sldId xmlns:r="http://schemas.openxmlformats.org/officeDocument/2006/relationships" id="265" r:id="R8277d3c3aeba48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255a07b8984582" /><Relationship Type="http://schemas.openxmlformats.org/officeDocument/2006/relationships/slideMaster" Target="/ppt/slideMasters/slideMaster1.xml" Id="R6e8f6a7229b84703" /><Relationship Type="http://schemas.openxmlformats.org/officeDocument/2006/relationships/notesMaster" Target="/ppt/notesMasters/notesMaster1.xml" Id="Ra432063a1e7f4b88" /><Relationship Type="http://schemas.openxmlformats.org/officeDocument/2006/relationships/presProps" Target="/ppt/presProps.xml" Id="R4b3a75f024a24191" /><Relationship Type="http://schemas.openxmlformats.org/officeDocument/2006/relationships/tableStyles" Target="/ppt/tableStyles.xml" Id="R772ecfbf327e482d" /><Relationship Type="http://schemas.openxmlformats.org/officeDocument/2006/relationships/slide" Target="/ppt/slides/slide1.xml" Id="Ra46c409455f24d22" /><Relationship Type="http://schemas.openxmlformats.org/officeDocument/2006/relationships/slide" Target="/ppt/slides/slide2.xml" Id="Ref3752bd02c64366" /><Relationship Type="http://schemas.openxmlformats.org/officeDocument/2006/relationships/slide" Target="/ppt/slides/slide3.xml" Id="R388904ff5ff04c8d" /><Relationship Type="http://schemas.openxmlformats.org/officeDocument/2006/relationships/slide" Target="/ppt/slides/slide4.xml" Id="R9a45942010754595" /><Relationship Type="http://schemas.openxmlformats.org/officeDocument/2006/relationships/slide" Target="/ppt/slides/slide5.xml" Id="R831bfe41fbc44c3a" /><Relationship Type="http://schemas.openxmlformats.org/officeDocument/2006/relationships/slide" Target="/ppt/slides/slide6.xml" Id="R8c82c952229e40a4" /><Relationship Type="http://schemas.openxmlformats.org/officeDocument/2006/relationships/slide" Target="/ppt/slides/slide7.xml" Id="R63e1ba748ac3497e" /><Relationship Type="http://schemas.openxmlformats.org/officeDocument/2006/relationships/slide" Target="/ppt/slides/slide8.xml" Id="R9873d5b664a047e7" /><Relationship Type="http://schemas.openxmlformats.org/officeDocument/2006/relationships/slide" Target="/ppt/slides/slide9.xml" Id="Rc853bacbff834095" /><Relationship Type="http://schemas.openxmlformats.org/officeDocument/2006/relationships/slide" Target="/ppt/slides/slide10.xml" Id="R8277d3c3aeba48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ef5ace2f7745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6034a0df6d427f" /><Relationship Type="http://schemas.openxmlformats.org/officeDocument/2006/relationships/notesMaster" Target="/ppt/notesMasters/notesMaster1.xml" Id="R8a127f4b47c841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53a44ebef345ee" /><Relationship Type="http://schemas.openxmlformats.org/officeDocument/2006/relationships/notesMaster" Target="/ppt/notesMasters/notesMaster1.xml" Id="R1a960151668e4d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409641d05c4e67" /><Relationship Type="http://schemas.openxmlformats.org/officeDocument/2006/relationships/notesMaster" Target="/ppt/notesMasters/notesMaster1.xml" Id="R190419120c374f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9263e3c66b464c" /><Relationship Type="http://schemas.openxmlformats.org/officeDocument/2006/relationships/notesMaster" Target="/ppt/notesMasters/notesMaster1.xml" Id="Rde55641eab0a47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649abb857a4057" /><Relationship Type="http://schemas.openxmlformats.org/officeDocument/2006/relationships/notesMaster" Target="/ppt/notesMasters/notesMaster1.xml" Id="R30869bc378c84e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8efc9bbc344863" /><Relationship Type="http://schemas.openxmlformats.org/officeDocument/2006/relationships/notesMaster" Target="/ppt/notesMasters/notesMaster1.xml" Id="R7cf79391deff4f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55d8547b754155" /><Relationship Type="http://schemas.openxmlformats.org/officeDocument/2006/relationships/notesMaster" Target="/ppt/notesMasters/notesMaster1.xml" Id="R92b4cf9429cc42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51bbd44e344da2" /><Relationship Type="http://schemas.openxmlformats.org/officeDocument/2006/relationships/notesMaster" Target="/ppt/notesMasters/notesMaster1.xml" Id="Rd8b06eb31b7249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38a42e62fa4a43" /><Relationship Type="http://schemas.openxmlformats.org/officeDocument/2006/relationships/notesMaster" Target="/ppt/notesMasters/notesMaster1.xml" Id="R78fb806dd25140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a00f1aaae94763" /><Relationship Type="http://schemas.openxmlformats.org/officeDocument/2006/relationships/notesMaster" Target="/ppt/notesMasters/notesMaster1.xml" Id="R6a7237d2901543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최종 발표가 아니라 현재 Core E2E의 구조, 실제 증적, 운영 UI 방향을 이해하기 위한 리뷰다.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Docs/AI_MASTER/01~07</a:t>
            </a:r>
          </a:p>
          <a:p xmlns:a="http://schemas.openxmlformats.org/drawingml/2006/main">
            <a:r>
              <a:t>- Docs/IMPLEMENTATION/08_멘토_시연_브리핑.md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문제는 메일 분류 자체가 아니라 후속 메일이 들어올 때 기존 업무 상태를 계속 갱신해야 하는 데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Docs/AI_MASTER/02_문제정의및서비스기획.md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Node는 별도 서버가 아니라 한 건의 Mail을 처리하는 논리 단계다. LLM 의미 분석과 실제 DB 변경 권한을 분리했다.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Docs/AI_MASTER/04_상세설계및개발환경.md</a:t>
            </a:r>
          </a:p>
          <a:p xmlns:a="http://schemas.openxmlformats.org/drawingml/2006/main">
            <a:r>
              <a:t>- src/mailtaskagent/workflow.py</a:t>
            </a:r>
          </a:p>
          <a:p xmlns:a="http://schemas.openxmlformats.org/drawingml/2006/main">
            <a:r>
              <a:t>- src/mailtaskagent/decision.py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시나리오와 테스트 Case를 구분한다. 사용자 여정은 3개이며, 15개는 그 여정을 흔드는 조건이다.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Docs/AI_MASTER/03_시나리오수립.md</a:t>
            </a:r>
          </a:p>
          <a:p xmlns:a="http://schemas.openxmlformats.org/drawingml/2006/main">
            <a:r>
              <a:t>- data/scenario_expectations.json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구조가 Agent의 핵심 안전성이다. LLM은 의미를 해석하고 Python이 실행을 검증하며 사람은 중요 변경을 확정한다.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Docs/AI_MASTER/05_POC모듈구현.md</a:t>
            </a:r>
          </a:p>
          <a:p xmlns:a="http://schemas.openxmlformats.org/drawingml/2006/main">
            <a:r>
              <a:t>- src/mailtaskagent/llm_client.py</a:t>
            </a:r>
          </a:p>
          <a:p xmlns:a="http://schemas.openxmlformats.org/drawingml/2006/main">
            <a:r>
              <a:t>- src/mailtaskagent/storage.py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Streamlit에도 제품형 탭과 Core Workflow가 연결되어 있고 데모 도구는 별도로 분리돼 있다. 목표 UI는 자동 동기화 이후 사용자가 오늘의 업무와 확인 필요 항목을 더 빠르게 파악하도록 사용성을 고도화한 방향이다.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src/mailtaskagent/ui.py</a:t>
            </a:r>
          </a:p>
          <a:p xmlns:a="http://schemas.openxmlformats.org/drawingml/2006/main">
            <a:r>
              <a:t>- prototype/current_streamlit_ui.png</a:t>
            </a:r>
          </a:p>
          <a:p xmlns:a="http://schemas.openxmlformats.org/drawingml/2006/main">
            <a:r>
              <a:t>- prototype/final_ui_mockup.html</a:t>
            </a:r>
          </a:p>
          <a:p xmlns:a="http://schemas.openxmlformats.org/drawingml/2006/main">
            <a:r>
              <a:t>- prototype/final_ui_mockup.png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버튼은 제품 설계가 아니라 합성 Mail Source의 도착을 재현하는 Trigger다. Mail Adapter가 붙으면 사용자가 매번 분석을 누르지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Docs/IMPLEMENTATION/08_멘토_시연_브리핑.md</a:t>
            </a:r>
          </a:p>
          <a:p xmlns:a="http://schemas.openxmlformats.org/drawingml/2006/main">
            <a:r>
              <a:t>- Docs/AI_MASTER/07_E2E서비스개발.md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자동처리율보다 안전한 중단이 우선이다. 사용자 확인 비율이 높은 이유도 위험 Case를 의도적으로 많이 넣었기 때문이다.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Docs/AI_MASTER/06_테스트및고도화.md</a:t>
            </a:r>
          </a:p>
          <a:p xmlns:a="http://schemas.openxmlformats.org/drawingml/2006/main">
            <a:r>
              <a:t>- tests/test_workflow.py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성과를 과장하지 않는다. 현재 15개 합성 실행 단위에서 E2E Action은 모두 맞았지만 세부 필드 정확도와 시간 단축률은 아직 측정 전이다.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evidence/live_evaluation_2026-08-26.json</a:t>
            </a:r>
          </a:p>
          <a:p xmlns:a="http://schemas.openxmlformats.org/drawingml/2006/main">
            <a:r>
              <a:t>- Docs/AI_MASTER/06_테스트및고도화.md</a:t>
            </a:r>
          </a:p>
          <a:p xmlns:a="http://schemas.openxmlformats.org/drawingml/2006/main">
            <a:r>
              <a:t>- pytest result: 42 passed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마감을 최우선으로 하고, 일정이 남으면 테스트 Gmail Adapter를 검토한다. Outlook·사내 인프라는 Post-MVP 경계다.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Docs/AI_MASTER/07_E2E서비스개발.md</a:t>
            </a:r>
          </a:p>
          <a:p xmlns:a="http://schemas.openxmlformats.org/drawingml/2006/main">
            <a:r>
              <a:t>- Docs/IMPLEMENTATION/05_3단계_최종_E2E_구현범위.md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a8f4397f54d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fcd2948b5c4575" /><Relationship Type="http://schemas.openxmlformats.org/officeDocument/2006/relationships/slideLayout" Target="/ppt/slideLayouts/slideLayout1.xml" Id="R67c31b7c1c1a42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c31b7c1c1a42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d5d786964488d" /><Relationship Type="http://schemas.openxmlformats.org/officeDocument/2006/relationships/notesSlide" Target="/ppt/notesSlides/notesSlide1.xml" Id="Rb52e27d871064d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54c48fdb4456b" /><Relationship Type="http://schemas.openxmlformats.org/officeDocument/2006/relationships/notesSlide" Target="/ppt/notesSlides/notesSlide2.xml" Id="Rcc695d788e8345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acab2ed8a49d5" /><Relationship Type="http://schemas.openxmlformats.org/officeDocument/2006/relationships/notesSlide" Target="/ppt/notesSlides/notesSlide3.xml" Id="R72f94c453d7f4b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477dc88f4468f" /><Relationship Type="http://schemas.openxmlformats.org/officeDocument/2006/relationships/notesSlide" Target="/ppt/notesSlides/notesSlide4.xml" Id="R15ba57c30b6f4d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5a693b517434f" /><Relationship Type="http://schemas.openxmlformats.org/officeDocument/2006/relationships/notesSlide" Target="/ppt/notesSlides/notesSlide5.xml" Id="R5c5eef25e2ff40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144236d404058" /><Relationship Type="http://schemas.openxmlformats.org/officeDocument/2006/relationships/image" Target="/ppt/media/image.png" Id="Rd5f312080e6c4bd2" /><Relationship Type="http://schemas.openxmlformats.org/officeDocument/2006/relationships/image" Target="/ppt/media/image2.png" Id="Rfb2f2f7743e4491e" /><Relationship Type="http://schemas.openxmlformats.org/officeDocument/2006/relationships/notesSlide" Target="/ppt/notesSlides/notesSlide6.xml" Id="R3e5fe6775e334d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0885b5f874b79" /><Relationship Type="http://schemas.openxmlformats.org/officeDocument/2006/relationships/notesSlide" Target="/ppt/notesSlides/notesSlide7.xml" Id="R841c1f8b6c2f4b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90e4128d34f4f" /><Relationship Type="http://schemas.openxmlformats.org/officeDocument/2006/relationships/notesSlide" Target="/ppt/notesSlides/notesSlide8.xml" Id="R6a5deadac8db4d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27531dff34471" /><Relationship Type="http://schemas.openxmlformats.org/officeDocument/2006/relationships/notesSlide" Target="/ppt/notesSlides/notesSlide9.xml" Id="R6f54931043dc41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02ef44b5a4d20" /><Relationship Type="http://schemas.openxmlformats.org/officeDocument/2006/relationships/notesSlide" Target="/ppt/notesSlides/notesSlide10.xml" Id="Rb6d772b75caa47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16B0DC-770A-4323-A0BB-BE5390E8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AI MASTER · MENTOR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D21AA-91DC-4610-8CE3-E19252D7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MailTaskAgent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62002-96AD-4742-8B81-A46304E0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5238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메일을 읽고, 기존 업무와 연결한 뒤,</a:t>
            </a:r>
          </a:p>
          <a:p xmlns:a="http://schemas.openxmlformats.org/drawingml/2006/main">
            <a:pPr algn="l">
              <a:defRPr sz="210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다음 Action을 결정하는 개인 업무관리 Agent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373380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67E8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D364C-A60C-42BF-8B1D-55357CBE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회사 LLM Live · Human-in-the-loop · SQLite History · Streamlit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61B21-DEDB-4988-97A5-2DD9BEDA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"/>
            <a:ext cx="5505450" cy="5600700"/>
          </a:xfrm>
          <a:prstGeom xmlns:a="http://schemas.openxmlformats.org/drawingml/2006/main" prst="roundRect">
            <a:avLst>
              <a:gd name="adj" fmla="val 2768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D9E1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A1509-EE02-44DD-BB39-BB5370CC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9144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MAIL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CF8FA-B69F-43B3-8852-9196ADBA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383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49A4D-7CA8-45C2-8648-DA080B5A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9144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69C23-F370-4536-A289-2959C8D4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읽는다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5402C-75C9-44B9-BF45-6DB35190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연결한다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A5AE9-BD24-4182-8D7C-57DBFB6F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행동한다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F59A8-B088-4ECC-9353-4C7CCE66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기록한다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47015-39A9-48A6-8C81-E9EF1EEE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CREATE · UPDATE · WAITING</a:t>
            </a:r>
          </a:p>
          <a:p xmlns:a="http://schemas.openxmlformats.org/drawingml/2006/main">
            <a:pPr algn="l">
              <a:defRPr sz="165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ASK USER ·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3B84F-F419-4FBA-A8F0-BF9BCCE3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2026.08.26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49A83-4F1A-44BB-9620-D7AE8E04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03180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D4126-94BC-47CD-B73C-7458E4B7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MAILTASKAGENT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89090-02C8-4BA7-8E68-0017D353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메일보다 어려운 것은 ‘업무의 변화’를 따라가는 일입니다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63B33-93B9-434A-B7D0-E1BDFF95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B2072-E4C4-4B14-BF1C-C1824208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7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755"/>
                </a:solidFill>
                <a:latin typeface="Arial"/>
                <a:ea typeface="Arial"/>
                <a:cs typeface="Arial"/>
              </a:rPr>
              <a:t>AS-IS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D0C8F-5365-484A-8654-658DEE0D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857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메일에서 요청을 찾고</a:t>
            </a:r>
          </a:p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과거 Thread를 다시 열고</a:t>
            </a:r>
          </a:p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기한·대기·완료를 수동 반영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9B018-A81F-483D-9792-91C60BF9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업무 누락 · 변경 미반영 · 회신 대기 장기화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E94D4-FAD5-43B4-8FF9-9ABD9863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TO-BE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5C51F-04FC-4560-903B-4E08C08C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5048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새 Mail과 현재 Task를 함께 보고</a:t>
            </a:r>
          </a:p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다음 Action과 근거를 제안</a:t>
            </a:r>
          </a:p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중요 변경은 사람에게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24125-33F4-4342-B541-C8D6F68C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자동화보다 ‘안전한 상태관리’가 우선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4572000"/>
            <a:ext cx="11010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E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EA7C8-3164-464A-8432-FFA4E33A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핵심 정의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08572-1D67-4813-848D-9F50C75F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MailTaskAgent는 메일 요약기가 아니라 Task Lifecycle을 관리하는 Agentic Workflow입니다.</a:t>
            </a:r>
          </a:p>
        </p:txBody>
      </p:sp>
    </p:spTree>
    <p:extLst>
      <p:ext uri="{BB962C8B-B14F-4D97-AF65-F5344CB8AC3E}">
        <p14:creationId xmlns:p14="http://schemas.microsoft.com/office/powerpoint/2010/main" val="12617367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BB8E6C-CCB4-47DC-89FF-ED9011A9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MAILTASKAGENT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3C95C-82AF-49E8-8274-ADA1EBC7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Mail은 5개 공통 모듈과 하나의 안전 Gate를 통과합니다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2378A-B5E0-477B-A8B4-936B6340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866900" y="29051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67E8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3657600" y="29051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67E8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5448300" y="29051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67E8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7239000" y="29051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67E8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9029700" y="29051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67E8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F84AA-2D50-45DC-B8A8-DBC2411E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466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D9E1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5DDBB-8F92-46FC-AD9B-D57B2A20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M-01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8C7AF-29F5-4764-9C5D-8BB5A5F2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Mail 분석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Intent·기한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4C5EF-6201-4E71-953B-B91103BA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466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D9E1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F8EAD-0207-4EC7-8F18-CB6704E1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3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M-02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AC72C-BF89-44BC-920B-53C90A69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384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Task 후보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점수·근거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91EAA-E768-4C98-AAF3-2CE2899C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81250"/>
            <a:ext cx="1466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D9E1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18BA0-0936-4EC7-B2D6-15D26935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33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M-03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E93C3-0AB1-4A99-AB4A-427C0677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84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Action 결정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7개 중 선택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9A82A-00DE-449E-B169-D3E8F607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81250"/>
            <a:ext cx="1466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5E7"/>
          </a:solidFill>
          <a:ln xmlns:a="http://schemas.openxmlformats.org/drawingml/2006/main" w="9525">
            <a:solidFill>
              <a:srgbClr val="F0C4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0C3CF1-FE42-400F-A371-C146A830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33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6D1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86D14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E67975-EB2A-457F-8E05-3297F7E6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Schema·상태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안전 검사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A1B57-ACF4-48AB-956B-4F19E2DC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1466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D9E1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DF3A17-F820-448A-876C-CFC11473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33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M-04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90B655-7910-4487-B3C6-67F40B5D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384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2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Task·History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DB Transaction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F2ABA6-0B47-440B-9CAB-9B8D8724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81250"/>
            <a:ext cx="1466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9243C"/>
          </a:solidFill>
          <a:ln xmlns:a="http://schemas.openxmlformats.org/drawingml/2006/main" w="9525">
            <a:solidFill>
              <a:srgbClr val="1924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91100-AEB6-4346-88A6-509569E9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33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M-05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A42C67-10F5-4332-BB51-1CBC6B6B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384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사용자 확인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754D23-C334-46C9-AD3C-050F3C93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회사 LLM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73AD67-D30D-4204-99F1-7186917A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의미 구조화만 담당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CF7379-84B3-4A16-806D-5D6EE574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81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86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866B"/>
                </a:solidFill>
                <a:latin typeface="Arial"/>
                <a:ea typeface="Arial"/>
                <a:cs typeface="Arial"/>
              </a:rPr>
              <a:t>Python Application Logic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3EF7C8-F378-4E10-9BA2-43D2FF74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05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후보 검색 · Action · DB 변경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36D513-26CE-45F6-BD2F-452DB2E3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81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7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4755"/>
                </a:solidFill>
                <a:latin typeface="Arial"/>
                <a:ea typeface="Arial"/>
                <a:cs typeface="Arial"/>
              </a:rPr>
              <a:t>Human-in-the-loop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E609DB-7204-40BE-B8C2-263A40BC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0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완료·취소·모호성 자동 반영 차단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D0439B-B890-4F1E-AE54-0DE754E8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LLM은 DB를 직접 수정하지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99935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9710A-C63B-4B41-827D-1F101181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MAILTASKAGENT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FAD0B-5CBD-4B03-BD36-B4ACF13A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사용자 시나리오는 3개, 이를 흔드는 검증 Case는 15개입니다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DEED7-98A6-4393-A509-5B66E60E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9F828-3DFC-44B6-ADBD-24E0F9EB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SC-001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1240D-606C-4B22-9E63-7EB14C08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신규 업무 생성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260985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E6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2A3BC-C0E4-467A-B5F5-0BDD843D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323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명확한 요청 · 기한 없음</a:t>
            </a:r>
          </a:p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일반 공지 · 중복 Mail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D5304-1270-4E7C-AC98-4F759225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BC-01~03 · BC-15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882D4-5F9C-4CB8-87CD-177ADF31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SC-002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5261D-351E-4896-A551-6032D96D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기존 업무 갱신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248150" y="260985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E6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2D160-2B1B-4939-9F89-0A61F79A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323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기한 연장·단축 · 정보 연결</a:t>
            </a:r>
          </a:p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회신 대기·재개 · 완료·취소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820B7-BE9F-48E5-A566-5FAB907B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33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BC-04~09 · BC-14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B82E0-119B-47E9-92E5-6618819F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SC-003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3351C-2B89-4E52-8ADD-142BCF0F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사용자 확인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8096250" y="260985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E6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F51B4-3363-46EB-BC80-AC34E2BE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323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불명확 완료 · 후보 복수</a:t>
            </a:r>
          </a:p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다른 Thread · 모호한 기한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3F098-AD95-47D2-96D8-3EEFE714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33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BC-10~13 · SEC-01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F2F65-BF89-4A22-B7B0-FDCD6BCA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010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9243C"/>
          </a:solidFill>
          <a:ln xmlns:a="http://schemas.openxmlformats.org/drawingml/2006/main" w="9525">
            <a:solidFill>
              <a:srgbClr val="1924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6754C-C9AE-4B43-B49D-C25E64B7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15개 실행 단위는 새 기능 목록이 아니라 정상·예외·안전 조건을 재현하는 평가 Dataset입니다.</a:t>
            </a:r>
          </a:p>
        </p:txBody>
      </p:sp>
    </p:spTree>
    <p:extLst>
      <p:ext uri="{BB962C8B-B14F-4D97-AF65-F5344CB8AC3E}">
        <p14:creationId xmlns:p14="http://schemas.microsoft.com/office/powerpoint/2010/main" val="514908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56418-5403-4427-ABF6-037535EF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MAILTASKAGENT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DF10B-26E7-48CC-87D3-C5B091D9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정확성은 LLM 하나가 아니라 역할 분리에서 나옵니다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F3727-A99B-4A92-89FC-14D736BF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40907-AB02-4C8D-8E80-916866F1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33375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EDF1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0EC4E-9B95-4FDF-8ED0-DAD80C24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C6BD1-026C-4F1A-BE16-2C739700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285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메일 의미·Intent 구조화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요청·기한·완료·취소 해석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JSON Structured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D54C3-BB1F-44EA-88C7-98651203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직접 DB 변경 금지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3B34B-176D-4F78-A829-CFBEF2C4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76400"/>
            <a:ext cx="333375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CF7F3"/>
          </a:solidFill>
          <a:ln xmlns:a="http://schemas.openxmlformats.org/drawingml/2006/main" w="9525">
            <a:solidFill>
              <a:srgbClr val="ECF7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15A60-7F7D-4312-B873-66185BBD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43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86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866B"/>
                </a:solidFill>
                <a:latin typeface="Arial"/>
                <a:ea typeface="Arial"/>
                <a:cs typeface="Arial"/>
              </a:rPr>
              <a:t>APPLICATION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0F408-3A7F-4AA9-98A7-B082AFF8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14600"/>
            <a:ext cx="285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동일 Thread·후보 검색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 Action·상태 전이 검증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SQLite Transaction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5BBD3-3B2B-41D9-B37F-C5A16789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62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8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866B"/>
                </a:solidFill>
                <a:latin typeface="Arial"/>
                <a:ea typeface="Arial"/>
                <a:cs typeface="Arial"/>
              </a:rPr>
              <a:t>검증된 변경만 저장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A06A0-23E9-42A3-BF94-8E43E24B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33375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FF1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49B3C-2F74-451D-AC73-A5C9DD36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43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475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4755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44C22-C10A-4089-A8C8-4E59EBAA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285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후보 연결·신규·무시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완료·취소·기한 단축 승인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Task 직접 수정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6D41A-6BB6-4D4E-A8C6-D7CE553B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2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47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4755"/>
                </a:solidFill>
                <a:latin typeface="Arial"/>
                <a:ea typeface="Arial"/>
                <a:cs typeface="Arial"/>
              </a:rPr>
              <a:t>최종 통제권 보유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F6C55-820E-4B96-88E2-2CEF3BD4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원본 Mail ID · 변경 전/후 · 판단 근거 · 사용자 결정 · 처리 시각</a:t>
            </a:r>
          </a:p>
        </p:txBody>
      </p:sp>
    </p:spTree>
    <p:extLst>
      <p:ext uri="{BB962C8B-B14F-4D97-AF65-F5344CB8AC3E}">
        <p14:creationId xmlns:p14="http://schemas.microsoft.com/office/powerpoint/2010/main" val="1006830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264F8-9CC0-4369-8B21-8AB88CEC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MAILTASKAGENT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820AF-2D34-4AD5-A50A-68714B48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현재 Core UI는 운영 구조를 갖췄고, 다음은 사용성 완성입니다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D78ED-A2C9-430F-BA97-5127D43D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04176-FB94-49DF-88FA-6E02E064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86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866B"/>
                </a:solidFill>
                <a:latin typeface="Arial"/>
                <a:ea typeface="Arial"/>
                <a:cs typeface="Arial"/>
              </a:rPr>
              <a:t>현재 구현 · Core 기능이 연결된 제품형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4188B-81D2-443E-B8DB-6A9B0EC8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09700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목표 화면 · 매일 쓰는 운영 UI 콘셉트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312080e6c4bd2"/>
          <a:stretch xmlns:a="http://schemas.openxmlformats.org/drawingml/2006/main"/>
        </p:blipFill>
        <p:spPr>
          <a:xfrm xmlns:a="http://schemas.openxmlformats.org/drawingml/2006/main">
            <a:off x="400050" y="1753791"/>
            <a:ext cx="5238750" cy="3274219"/>
          </a:xfrm>
          <a:prstGeom xmlns:a="http://schemas.openxmlformats.org/drawingml/2006/main" prst="roundRect">
            <a:avLst>
              <a:gd name="adj" fmla="val 3488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f2f7743e4491e"/>
          <a:stretch xmlns:a="http://schemas.openxmlformats.org/drawingml/2006/main"/>
        </p:blipFill>
        <p:spPr>
          <a:xfrm xmlns:a="http://schemas.openxmlformats.org/drawingml/2006/main">
            <a:off x="6321048" y="1752600"/>
            <a:ext cx="4998203" cy="3276600"/>
          </a:xfrm>
          <a:prstGeom xmlns:a="http://schemas.openxmlformats.org/drawingml/2006/main" prst="roundRect">
            <a:avLst>
              <a:gd name="adj" fmla="val 34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E7A42-5158-4A13-A6CD-05C8CD26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업무 현황 · 메일 처리함 · 확인 필요 · 운영 로그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B7666-0B67-495E-A308-07BAC331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38750"/>
            <a:ext cx="518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오늘 업무 · 자동 동기화 · 확인 필요 · 활동 기록</a:t>
            </a:r>
          </a:p>
        </p:txBody>
      </p:sp>
    </p:spTree>
    <p:extLst>
      <p:ext uri="{BB962C8B-B14F-4D97-AF65-F5344CB8AC3E}">
        <p14:creationId xmlns:p14="http://schemas.microsoft.com/office/powerpoint/2010/main" val="4492201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6FD463-9319-4386-8DE6-2F24E85D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MAILTASKAGENT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B616C-C5D3-4AF7-AE67-94CAC3FA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운영에서는 Mail Source가 Agent를 자동 호출합니다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34425-7E27-4B39-A127-4558E87C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57200" y="285750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DE6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52909-2DB6-4713-A0A5-D5B3F47E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90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67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48285-3D74-497E-A241-A60C3715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01 SYNC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15B1E-F0E0-4B6C-A268-886EC33B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새 Mail 도착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65331-2E28-4B83-96AF-8D262667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Mail Source가</a:t>
            </a:r>
          </a:p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공통 Schema로 전달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3DA99-4989-4554-B0AB-C932B4F4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90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67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4AB33-A5E9-4015-8FFF-49056927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38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02 ANALYZE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178CB-1095-4FB3-B113-34A4D535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19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의미 구조화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99151-0E4E-4097-A8F4-49821032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957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회사 LLM이</a:t>
            </a:r>
          </a:p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Intent·기한 추출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52EF8-066A-48BB-A16B-7F8603E3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90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67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1142E-4399-4DE9-B5B8-5F88A5F2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38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03 DECIDE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8932A-7058-4A67-B7EB-B380C78D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19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Task 반영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8F8A0-59CC-434E-9A6B-BBB59D06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957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기존 Task 연결</a:t>
            </a:r>
          </a:p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또는 신규 생성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86E8C-000A-470F-8C60-35C4D9C4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90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7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E90E3-2B07-4FDB-9E44-E7140D2A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38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7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4755"/>
                </a:solidFill>
                <a:latin typeface="Arial"/>
                <a:ea typeface="Arial"/>
                <a:cs typeface="Arial"/>
              </a:rPr>
              <a:t>04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266C7-420C-4935-8E80-139FE314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19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필요 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6FAEC-5794-422B-8629-5930D508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957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중요·애매한 변경</a:t>
            </a:r>
          </a:p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사용자가 확정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60E86-E734-42D2-AAA3-D8D93802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90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67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ECA16F-2715-4CA6-8183-F4876D37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38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05 MANAGE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6EB52-8FCA-4FFF-9755-E638CCFF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업무 관리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2CBBB-0532-4659-835C-10645760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957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기한·대기·이력</a:t>
            </a:r>
          </a:p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Dashboard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C6AAF1-1393-435B-8050-25DBEBF0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0109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1FF"/>
          </a:solidFill>
          <a:ln xmlns:a="http://schemas.openxmlformats.org/drawingml/2006/main" w="9525">
            <a:solidFill>
              <a:srgbClr val="D9E1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2C17A4-BDBF-45B3-AF14-510211A2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현재 합성 Mail ‘전체 자동 정리’ 버튼은 자동 수집 Adapter가 맡게 될 입력 Trigger를 재현합니다.</a:t>
            </a:r>
          </a:p>
        </p:txBody>
      </p:sp>
    </p:spTree>
    <p:extLst>
      <p:ext uri="{BB962C8B-B14F-4D97-AF65-F5344CB8AC3E}">
        <p14:creationId xmlns:p14="http://schemas.microsoft.com/office/powerpoint/2010/main" val="1691534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761BE-D823-482E-953D-CE1FDB81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MAILTASKAGENT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37CB6-E530-4EC3-9953-BD578D9A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Agent는 애매할수록 더 많이 자동화하지 않고 멈춥니다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4E5C6-2026-481B-9AE4-41A08CCA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CBB5B-AD06-46EC-8D6A-B58F310F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후보 Task 2개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36ACA-2E70-4159-A66C-D4CF0095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287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47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475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A3E36-68EA-4299-BA4B-66D42CE9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47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755"/>
                </a:solidFill>
                <a:latin typeface="Arial"/>
                <a:ea typeface="Arial"/>
                <a:cs typeface="Arial"/>
              </a:rPr>
              <a:t>임의 연결 금지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3967B-3AE9-48E0-B53D-E6221DB8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287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1E1EC-8003-4ADD-86DE-4504672C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57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ASK_USER → 후보 비교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2438400"/>
            <a:ext cx="11010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E6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34CB1-72B1-4DD3-BD63-03A6607B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‘다음 주 중’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631D3-5546-40A3-B8E6-5E8410E6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860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47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475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D259C-B4C9-4BEE-93F9-49D4F087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14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47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755"/>
                </a:solidFill>
                <a:latin typeface="Arial"/>
                <a:ea typeface="Arial"/>
                <a:cs typeface="Arial"/>
              </a:rPr>
              <a:t>임의 날짜 생성 금지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F55FD-C83C-48F0-A44D-99FAFD3D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860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C943A-6CF3-491D-A6F0-42FDE13F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ASK_USER → 날짜 확인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3695700"/>
            <a:ext cx="11010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E6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883FF-8F0B-425C-8318-F5812568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완료·취소·기한 단축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BE250-7301-41BB-96BF-3B584DEB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433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47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475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45424-9381-4728-9EF8-6039338C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475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4755"/>
                </a:solidFill>
                <a:latin typeface="Arial"/>
                <a:ea typeface="Arial"/>
                <a:cs typeface="Arial"/>
              </a:rPr>
              <a:t>중요 상태 자동 변경 금지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950B8-0C2E-43FA-9046-92875E93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433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69AF7-8B3F-42E5-8F2E-B83B8044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제안 → 사용자 승인/수정/거절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09EE15-D50A-4D23-855A-76006502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01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사용자 결정 전 DB 중요 변경 0건 · 모든 변경은 History로 추적</a:t>
            </a:r>
          </a:p>
        </p:txBody>
      </p:sp>
    </p:spTree>
    <p:extLst>
      <p:ext uri="{BB962C8B-B14F-4D97-AF65-F5344CB8AC3E}">
        <p14:creationId xmlns:p14="http://schemas.microsoft.com/office/powerpoint/2010/main" val="18711306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BA66C-89AC-4A36-B7A1-73EDF954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MAILTASKAGENT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1B1AF-2215-4657-97FC-17E04861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현재 증적은 ‘Core가 연결돼 동작한다’는 수준까지 확보했습니다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34C46-522A-4E68-9A82-290171A2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36B3C-2D98-4D97-8335-3FAFB5CB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회사 LLM Live와 자동 회귀를 분리해 같은 기대값으로 검증했습니다.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DE618-60EB-419F-88C7-7567D05A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F1F3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63A55-45F8-475D-822F-7DC41062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C30A7-FE79-4471-8B88-E05DE84F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Live 실행 단위 통과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B8F7C-1293-4B17-8856-8D247E80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F1F3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BB5FE-5766-4510-B8B9-4DE77A90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8384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28 / 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2DE22-0A44-4AF0-A32C-EB5D63B4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00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Action 단계 일치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11D58-B2F7-4BCA-80A8-3332B57D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1F3F6"/>
          </a:solidFill>
          <a:ln xmlns:a="http://schemas.openxmlformats.org/drawingml/2006/main" w="9525">
            <a:solidFill>
              <a:srgbClr val="F1F3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DB169-AB85-47D2-BE53-39AF5AE3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384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1FD76-BA74-4AC1-AF0C-803E7862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pytest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96DA8-A03F-4C61-AA0B-47824CA2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47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4755"/>
                </a:solidFill>
                <a:latin typeface="Arial"/>
                <a:ea typeface="Arial"/>
                <a:cs typeface="Arial"/>
              </a:rPr>
              <a:t>주의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45E24-C4A8-4030-BC44-5FFF0776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57800"/>
            <a:ext cx="1015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100%는 현재 정의된 합성 Dataset의 E2E Action 결과입니다. 분류·필드·Task ID·수동 시간 KPI는 별도 측정이 남았습니다.</a:t>
            </a:r>
          </a:p>
        </p:txBody>
      </p:sp>
    </p:spTree>
    <p:extLst>
      <p:ext uri="{BB962C8B-B14F-4D97-AF65-F5344CB8AC3E}">
        <p14:creationId xmlns:p14="http://schemas.microsoft.com/office/powerpoint/2010/main" val="16017665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84401-C25A-487F-A198-1FA7D801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MAILTASKAGENT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DB87B-A824-4B98-9D50-DCCC4208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Core MVP 이후 실제 Mail 연동과 운영 확장을 판단합니다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968D5-A358-4F91-823F-746B1733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3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53095-B383-46CF-9B08-7557EF45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86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866B"/>
                </a:solidFill>
                <a:latin typeface="Arial"/>
                <a:ea typeface="Arial"/>
                <a:cs typeface="Arial"/>
              </a:rPr>
              <a:t>현재 완료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19367-3FBE-46BC-8DC1-F150CBFD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회사 LLM Live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 Action · 5 State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ASK_USER 승인 흐름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SQLite Task·History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운영 로그·품질 검증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Task 직접 수정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GitHub 복구 지점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B9DA7-EEDF-4323-865C-BCEDE758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6D1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6D14"/>
                </a:solidFill>
                <a:latin typeface="Arial"/>
                <a:ea typeface="Arial"/>
                <a:cs typeface="Arial"/>
              </a:rPr>
              <a:t>남은 Core 마감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3E659-3506-4200-996E-F4CA825B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세부 Ground Truth·KPI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수동 대비 처리시간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상태 정책·Matching 보강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Master 05~07 최종 증적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운영 UI 사용성·디자인 고도화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Demo 캡처·영상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00050" y="4857750"/>
            <a:ext cx="11010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DE6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3D235-8DB3-4314-9850-ECF3FC38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67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67E8"/>
                </a:solidFill>
                <a:latin typeface="Arial"/>
                <a:ea typeface="Arial"/>
                <a:cs typeface="Arial"/>
              </a:rPr>
              <a:t>오늘 리뷰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EF715-9F24-4DCD-8B7F-A44E3931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244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① Core 범위가 충분한가?   ② 사용자 확인 정책이 적절한가?   ③ 운영 UI 우선순위는 무엇인가?</a:t>
            </a:r>
          </a:p>
        </p:txBody>
      </p:sp>
    </p:spTree>
    <p:extLst>
      <p:ext uri="{BB962C8B-B14F-4D97-AF65-F5344CB8AC3E}">
        <p14:creationId xmlns:p14="http://schemas.microsoft.com/office/powerpoint/2010/main" val="2048607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2026-08-26T01:34:31.3060000Z</dcterms:created>
  <dcterms:modified xsi:type="dcterms:W3CDTF">2026-08-26T01:34:31.3060000Z</dcterms:modified>
</coreProperties>
</file>