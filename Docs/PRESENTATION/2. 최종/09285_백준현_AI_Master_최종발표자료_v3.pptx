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e207658fa4ad7" /><Relationship Type="http://schemas.openxmlformats.org/officeDocument/2006/relationships/extended-properties" Target="/docProps/app.xml" Id="R66e5a3be34264607" /><Relationship Type="http://schemas.openxmlformats.org/officeDocument/2006/relationships/officeDocument" Target="/ppt/presentation.xml" Id="R070f93ada4ed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4d487c006b4f52"/>
  </p:sldMasterIdLst>
  <p:notesMasterIdLst>
    <p:notesMasterId xmlns:r="http://schemas.openxmlformats.org/officeDocument/2006/relationships" r:id="Rd7a193328a1c4ff5"/>
  </p:notesMasterIdLst>
  <p:sldIdLst>
    <p:sldId xmlns:r="http://schemas.openxmlformats.org/officeDocument/2006/relationships" id="256" r:id="R7cbdfd2067a94894"/>
    <p:sldId xmlns:r="http://schemas.openxmlformats.org/officeDocument/2006/relationships" id="257" r:id="R000ec1a1f30d4476"/>
    <p:sldId xmlns:r="http://schemas.openxmlformats.org/officeDocument/2006/relationships" id="258" r:id="R9d0c3491ffa840ff"/>
    <p:sldId xmlns:r="http://schemas.openxmlformats.org/officeDocument/2006/relationships" id="259" r:id="R259ee3e14b0e44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1912746c94757" /><Relationship Type="http://schemas.openxmlformats.org/officeDocument/2006/relationships/slideMaster" Target="/ppt/slideMasters/slideMaster1.xml" Id="R8a4d487c006b4f52" /><Relationship Type="http://schemas.openxmlformats.org/officeDocument/2006/relationships/notesMaster" Target="/ppt/notesMasters/notesMaster1.xml" Id="Rd7a193328a1c4ff5" /><Relationship Type="http://schemas.openxmlformats.org/officeDocument/2006/relationships/presProps" Target="/ppt/presProps.xml" Id="Redd4cc50ed844f29" /><Relationship Type="http://schemas.openxmlformats.org/officeDocument/2006/relationships/tableStyles" Target="/ppt/tableStyles.xml" Id="R10adaebf69ff4dbc" /><Relationship Type="http://schemas.openxmlformats.org/officeDocument/2006/relationships/slide" Target="/ppt/slides/slide1.xml" Id="R7cbdfd2067a94894" /><Relationship Type="http://schemas.openxmlformats.org/officeDocument/2006/relationships/slide" Target="/ppt/slides/slide2.xml" Id="R000ec1a1f30d4476" /><Relationship Type="http://schemas.openxmlformats.org/officeDocument/2006/relationships/slide" Target="/ppt/slides/slide3.xml" Id="R9d0c3491ffa840ff" /><Relationship Type="http://schemas.openxmlformats.org/officeDocument/2006/relationships/slide" Target="/ppt/slides/slide4.xml" Id="R259ee3e14b0e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ee0c572a2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109626fe634cb2" /><Relationship Type="http://schemas.openxmlformats.org/officeDocument/2006/relationships/notesMaster" Target="/ppt/notesMasters/notesMaster1.xml" Id="R5b3d2796612c41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535f5166c749ac" /><Relationship Type="http://schemas.openxmlformats.org/officeDocument/2006/relationships/notesMaster" Target="/ppt/notesMasters/notesMaster1.xml" Id="R8c45717330a8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450169544419d" /><Relationship Type="http://schemas.openxmlformats.org/officeDocument/2006/relationships/notesMaster" Target="/ppt/notesMasters/notesMaster1.xml" Id="R3e36dc2b4852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a99fbf3d634fc9" /><Relationship Type="http://schemas.openxmlformats.org/officeDocument/2006/relationships/notesMaster" Target="/ppt/notesMasters/notesMaster1.xml" Id="Ra402c639eac449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MailTaskAgent는 메일을 요약하는 도구가 아닙니다. 새 메일과 기존 업무 상태를 함께 보고 다음 Action을 결정하고, 위험하거나 모호한 결정은 사용자에게 넘기는 Agentic AI 프로젝트입니다.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Docs/AI_MASTER/02_문제정의및서비스기획.md</a:t>
            </a:r>
          </a:p>
          <a:p xmlns:a="http://schemas.openxmlformats.org/drawingml/2006/main">
            <a:r>
              <a:t>- Docs/AI_MASTER/07_E2E서비스개발.md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문제는 메일을 읽는 행위보다, 요청을 Task로 옮기고 후속 변경을 놓치지 않는 데 있습니다. 메일이 들어오면 Agent가 의미를 구조화하고, 관련 업무를 찾고, 다음 Action을 제안합니다. Python은 안전 정책을 확인하고 DB 실행 결과를 다시 관찰합니다. 오른쪽 수치는 현재 커밋과 실제 테스트 계정에서 확인한 범위입니다.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Docs/AI_MASTER/02_문제정의및서비스기획.md</a:t>
            </a:r>
          </a:p>
          <a:p xmlns:a="http://schemas.openxmlformats.org/drawingml/2006/main">
            <a:r>
              <a:t>- evidence/final_submission_audit_2026-09-13_after_gmail_e2e.json</a:t>
            </a:r>
          </a:p>
          <a:p xmlns:a="http://schemas.openxmlformats.org/drawingml/2006/main">
            <a:r>
              <a:t>- evidence/gmail_fresh_auto_create_2026-09-13.json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M-01은 메일의 의미를 구조화합니다. M-02는 현재 SQLite에서 관련 Task, 최근 Mail 3건, History 5건까지 검색합니다. M-03의 별도 Task Context Agent가 관계와 Action을 제안합니다. 저신뢰 판단은 검색어를 한 번만 바꿔 재검색합니다. Python Guard는 Agent의 Action을 임의로 다른 자동 Action으로 바꾸지 않고 승인하거나 ASK_USER로 올립니다. 실행 후 DB를 재조회하므로 Act와 Observe가 분리됩니다.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src/mailtaskagent/workflow.py</a:t>
            </a:r>
          </a:p>
          <a:p xmlns:a="http://schemas.openxmlformats.org/drawingml/2006/main">
            <a:r>
              <a:t>- src/mailtaskagent/task_context_agent.py</a:t>
            </a:r>
          </a:p>
          <a:p xmlns:a="http://schemas.openxmlformats.org/drawingml/2006/main">
            <a:r>
              <a:t>- src/mailtaskagent/decision.py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큰 기술 과제는 기능을 더 붙이는 일이 아니라 Agent의 판단 책임과 안전 책임을 분리하는 일이었습니다. RAG는 판단에 필요한 Context를 찾고, Agent는 관계와 Action을 제안합니다. Python은 후보 밖 ID와 위험 상태 전이를 차단합니다. 실제 Gmail 검증 중 INBOUND 요청을 WAITING으로 잘못 구조화한 사례를 발견했고, 의미 계약 재시도를 추가했습니다. 수정 후 새 Gmail Root Mail을 보내 사용자 개입 없이 CREATE_TASK가 되는 것까지 다시 확인했습니다. 이 실패와 수정이 프로젝트의 핵심 학습입니다.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멘토 피드백 2026-09</a:t>
            </a:r>
          </a:p>
          <a:p xmlns:a="http://schemas.openxmlformats.org/drawingml/2006/main">
            <a:r>
              <a:t>- evidence/gmail_final_e2e_2026-09-13.json</a:t>
            </a:r>
          </a:p>
          <a:p xmlns:a="http://schemas.openxmlformats.org/drawingml/2006/main">
            <a:r>
              <a:t>- evidence/gmail_fresh_auto_create_2026-09-13.json</a:t>
            </a:r>
          </a:p>
          <a:p xmlns:a="http://schemas.openxmlformats.org/drawingml/2006/main">
            <a:r>
              <a:t>- evidence/final_audit_live_2026-09-13_after_inbound_intent_guard.json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7479f10e042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bf679c04f49d7" /><Relationship Type="http://schemas.openxmlformats.org/officeDocument/2006/relationships/slideLayout" Target="/ppt/slideLayouts/slideLayout1.xml" Id="Ra860d80def88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0d80def88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d9b3a06ec41ce" /><Relationship Type="http://schemas.openxmlformats.org/officeDocument/2006/relationships/notesSlide" Target="/ppt/notesSlides/notesSlide1.xml" Id="R2c61458f18cc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e0de047924822" /><Relationship Type="http://schemas.openxmlformats.org/officeDocument/2006/relationships/notesSlide" Target="/ppt/notesSlides/notesSlide2.xml" Id="Rcdb7c723758f44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5fa5278e94921" /><Relationship Type="http://schemas.openxmlformats.org/officeDocument/2006/relationships/notesSlide" Target="/ppt/notesSlides/notesSlide3.xml" Id="R43c798fd3409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4bbe8c5e74b06" /><Relationship Type="http://schemas.openxmlformats.org/officeDocument/2006/relationships/notesSlide" Target="/ppt/notesSlides/notesSlide4.xml" Id="R46cbc3e46a2f47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31B48-DF35-4975-8778-316F6FB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9F0A4-D536-4379-B0C0-114F74D4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rPr>
              <a:t>AI Master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2776D-6D36-48A9-A242-181CB66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MailTaskAgent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2AB26-E029-4046-AD34-2069F86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6F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6F8"/>
                </a:solidFill>
                <a:latin typeface="Malgun Gothic"/>
                <a:ea typeface="Malgun Gothic"/>
                <a:cs typeface="Malgun Gothic"/>
              </a:rPr>
              <a:t>메일을 업무로 해석하고 다음 행동을 결정하는 개인 업무관리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DCF65-8D35-43FA-9A66-E771F773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6833A-98F7-4EBB-B8DC-23D6F64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백준현  |  09285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59C9F-C827-4A10-9189-5B443E2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9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9DD"/>
                </a:solidFill>
                <a:latin typeface="Malgun Gothic"/>
                <a:ea typeface="Malgun Gothic"/>
                <a:cs typeface="Malgun Gothic"/>
              </a:rPr>
              <a:t>AI Master 7기  |  멘토 이유경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DD088-4E6A-4757-866E-AC5257BB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rPr>
              <a:t>최종 발표</a:t>
            </a:r>
          </a:p>
        </p:txBody>
      </p:sp>
    </p:spTree>
    <p:extLst>
      <p:ext uri="{BB962C8B-B14F-4D97-AF65-F5344CB8AC3E}">
        <p14:creationId xmlns:p14="http://schemas.microsoft.com/office/powerpoint/2010/main" val="636013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58884D-6458-4425-9BC6-442AA8B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94829-DD89-4442-925F-F4BEAB11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1F20-732A-4113-B112-095325BB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0C071-AF0A-45D9-9912-8186D29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C40D0-6B75-4813-8A23-A8FCC82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메일함에서 놓치기 쉬운 요청을 Task Lifecycle로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ADFC-EA26-4879-8942-283ABB6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새 요청, 후속 변경, 회신 대기, 완료 제안을 같은 업무 흐름으로 연결합니다. 모든 상태를 순서대로 거쳐야 하는 것은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1EB29-9D44-4BF6-9020-F9E247F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F3A28-4CEB-41CA-BB64-BFCCF2CB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D5A0E-C9B6-4848-B7CA-B26F9B89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메일 관찰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1BF3-6593-404D-8B26-85A8CD7B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Gmail 수신·발신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Thread와 참여자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88D7D-3F57-4082-8DB5-F27CF45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C3855-63FF-49F7-A9DA-4E1EF6AE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96637-28C0-4BF7-97DE-39692A3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8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D068C-BBEF-43C8-804E-B034733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의미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A142E-9939-4229-B546-B442497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요청·기한·Intent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회사 LLM 구조화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81789-3D84-431B-AB2A-D52A7865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7F643-64EF-4B08-BE57-A91CA1F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2691A-2244-4E86-B441-A2007522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D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D7AE0-CD34-46C7-863B-3C154DD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관계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3D970-87A1-4E91-B17F-7335C5DA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Task Context RAG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Action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FC27E-33DD-4CC6-AC9F-01B634E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74CF0-667E-4CED-8157-651DD05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3BB71-9B36-4FBF-8814-53D414F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B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89959-2830-4A9B-9B99-9030BA4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안전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FADD2-19A1-4FEC-B2D1-28FCF6C7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Python Guard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사용자 승인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424A6-B1CF-4002-9348-79DE363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3597D-A7BA-4F3B-B652-EB5752A0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A0485-3B5F-4F3B-984E-90504537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E0A81-DB56-434E-89BD-6091BC9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결과 기억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9E91B-3443-4B80-B876-E091CA8E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Task·History·Trace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후속 메일 반영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19998-B982-47B9-B673-AB5AB297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C0705-1EDE-4F31-930D-7181EF02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179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F9AACA-CAD6-4388-B1D7-39E2A051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pytest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0F3EF-9A98-436C-9E0D-3C78D8F5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15/15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BACC5-6358-4C0C-A925-EE2E6080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LLM Live Case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3F51F-28A7-46FE-97E9-C546A84B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28/28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1951D4-5790-4BE3-9B6C-39335A4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Action 단계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1C9F8-EDCD-45F2-8C22-8E2FD525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20/20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1F892-29B3-4F5C-A49E-4FA83321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Gmail 수용시험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554EC3-9E35-4B66-AEF5-7688CD10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76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rPr>
              <a:t>35/35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3434F5-4BEF-488D-A2C2-92EED251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최신 중복 재조회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7793B9-FB2A-4801-953D-B28FBE4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수치는 정의된 합성·테스트 계정 범위의 결과이며 실제 회사 Mailbox 전체 정확도를 의미하지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58088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76CE41-5D74-405F-89AA-87E75AB9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46C6D-A3C6-4929-821E-D46CBE84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기술 아키텍처와 Agent 판단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BC262-E9CF-4953-8820-E098E12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C7B13-74AE-473E-9687-8FF85B4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03CC9-2635-4585-870F-D658B75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입력부터 실행 결과 관찰까지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B9B3F-09C0-4BC5-9370-C8E81EEA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B2C15-19D6-4F25-B3E8-09A8B52F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19308-FEE4-4AE5-93DB-0F05915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DC37F-61F5-405F-B455-12B0E708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Mail Analyzer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2B2FE-CFFE-4794-81BE-C24D15E8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의미·Intent·기한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04086-B313-4D14-A659-D674192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A8E88-5CFE-4132-9B1A-EBD04DC0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C8F05-B58F-49FA-8DCB-8DD41A0D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A43BE-1D55-482C-9804-A44FC910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32C20-4BFA-4EDE-9B0C-277A515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Task Retriever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CD174-7F23-4B3D-8BFA-4E2CA529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SQLite Context top-k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7B42C-4BDE-4D0E-B391-4E7CE18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969A1-5E86-429D-9F47-C3505ACB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9525">
            <a:solidFill>
              <a:srgbClr val="7657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2132B-C418-456B-9E41-C24999B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6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27A91-ED38-45FE-B4E0-1797B980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rPr>
              <a:t>M-03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40FDB-C5F9-484B-AAE0-69FE1730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5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Context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D8A9A-AD7D-4F68-A3BE-0CCB5D45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관계·Action 제안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15218-BD89-4F29-88E2-FCBB5F21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F9FB21-6965-4E05-AE2B-B75D5692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4A3D9-AC6B-4A7B-9138-080CF369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A39CA-A4B4-45A5-9DAE-CBBFD77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Guard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35F46-734F-4F29-9861-EB7CB3D5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Python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82828-B9E2-4CA1-BADF-64F0B42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4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Payload·전이 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CCDF2C-3374-49DE-A5EF-E9CEEFD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C0CA3B-0558-4CE0-9232-9F5F706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00A9B5-EDC2-4636-A926-1D55B7BF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F5AF9-091E-4012-B503-2F63980F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156A7-238A-4273-BED5-0F59849B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DB Tool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E2406-DA3E-4BEF-9FF0-1D7C084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Task·History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63D3CE-1F87-45B1-ADBA-D6614CF9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A48203-2BDB-4C8D-9A19-98FEB1E8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826230-FE7D-4548-9FFA-E4B701D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3A081-D040-4DE3-8E2F-69624308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Observe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C1B23-5E1C-491C-A35E-5C0FB2F4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Result Check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197E9B-3101-4C3A-8E31-F89D2189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실제 상태 재조회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896EA9-BC7F-46CC-9DC6-C4796F1A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확정 경로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C78DF7-C19C-47B8-97F3-0E475F2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동일 conversation_id의 단일 활성 Task는 결정론적으로 연결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FCAD3B-5D23-4DEC-A663-9B372323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불확실 경로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55A000-AF5E-49E1-96D6-F6A0E163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43350"/>
            <a:ext cx="690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RAG 검색 → LLM 관계 판단 → 저신뢰 시 Query Rewrite 1회 → 재판단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45170-FC2F-4840-A9B0-512C552B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안전 경로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920849-BB57-4C8B-B3F4-CDD7EDE2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62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후보 밖 ID·Schema 오류·중요 변경은 DB를 바꾸지 않고 ASK_USER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EE5AF0-0BE9-499F-A85F-20A3D84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104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300527-53CD-425D-BA12-F2B826F2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Agent가 선택하고, Python이 검증하며, 사용자가 위험한 결정을 확정합니다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90A6E6-63E1-47FF-A898-D6E032AF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LLM의 원시 사고과정은 저장하지 않고 입력 요약, 검색 근거, Action Proposal, Guard 결과와 DB 관찰만 Trace로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437173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556ED-B220-4698-814B-FAA596CC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B71D9-9309-4ECC-B9D8-D203888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핵심 기술 과제와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E77C-FF67-4D9C-A6DA-99B9E81D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5C7C8-33A4-472E-9A99-269B93C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2856D-C41E-4441-8325-8E2FAA1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3C3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73C34"/>
                </a:solidFill>
                <a:latin typeface="Malgun Gothic"/>
                <a:ea typeface="Malgun Gothic"/>
                <a:cs typeface="Malgun Gothic"/>
              </a:rPr>
              <a:t>멘토 피드백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66CFC-C3A9-40B6-996D-3954078C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규칙 기반 Workflow처럼 보였고, LLM이 어떤 Context를 보고 무엇을 판단했는지 드러나지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30999-CB58-44C6-9732-147EE49D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E13CB-828C-4282-B7F2-AB808C3D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81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23975-0E86-476D-A81B-B1827457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21909-363C-4B84-9441-E48D9BC3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다른 표현의 후속 메일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BB269-16C2-426E-9A4E-E8450F8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SQLite Task Context 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F6F11-0333-4165-8082-50DF076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관련 Task·Mail·사용자 결정 History를 제한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5337C-478E-4938-B57F-A55A2514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E8399-839C-40CA-B486-DF1B417E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381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79801-A9F5-461B-AF10-0C1789DA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4E53F-D1D2-4FFA-8571-CAF7FFA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첫 판단의 낮은 신뢰도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3F510-EF16-40F2-A60F-E849B81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19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제한적 ReAct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2E8A8-1C50-4745-AF5C-C6882E1C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Query Rewrite와 재검색·재판단을 최대 1회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12285-CE88-48D9-9DBE-9D7EE30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114B7-C937-4F1C-ABC4-310214E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81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A9E90-1557-4D64-A4E0-D03EBFD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C1B9B-F336-4E0C-B36F-2B5166A6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LLM 오판의 DB 위험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54A01-5F3B-434D-B4CD-1C2C49BE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24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Python Safety Guard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A7720-C886-434E-9E83-F778CFFE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후보·Intent·상태 전이·중요 변경을 검증하고 Fail-closed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058DB-D43E-44F2-ACC8-63E186B7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39543-0E26-4320-9A83-D806CDA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381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3BF38-1DF2-4370-9138-B3BEEDD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3D2AF-23DB-42BE-B6FE-B595A6F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Agentic 과정의 불투명성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EBD83-70E7-4A51-9087-F59AB22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Workflow 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0F55C-84E0-44D7-8FA0-715122DC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입력·검색·제안·Guard·실행·관찰을 시간순 표시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F9A0E-114F-4743-958F-F5377F2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F9D0E-D5B4-4D2A-859F-E93E1C6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663B0-8C78-4C80-8A8B-2EFE5D64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2450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Gmail 신규 Root Mail 자동 CREATE_TASK, 승인 발송 후 WAITING_REPLY, 기한 단축·완료 승인 Gate, 중복 방지까지 실제 계정에서 확인</a:t>
            </a:r>
          </a:p>
        </p:txBody>
      </p:sp>
    </p:spTree>
    <p:extLst>
      <p:ext uri="{BB962C8B-B14F-4D97-AF65-F5344CB8AC3E}">
        <p14:creationId xmlns:p14="http://schemas.microsoft.com/office/powerpoint/2010/main" val="1500017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2026-09-13T12:59:31.1020000Z</dcterms:created>
  <dcterms:modified xsi:type="dcterms:W3CDTF">2026-09-13T12:59:31.1020000Z</dcterms:modified>
</coreProperties>
</file>