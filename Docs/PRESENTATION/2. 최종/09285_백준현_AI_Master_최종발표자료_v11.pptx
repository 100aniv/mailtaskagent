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059e9c14d84d05" /><Relationship Type="http://schemas.openxmlformats.org/officeDocument/2006/relationships/extended-properties" Target="/docProps/app.xml" Id="R383ed66ad2204bc4" /><Relationship Type="http://schemas.openxmlformats.org/officeDocument/2006/relationships/officeDocument" Target="/ppt/presentation.xml" Id="R1ce73a7a56a04f21" /></Relationships>
</file>

<file path=ppt/presentation.xml><?xml version="1.0" encoding="utf-8"?>
<p:presentation xmlns:p="http://schemas.openxmlformats.org/presentationml/2006/main">
  <p:sldMasterIdLst>
    <p:sldMasterId xmlns:r="http://schemas.openxmlformats.org/officeDocument/2006/relationships" id="2147483648" r:id="R8aa92b1ed2384708"/>
  </p:sldMasterIdLst>
  <p:notesMasterIdLst>
    <p:notesMasterId xmlns:r="http://schemas.openxmlformats.org/officeDocument/2006/relationships" r:id="R5363656adcad4f87"/>
  </p:notesMasterIdLst>
  <p:sldIdLst>
    <p:sldId xmlns:r="http://schemas.openxmlformats.org/officeDocument/2006/relationships" id="256" r:id="R97e961e42ad24b91"/>
    <p:sldId xmlns:r="http://schemas.openxmlformats.org/officeDocument/2006/relationships" id="257" r:id="R4328ad1c2fb4430f"/>
    <p:sldId xmlns:r="http://schemas.openxmlformats.org/officeDocument/2006/relationships" id="258" r:id="Rce7f30a9a55b42e5"/>
    <p:sldId xmlns:r="http://schemas.openxmlformats.org/officeDocument/2006/relationships" id="259" r:id="R29c13127892040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d55cb74c1043c6" /><Relationship Type="http://schemas.openxmlformats.org/officeDocument/2006/relationships/slideMaster" Target="/ppt/slideMasters/slideMaster1.xml" Id="R8aa92b1ed2384708" /><Relationship Type="http://schemas.openxmlformats.org/officeDocument/2006/relationships/notesMaster" Target="/ppt/notesMasters/notesMaster1.xml" Id="R5363656adcad4f87" /><Relationship Type="http://schemas.openxmlformats.org/officeDocument/2006/relationships/presProps" Target="/ppt/presProps.xml" Id="R17e7651e14434d6a" /><Relationship Type="http://schemas.openxmlformats.org/officeDocument/2006/relationships/tableStyles" Target="/ppt/tableStyles.xml" Id="Rcd35825772b3428b" /><Relationship Type="http://schemas.openxmlformats.org/officeDocument/2006/relationships/slide" Target="/ppt/slides/slide1.xml" Id="R97e961e42ad24b91" /><Relationship Type="http://schemas.openxmlformats.org/officeDocument/2006/relationships/slide" Target="/ppt/slides/slide2.xml" Id="R4328ad1c2fb4430f" /><Relationship Type="http://schemas.openxmlformats.org/officeDocument/2006/relationships/slide" Target="/ppt/slides/slide3.xml" Id="Rce7f30a9a55b42e5" /><Relationship Type="http://schemas.openxmlformats.org/officeDocument/2006/relationships/slide" Target="/ppt/slides/slide4.xml" Id="R29c13127892040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2dbde4e27a4b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e828c0b18b4d36" /><Relationship Type="http://schemas.openxmlformats.org/officeDocument/2006/relationships/notesMaster" Target="/ppt/notesMasters/notesMaster1.xml" Id="Re08386d2afbe47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9a6bce874c431e" /><Relationship Type="http://schemas.openxmlformats.org/officeDocument/2006/relationships/notesMaster" Target="/ppt/notesMasters/notesMaster1.xml" Id="R7ecacb7f26d448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f6808ecb444666" /><Relationship Type="http://schemas.openxmlformats.org/officeDocument/2006/relationships/notesMaster" Target="/ppt/notesMasters/notesMaster1.xml" Id="Rc14f1822078c48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b9f6625c21472d" /><Relationship Type="http://schemas.openxmlformats.org/officeDocument/2006/relationships/notesMaster" Target="/ppt/notesMasters/notesMaster1.xml" Id="Rf7d7e6c0044a4f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개요 2분, 아키텍처 4분, 핵심 기술 과제 4분. 슬라이드를 넘기기 전에 시간을 확인한다.</a:t>
            </a:r>
          </a:p>
          <a:p xmlns:a="http://schemas.openxmlformats.org/drawingml/2006/main">
            <a:r>
              <a:t/>
            </a:r>
          </a:p>
          <a:p xmlns:a="http://schemas.openxmlformats.org/drawingml/2006/main">
            <a:r>
              <a:t>[근거]</a:t>
            </a:r>
          </a:p>
          <a:p xmlns:a="http://schemas.openxmlformats.org/drawingml/2006/main">
            <a:r>
              <a:t>- Docs/PRESENTATION/2. 최종/09285_백준현_최종시연_스크립트.md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문제를 좁히면 이렇습니다. 하나의 업무가 여러 메일과 여러 Thread에 흩어져 도착하고, 기한 변경이나 자료 회신 같은 후속 메일은 표현이 매번 달라집니다. 사용자는 그때마다 과거 메일을 다시 찾아 이 메일이 새 업무인지 기존 업무의 변경인지 판단해야 합니다.</a:t>
            </a:r>
          </a:p>
          <a:p xmlns:a="http://schemas.openxmlformats.org/drawingml/2006/main">
            <a:r>
              <a:t/>
            </a:r>
          </a:p>
          <a:p xmlns:a="http://schemas.openxmlformats.org/drawingml/2006/main">
            <a:r>
              <a:t>가운데 흐름은 왼쪽부터 읽으시면 됩니다. 메일을 관찰하고, 의미를 구조화하고, 기존 업무와의 관계를 판단하고, 위험한 실행은 막고, 결과를 기억합니다. 이 다섯 단계가 뒤에 나올 M-01부터 M-05까지에 그대로 대응합니다.</a:t>
            </a:r>
          </a:p>
          <a:p xmlns:a="http://schemas.openxmlformats.org/drawingml/2006/main">
            <a:r>
              <a:t/>
            </a:r>
          </a:p>
          <a:p xmlns:a="http://schemas.openxmlformats.org/drawingml/2006/main">
            <a:r>
              <a:t>아래 수치는 분모가 서로 다르니 합쳐 읽지 말아 주십시오. 28/28은 회사 LLM Live 15개 Case에서 나온 Action 단계, 3/3은 Task Context Agent 전용 Live, 20/20은 테스트 Gmail의 비식별 합성 메일 수용시험, pytest는 코드 회귀입니다. 회사 메일함 전체 정확도가 아닙니다. 체감 시간은 신뢰할 Baseline을 얻지 못해 추정치 대신 미측정으로 적었습니다.</a:t>
            </a:r>
          </a:p>
          <a:p xmlns:a="http://schemas.openxmlformats.org/drawingml/2006/main">
            <a:r>
              <a:t/>
            </a:r>
          </a:p>
          <a:p xmlns:a="http://schemas.openxmlformats.org/drawingml/2006/main">
            <a:r>
              <a:t>[근거]</a:t>
            </a:r>
          </a:p>
          <a:p xmlns:a="http://schemas.openxmlformats.org/drawingml/2006/main">
            <a:r>
              <a:t>- Docs/AI_MASTER/02_문제정의및서비스기획.md</a:t>
            </a:r>
          </a:p>
          <a:p xmlns:a="http://schemas.openxmlformats.org/drawingml/2006/main">
            <a:r>
              <a:t>- evidence/final_audit_live_2026-09-13_after_inbound_intent_guard.json</a:t>
            </a:r>
          </a:p>
          <a:p xmlns:a="http://schemas.openxmlformats.org/drawingml/2006/main">
            <a:r>
              <a:t>- evidence/final_mvp_acceptance_2026-09-08.json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중요한 설계 결정부터 말씀드리겠습니다. 모든 메일을 Agent에게 맡기지 않았습니다. 경로가 셋으로 갈립니다. 같은 Thread에 활성 업무가 정확히 하나면 규칙이 바로 연결하고 검색과 Agent 판단을 아예 호출하지 않습니다. 관련 업무를 찾아야 할 때만 RAG 경로로 가고, 업무 요청이 아니면 기존 규칙 경로로 처리합니다. 입력에 따라 호출 자체가 달라지는 것이 고정 Workflow와의 차이입니다.</a:t>
            </a:r>
          </a:p>
          <a:p xmlns:a="http://schemas.openxmlformats.org/drawingml/2006/main">
            <a:r>
              <a:t/>
            </a:r>
          </a:p>
          <a:p xmlns:a="http://schemas.openxmlformats.org/drawingml/2006/main">
            <a:r>
              <a:t>M-03을 한 번의 호출로 두지 않은 이유가 중요합니다. 후보와 승자를 한 응답에서 같이 받으면, 모델이 실제로 후보를 견주었는지 결론을 먼저 정하고 설명을 붙였는지 구분할 방법이 없습니다. 그래서 생성과 평가를 다른 호출로 나눴습니다. 생성 단계는 후보 두세 개를 근거와 함께 내고 점수는 매기지 않습니다. Python이 후보 ID와 관계 계약을 검증하고, 통과한 후보만 평가 단계로 넘어가 지지도를 받습니다. 상위 두 지지도의 차이는 Python이 계산합니다.</a:t>
            </a:r>
          </a:p>
          <a:p xmlns:a="http://schemas.openxmlformats.org/drawingml/2006/main">
            <a:r>
              <a:t/>
            </a:r>
          </a:p>
          <a:p xmlns:a="http://schemas.openxmlformats.org/drawingml/2006/main">
            <a:r>
              <a:t>M-02 검색은 외부 문서가 아니라 제 SQLite를 봅니다. 활성 업무 다섯 건, 각 업무의 최근 메일 세 건과 변경 이력 다섯 건, 그리고 사용자가 과거에 확정한 결정을 함께 가져옵니다. 지난 결정이 다음 판단의 근거로 다시 들어갑니다.</a:t>
            </a:r>
          </a:p>
          <a:p xmlns:a="http://schemas.openxmlformats.org/drawingml/2006/main">
            <a:r>
              <a:t/>
            </a:r>
          </a:p>
          <a:p xmlns:a="http://schemas.openxmlformats.org/drawingml/2006/main">
            <a:r>
              <a:t>기술 선택 이유입니다. Vector DB와 외부 Embedding은 쓰지 않았습니다. 개인의 활성 업무는 수십 건 규모라 SQLite 조회만으로 충분했고, 구성요소를 늘리는 비용이 더 컸습니다. 대신 검색이 어휘 겹침에 의존한다는 한계가 남습니다. 모델 간 비교 실험은 하지 않았으므로 최적이라고 주장하지 않습니다.</a:t>
            </a:r>
          </a:p>
          <a:p xmlns:a="http://schemas.openxmlformats.org/drawingml/2006/main">
            <a:r>
              <a:t/>
            </a:r>
          </a:p>
          <a:p xmlns:a="http://schemas.openxmlformats.org/drawingml/2006/main">
            <a:r>
              <a:t>랭그래프를 왜 쓰지 않았는지 물으실 수 있어 먼저 말씀드리겠습니다. 이 시스템은 에이전트가 하나이고, 상태는 태스크 다섯 개와 행동 일곱 개로 닫혀 있습니다. 그래서 파이썬 상태와 가드만으로 흐름이 단순하게 유지되고, 무엇보다 검증이 쉬웠습니다. 프레임워크를 얹으면 의존성은 늘지만 이 범위에서는 동작이 달라지지 않습니다. 분기와 중단, 재개가 지금보다 복잡해지는 시점에 랭그래프를 다시 검토하겠습니다.</a:t>
            </a:r>
          </a:p>
          <a:p xmlns:a="http://schemas.openxmlformats.org/drawingml/2006/main">
            <a:r>
              <a:t/>
            </a:r>
          </a:p>
          <a:p xmlns:a="http://schemas.openxmlformats.org/drawingml/2006/main">
            <a:r>
              <a:t>세 번째가 가장 오래 고민한 Python Guard입니다. LLM은 제안만 하고 데이터베이스를 직접 바꾸지 않습니다. Guard는 고른 업무 ID가 검색 후보 안에 있는지, 메일 의도와 Action이 맞는지, 생성에 필요한 값이 있는지를 확인하고, 하나라도 어긋나면 사용자 확인으로 올립니다. 완료·취소·기한 단축은 신뢰도와 무관하게 항상 승인을 거칩니다.</a:t>
            </a:r>
          </a:p>
          <a:p xmlns:a="http://schemas.openxmlformats.org/drawingml/2006/main">
            <a:r>
              <a:t/>
            </a:r>
          </a:p>
          <a:p xmlns:a="http://schemas.openxmlformats.org/drawingml/2006/main">
            <a:r>
              <a:t>[근거]</a:t>
            </a:r>
          </a:p>
          <a:p xmlns:a="http://schemas.openxmlformats.org/drawingml/2006/main">
            <a:r>
              <a:t>- Docs/AI_MASTER/04_상세설계및개발환경.md</a:t>
            </a:r>
          </a:p>
          <a:p xmlns:a="http://schemas.openxmlformats.org/drawingml/2006/main">
            <a:r>
              <a:t>- src/mailtaskagent/workflow.py</a:t>
            </a:r>
          </a:p>
          <a:p xmlns:a="http://schemas.openxmlformats.org/drawingml/2006/main">
            <a:r>
              <a:t>- src/mailtaskagent/task_context_agent.py</a:t>
            </a:r>
          </a:p>
          <a:p xmlns:a="http://schemas.openxmlformats.org/drawingml/2006/main">
            <a:r>
              <a:t>- src/mailtaskagent/deliberation.py</a:t>
            </a:r>
          </a:p>
          <a:p xmlns:a="http://schemas.openxmlformats.org/drawingml/2006/main">
            <a:r>
              <a:t>- src/mailtaskagent/decision.py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슬라이드의 난제부터 말씀드리겠습니다. 저는 이미 Agent를 쓰고 있었습니다. 문제는 그 Agent가 결론을 하나만 돌려줬다는 것입니다. 관계 하나, 대상 하나, 행동 하나에 설명 한 줄입니다. 이러면 모델이 후보를 실제로 견주고 고른 것인지, 결론을 먼저 정하고 그럴듯한 설명을 붙인 것인지 밖에서 구분할 방법이 없습니다. 멘토님 피드백도 매번 같았습니다. 룰 베이스처럼 보인다, 어떤 후보를 검토했는지 보여 달라. 판단의 품질이 아니라 판단의 검증 가능성이 막힌 지점이었습니다.</a:t>
            </a:r>
          </a:p>
          <a:p xmlns:a="http://schemas.openxmlformats.org/drawingml/2006/main">
            <a:r>
              <a:t/>
            </a:r>
          </a:p>
          <a:p xmlns:a="http://schemas.openxmlformats.org/drawingml/2006/main">
            <a:r>
              <a:t>그래서 적용한 기법이 화면에 적힌 제한적 다중 가설 숙고입니다. 먼저 분명히 해 두겠습니다. 트리 오브 소트를 구현한 것이 아닙니다. 후보 생성과 평가를 분리한다는 아이디어만 참고했고, 후보 두세 개, 평가 한 번, 재검색 한 번으로 제한했습니다. 메일 한 건을 업무로 옮기는 판단은 단계가 깊지 않은 대신 틀렸을 때 비용이 업무 데이터 오변경이기 때문입니다. 생성과 평가를 서로 다른 호출로 나눈 것이 핵심입니다. 생성 단계는 점수를 매기지 않고, 평가 단계는 새로 만들지 못합니다. 그래서 화면에 남는 후보 목록이 사후 설명이 아니라 실제로 비교된 기록이 됩니다.</a:t>
            </a:r>
          </a:p>
          <a:p xmlns:a="http://schemas.openxmlformats.org/drawingml/2006/main">
            <a:r>
              <a:t/>
            </a:r>
          </a:p>
          <a:p xmlns:a="http://schemas.openxmlformats.org/drawingml/2006/main">
            <a:r>
              <a:t>효과는 같은 코드에서 기능만 껐다 켜서 측정했습니다. 기존 열다섯 개 Case는 양쪽이 똑같이 15/15, Action 28/28이고 소요시간만 약 삼십 퍼센트 늘었습니다. 숙고가 실제 발동하는 전용 네 개 케이스는 엘엘엠 출력이 회차마다 달라져서 각 설정을 세 번씩 돌렸습니다. 통과 수는 켠 쪽이 삼, 삼, 이이고 끈 쪽이 이, 이, 이입니다. 한 회차 숫자를 결론으로 쓰지 않았습니다. 세 번 모두 재현되는 차이는 한 건입니다. 요청자가 같고 대상 시스템만 다른 유사 업무가 둘 있을 때, 단일 결론 경로는 세 번 모두 둘 중 하나에 그대로 연결했고, 두 단계 경로는 세 번 모두 사용자 확인으로 닫았습니다. 제가 개선했다고 말하는 범위는 이 한 건입니다. 엘엘엠을 호출하지 않는 목 경로에서는 양쪽이 모두 사 대 사로 차이가 없습니다. 목 분석기는 어휘 겹침만 보기 때문에 숙고가 다루는 판단 자체가 생기지 않습니다.</a:t>
            </a:r>
          </a:p>
          <a:p xmlns:a="http://schemas.openxmlformats.org/drawingml/2006/main">
            <a:r>
              <a:t/>
            </a:r>
          </a:p>
          <a:p xmlns:a="http://schemas.openxmlformats.org/drawingml/2006/main">
            <a:r>
              <a:t>실패도 말씀드리겠습니다. 처음 구현에서 응답 검증을 재시도 루프 밖에 두었습니다. 그래서 모델이 필드 하나를 배열로 돌려준 것만으로 판단 전체가 실패했고, 저장해 둔 실제 Gmail 서른다섯 건을 다시 흘려보냈을 때 판단 네 건이 사라졌습니다. 합성 테스트로는 드러나지 않았고 실제 데이터 재생에서 잡혔습니다. 검증을 루프 안으로 옮긴 뒤 유실은 0건입니다.</a:t>
            </a:r>
          </a:p>
          <a:p xmlns:a="http://schemas.openxmlformats.org/drawingml/2006/main">
            <a:r>
              <a:t/>
            </a:r>
          </a:p>
          <a:p xmlns:a="http://schemas.openxmlformats.org/drawingml/2006/main">
            <a:r>
              <a:t>반대로 개선되지 않은 것도 말씀드리겠습니다. 검색 결과 안에 명령을 심어 둔 케이스는 두 설정 모두 세 번 모두 기대값을 충족하지 못했습니다. 기대값은 사용자 확인인데 실제로는 무시로 끝났습니다. 다만 이 케이스가 확인해야 할 안전 속성인, 심어진 명령을 실행하지 않는다는 점은 여섯 번 모두 지켜졌습니다. 본문이 지시한 전체 완료 처리와 기록 삭제는 한 번도 일어나지 않았습니다. 명령은 거부하지만 사람에게 넘기지는 않는, 안전하되 정보를 버리는 동작이고 한계로 남겨 두었습니다. 화면의 신뢰도와 지지도 역시 모델의 자기보고 값이지 검증된 정답 확률이 아닙니다.</a:t>
            </a:r>
          </a:p>
          <a:p xmlns:a="http://schemas.openxmlformats.org/drawingml/2006/main">
            <a:r>
              <a:t/>
            </a:r>
          </a:p>
          <a:p xmlns:a="http://schemas.openxmlformats.org/drawingml/2006/main">
            <a:r>
              <a:t>마지막으로 하지 않은 선택입니다. 여러 계획을 만들어 비교하는 Tree of Thoughts는 적용하지 않았습니다. 메일 한 건을 업무로 옮기는 판단은 단계가 깊지 않은 대신 틀렸을 때 비용이 업무 데이터 오변경이라, 후보를 두세 개로 제한하고 평가와 재검색을 각각 한 번으로 묶은 뒤 결정론적 Guard와 사용자 승인으로 막는 쪽을 택했습니다. 문서에도 구현했다고 쓰지 않고 거기서 착안한 제한적 후보 탐색·평가라고 적었습니다.</a:t>
            </a:r>
          </a:p>
          <a:p xmlns:a="http://schemas.openxmlformats.org/drawingml/2006/main">
            <a:r>
              <a:t/>
            </a:r>
          </a:p>
          <a:p xmlns:a="http://schemas.openxmlformats.org/drawingml/2006/main">
            <a:r>
              <a:t>[근거]</a:t>
            </a:r>
          </a:p>
          <a:p xmlns:a="http://schemas.openxmlformats.org/drawingml/2006/main">
            <a:r>
              <a:t>- evidence/deliberation_ab_2026-09-15.json</a:t>
            </a:r>
          </a:p>
          <a:p xmlns:a="http://schemas.openxmlformats.org/drawingml/2006/main">
            <a:r>
              <a:t>- evidence/gmail_replay_deliberation_2026-09-15.json</a:t>
            </a:r>
          </a:p>
          <a:p xmlns:a="http://schemas.openxmlformats.org/drawingml/2006/main">
            <a:r>
              <a:t>- evidence/final_audit_live_2026-09-13_after_inbound_intent_guard.json</a:t>
            </a:r>
          </a:p>
          <a:p xmlns:a="http://schemas.openxmlformats.org/drawingml/2006/main">
            <a:r>
              <a:t>- tests/test_deliberation.py</a:t>
            </a:r>
          </a:p>
          <a:p xmlns:a="http://schemas.openxmlformats.org/drawingml/2006/main">
            <a:r>
              <a:t>- tests/test_agent_deliberation.py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3ced6233d249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099e192d4b4df3" /><Relationship Type="http://schemas.openxmlformats.org/officeDocument/2006/relationships/slideLayout" Target="/ppt/slideLayouts/slideLayout1.xml" Id="R2cde1774641040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de1774641040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200b49150f4b5c" /><Relationship Type="http://schemas.openxmlformats.org/officeDocument/2006/relationships/notesSlide" Target="/ppt/notesSlides/notesSlide1.xml" Id="R7492b559cb424e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a94762e4f44dba" /><Relationship Type="http://schemas.openxmlformats.org/officeDocument/2006/relationships/notesSlide" Target="/ppt/notesSlides/notesSlide2.xml" Id="Re95d7ea8cfc14e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109f6e056543b5" /><Relationship Type="http://schemas.openxmlformats.org/officeDocument/2006/relationships/notesSlide" Target="/ppt/notesSlides/notesSlide3.xml" Id="Rfb6e7f62beed47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0d95bace15e4527" /><Relationship Type="http://schemas.openxmlformats.org/officeDocument/2006/relationships/notesSlide" Target="/ppt/notesSlides/notesSlide4.xml" Id="R2f50b96035a246eb" /></Relationships>
</file>

<file path=ppt/slides/slide1.xml><?xml version="1.0" encoding="utf-8"?>
<p:sld xmlns:p="http://schemas.openxmlformats.org/presentationml/2006/main">
  <p:cSld>
    <p:bg>
      <p:bgPr>
        <a:solidFill xmlns:a="http://schemas.openxmlformats.org/drawingml/2006/main">
          <a:srgbClr val="1024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FD630B-4409-44FC-AE82-D9C625E018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0B8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15D048-0C45-421E-A5D6-6530BA620C31}"/>
              </a:ext>
            </a:extLst>
          </p:cNvPr>
          <p:cNvSpPr>
            <a:spLocks xmlns:a="http://schemas.openxmlformats.org/drawingml/2006/main" noGrp="1"/>
          </p:cNvSpPr>
          <p:nvPr/>
        </p:nvSpPr>
        <p:spPr>
          <a:xfrm xmlns:a="http://schemas.openxmlformats.org/drawingml/2006/main">
            <a:off x="685800" y="6858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0B8C7"/>
                </a:solidFill>
                <a:latin typeface="Malgun Gothic"/>
                <a:ea typeface="Malgun Gothic"/>
                <a:cs typeface="Malgun Gothic"/>
              </a:defRPr>
            </a:pPr>
            <a:r>
              <a:rPr sz="1500" b="1">
                <a:solidFill>
                  <a:srgbClr val="20B8C7"/>
                </a:solidFill>
                <a:latin typeface="Malgun Gothic"/>
                <a:ea typeface="Malgun Gothic"/>
                <a:cs typeface="Malgun Gothic"/>
              </a:rPr>
              <a:t>AI Master Project</a:t>
            </a:r>
          </a:p>
        </p:txBody>
      </p:sp>
      <p:sp>
        <p:nvSpPr>
          <p:cNvPr id="3" name="">
            <a:extLst xmlns:a="http://schemas.openxmlformats.org/drawingml/2006/main">
              <a:ext uri="{FF2B5EF4-FFF2-40B4-BE49-F238E27FC236}">
                <a16:creationId xmlns:a16="http://schemas.microsoft.com/office/drawing/2014/main" id="{0A9E3227-0E0F-454B-9362-135A935CACBA}"/>
              </a:ext>
            </a:extLst>
          </p:cNvPr>
          <p:cNvSpPr>
            <a:spLocks xmlns:a="http://schemas.openxmlformats.org/drawingml/2006/main" noGrp="1"/>
          </p:cNvSpPr>
          <p:nvPr/>
        </p:nvSpPr>
        <p:spPr>
          <a:xfrm xmlns:a="http://schemas.openxmlformats.org/drawingml/2006/main">
            <a:off x="685800" y="1476375"/>
            <a:ext cx="7620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MailTaskAgent</a:t>
            </a:r>
          </a:p>
        </p:txBody>
      </p:sp>
      <p:sp>
        <p:nvSpPr>
          <p:cNvPr id="4" name="">
            <a:extLst xmlns:a="http://schemas.openxmlformats.org/drawingml/2006/main">
              <a:ext uri="{FF2B5EF4-FFF2-40B4-BE49-F238E27FC236}">
                <a16:creationId xmlns:a16="http://schemas.microsoft.com/office/drawing/2014/main" id="{0FCCF1CE-3C5A-4FE9-9E49-71C9AA1CAE19}"/>
              </a:ext>
            </a:extLst>
          </p:cNvPr>
          <p:cNvSpPr>
            <a:spLocks xmlns:a="http://schemas.openxmlformats.org/drawingml/2006/main" noGrp="1"/>
          </p:cNvSpPr>
          <p:nvPr/>
        </p:nvSpPr>
        <p:spPr>
          <a:xfrm xmlns:a="http://schemas.openxmlformats.org/drawingml/2006/main">
            <a:off x="685800" y="2381250"/>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D9E6F8"/>
                </a:solidFill>
                <a:latin typeface="Malgun Gothic"/>
                <a:ea typeface="Malgun Gothic"/>
                <a:cs typeface="Malgun Gothic"/>
              </a:defRPr>
            </a:pPr>
            <a:r>
              <a:rPr sz="2025" b="0">
                <a:solidFill>
                  <a:srgbClr val="D9E6F8"/>
                </a:solidFill>
                <a:latin typeface="Malgun Gothic"/>
                <a:ea typeface="Malgun Gothic"/>
                <a:cs typeface="Malgun Gothic"/>
              </a:rPr>
              <a:t>메일을 업무로 해석하고 다음 행동을 결정하는 개인 업무관리 Agent</a:t>
            </a:r>
          </a:p>
        </p:txBody>
      </p:sp>
      <p:sp>
        <p:nvSpPr>
          <p:cNvPr id="5" name="">
            <a:extLst xmlns:a="http://schemas.openxmlformats.org/drawingml/2006/main">
              <a:ext uri="{FF2B5EF4-FFF2-40B4-BE49-F238E27FC236}">
                <a16:creationId xmlns:a16="http://schemas.microsoft.com/office/drawing/2014/main" id="{BCF74900-F680-44CD-8868-DE069320C328}"/>
              </a:ext>
            </a:extLst>
          </p:cNvPr>
          <p:cNvSpPr>
            <a:spLocks xmlns:a="http://schemas.openxmlformats.org/drawingml/2006/main" noGrp="1"/>
          </p:cNvSpPr>
          <p:nvPr/>
        </p:nvSpPr>
        <p:spPr>
          <a:xfrm xmlns:a="http://schemas.openxmlformats.org/drawingml/2006/main">
            <a:off x="685800" y="3714750"/>
            <a:ext cx="10477500" cy="19050"/>
          </a:xfrm>
          <a:prstGeom xmlns:a="http://schemas.openxmlformats.org/drawingml/2006/main" prst="rect">
            <a:avLst/>
          </a:prstGeom>
          <a:solidFill xmlns:a="http://schemas.openxmlformats.org/drawingml/2006/main">
            <a:srgbClr val="3550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83CEEB4-C745-4086-A357-488C6F419799}"/>
              </a:ext>
            </a:extLst>
          </p:cNvPr>
          <p:cNvSpPr>
            <a:spLocks xmlns:a="http://schemas.openxmlformats.org/drawingml/2006/main" noGrp="1"/>
          </p:cNvSpPr>
          <p:nvPr/>
        </p:nvSpPr>
        <p:spPr>
          <a:xfrm xmlns:a="http://schemas.openxmlformats.org/drawingml/2006/main">
            <a:off x="68580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백준현  |  09285</a:t>
            </a:r>
          </a:p>
        </p:txBody>
      </p:sp>
      <p:sp>
        <p:nvSpPr>
          <p:cNvPr id="7" name="">
            <a:extLst xmlns:a="http://schemas.openxmlformats.org/drawingml/2006/main">
              <a:ext uri="{FF2B5EF4-FFF2-40B4-BE49-F238E27FC236}">
                <a16:creationId xmlns:a16="http://schemas.microsoft.com/office/drawing/2014/main" id="{7B24E3DA-5E09-4B8C-AFCA-2E32AE586639}"/>
              </a:ext>
            </a:extLst>
          </p:cNvPr>
          <p:cNvSpPr>
            <a:spLocks xmlns:a="http://schemas.openxmlformats.org/drawingml/2006/main" noGrp="1"/>
          </p:cNvSpPr>
          <p:nvPr/>
        </p:nvSpPr>
        <p:spPr>
          <a:xfrm xmlns:a="http://schemas.openxmlformats.org/drawingml/2006/main">
            <a:off x="685800" y="45148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B9C9DD"/>
                </a:solidFill>
                <a:latin typeface="Malgun Gothic"/>
                <a:ea typeface="Malgun Gothic"/>
                <a:cs typeface="Malgun Gothic"/>
              </a:defRPr>
            </a:pPr>
            <a:r>
              <a:rPr sz="1350" b="0">
                <a:solidFill>
                  <a:srgbClr val="B9C9DD"/>
                </a:solidFill>
                <a:latin typeface="Malgun Gothic"/>
                <a:ea typeface="Malgun Gothic"/>
                <a:cs typeface="Malgun Gothic"/>
              </a:rPr>
              <a:t>AI Master 7기  |  멘토 이유경</a:t>
            </a:r>
          </a:p>
        </p:txBody>
      </p:sp>
      <p:sp>
        <p:nvSpPr>
          <p:cNvPr id="8" name="">
            <a:extLst xmlns:a="http://schemas.openxmlformats.org/drawingml/2006/main">
              <a:ext uri="{FF2B5EF4-FFF2-40B4-BE49-F238E27FC236}">
                <a16:creationId xmlns:a16="http://schemas.microsoft.com/office/drawing/2014/main" id="{DBBC9109-CCD2-4D3B-AA73-BD7BCE3E6049}"/>
              </a:ext>
            </a:extLst>
          </p:cNvPr>
          <p:cNvSpPr>
            <a:spLocks xmlns:a="http://schemas.openxmlformats.org/drawingml/2006/main" noGrp="1"/>
          </p:cNvSpPr>
          <p:nvPr/>
        </p:nvSpPr>
        <p:spPr>
          <a:xfrm xmlns:a="http://schemas.openxmlformats.org/drawingml/2006/main">
            <a:off x="685800" y="5810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20B8C7"/>
                </a:solidFill>
                <a:latin typeface="Malgun Gothic"/>
                <a:ea typeface="Malgun Gothic"/>
                <a:cs typeface="Malgun Gothic"/>
              </a:defRPr>
            </a:pPr>
            <a:r>
              <a:rPr sz="1350" b="1">
                <a:solidFill>
                  <a:srgbClr val="20B8C7"/>
                </a:solidFill>
                <a:latin typeface="Malgun Gothic"/>
                <a:ea typeface="Malgun Gothic"/>
                <a:cs typeface="Malgun Gothic"/>
              </a:rPr>
              <a:t>최종 발표</a:t>
            </a:r>
          </a:p>
        </p:txBody>
      </p:sp>
    </p:spTree>
    <p:extLst>
      <p:ext uri="{BB962C8B-B14F-4D97-AF65-F5344CB8AC3E}">
        <p14:creationId xmlns:p14="http://schemas.microsoft.com/office/powerpoint/2010/main" val="758296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E941D8DC-40A0-4981-B282-8E1DE562BA96}"/>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D90894-0A45-428B-A383-F0866D4039F3}"/>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프로젝트 개요</a:t>
            </a:r>
          </a:p>
        </p:txBody>
      </p:sp>
      <p:sp>
        <p:nvSpPr>
          <p:cNvPr id="3" name="">
            <a:extLst xmlns:a="http://schemas.openxmlformats.org/drawingml/2006/main">
              <a:ext uri="{FF2B5EF4-FFF2-40B4-BE49-F238E27FC236}">
                <a16:creationId xmlns:a16="http://schemas.microsoft.com/office/drawing/2014/main" id="{95FCDA5B-85F5-456C-8A18-DF3E0A01C994}"/>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B8A56D-5CAE-43F3-AC01-4AABDED77DF4}"/>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02</a:t>
            </a:r>
          </a:p>
        </p:txBody>
      </p:sp>
      <p:sp>
        <p:nvSpPr>
          <p:cNvPr id="5" name="">
            <a:extLst xmlns:a="http://schemas.openxmlformats.org/drawingml/2006/main">
              <a:ext uri="{FF2B5EF4-FFF2-40B4-BE49-F238E27FC236}">
                <a16:creationId xmlns:a16="http://schemas.microsoft.com/office/drawing/2014/main" id="{6873E84A-5E4A-4059-A00C-DB4AAB1DEA2E}"/>
              </a:ext>
            </a:extLst>
          </p:cNvPr>
          <p:cNvSpPr>
            <a:spLocks xmlns:a="http://schemas.openxmlformats.org/drawingml/2006/main" noGrp="1"/>
          </p:cNvSpPr>
          <p:nvPr/>
        </p:nvSpPr>
        <p:spPr>
          <a:xfrm xmlns:a="http://schemas.openxmlformats.org/drawingml/2006/main">
            <a:off x="571500" y="123825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769E0"/>
                </a:solidFill>
                <a:latin typeface="Malgun Gothic"/>
                <a:ea typeface="Malgun Gothic"/>
                <a:cs typeface="Malgun Gothic"/>
              </a:defRPr>
            </a:pPr>
            <a:r>
              <a:rPr sz="1800" b="1">
                <a:solidFill>
                  <a:srgbClr val="1769E0"/>
                </a:solidFill>
                <a:latin typeface="Malgun Gothic"/>
                <a:ea typeface="Malgun Gothic"/>
                <a:cs typeface="Malgun Gothic"/>
              </a:rPr>
              <a:t>메일함에서 놓치기 쉬운 요청을 Task Lifecycle로 관리</a:t>
            </a:r>
          </a:p>
        </p:txBody>
      </p:sp>
      <p:sp>
        <p:nvSpPr>
          <p:cNvPr id="6" name="">
            <a:extLst xmlns:a="http://schemas.openxmlformats.org/drawingml/2006/main">
              <a:ext uri="{FF2B5EF4-FFF2-40B4-BE49-F238E27FC236}">
                <a16:creationId xmlns:a16="http://schemas.microsoft.com/office/drawing/2014/main" id="{BFC59ED0-B4EC-40D9-B51B-F0086C2C42E4}"/>
              </a:ext>
            </a:extLst>
          </p:cNvPr>
          <p:cNvSpPr>
            <a:spLocks xmlns:a="http://schemas.openxmlformats.org/drawingml/2006/main" noGrp="1"/>
          </p:cNvSpPr>
          <p:nvPr/>
        </p:nvSpPr>
        <p:spPr>
          <a:xfrm xmlns:a="http://schemas.openxmlformats.org/drawingml/2006/main">
            <a:off x="571500" y="16002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57187"/>
                </a:solidFill>
                <a:latin typeface="Malgun Gothic"/>
                <a:ea typeface="Malgun Gothic"/>
                <a:cs typeface="Malgun Gothic"/>
              </a:defRPr>
            </a:pPr>
            <a:r>
              <a:rPr sz="1350" b="0">
                <a:solidFill>
                  <a:srgbClr val="657187"/>
                </a:solidFill>
                <a:latin typeface="Malgun Gothic"/>
                <a:ea typeface="Malgun Gothic"/>
                <a:cs typeface="Malgun Gothic"/>
              </a:rPr>
              <a:t>수작업 전환 누락과 후속 메일 추적 부담을 줄이고, 위험한 변경은 사용자 승인 뒤 반영합니다.</a:t>
            </a:r>
          </a:p>
        </p:txBody>
      </p:sp>
      <p:sp>
        <p:nvSpPr>
          <p:cNvPr id="7" name="">
            <a:extLst xmlns:a="http://schemas.openxmlformats.org/drawingml/2006/main">
              <a:ext uri="{FF2B5EF4-FFF2-40B4-BE49-F238E27FC236}">
                <a16:creationId xmlns:a16="http://schemas.microsoft.com/office/drawing/2014/main" id="{8A04A5FB-FF59-4E2B-912E-DAB3753AEB5C}"/>
              </a:ext>
            </a:extLst>
          </p:cNvPr>
          <p:cNvSpPr>
            <a:spLocks xmlns:a="http://schemas.openxmlformats.org/drawingml/2006/main" noGrp="1"/>
          </p:cNvSpPr>
          <p:nvPr/>
        </p:nvSpPr>
        <p:spPr>
          <a:xfrm xmlns:a="http://schemas.openxmlformats.org/drawingml/2006/main">
            <a:off x="571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8" name="">
            <a:extLst xmlns:a="http://schemas.openxmlformats.org/drawingml/2006/main">
              <a:ext uri="{FF2B5EF4-FFF2-40B4-BE49-F238E27FC236}">
                <a16:creationId xmlns:a16="http://schemas.microsoft.com/office/drawing/2014/main" id="{3555ADCD-821B-4D22-889B-0A0DBB983456}"/>
              </a:ext>
            </a:extLst>
          </p:cNvPr>
          <p:cNvSpPr>
            <a:spLocks xmlns:a="http://schemas.openxmlformats.org/drawingml/2006/main" noGrp="1"/>
          </p:cNvSpPr>
          <p:nvPr/>
        </p:nvSpPr>
        <p:spPr>
          <a:xfrm xmlns:a="http://schemas.openxmlformats.org/drawingml/2006/main">
            <a:off x="571500" y="2381250"/>
            <a:ext cx="76200" cy="1104900"/>
          </a:xfrm>
          <a:prstGeom xmlns:a="http://schemas.openxmlformats.org/drawingml/2006/main" prst="roundRect">
            <a:avLst>
              <a:gd name="adj" fmla="val 50000"/>
            </a:avLst>
          </a:prstGeom>
          <a:solidFill xmlns:a="http://schemas.openxmlformats.org/drawingml/2006/main">
            <a:srgbClr val="1769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433A924-AB58-4F2B-B491-D1DDE8DF62DE}"/>
              </a:ext>
            </a:extLst>
          </p:cNvPr>
          <p:cNvSpPr>
            <a:spLocks xmlns:a="http://schemas.openxmlformats.org/drawingml/2006/main" noGrp="1"/>
          </p:cNvSpPr>
          <p:nvPr/>
        </p:nvSpPr>
        <p:spPr>
          <a:xfrm xmlns:a="http://schemas.openxmlformats.org/drawingml/2006/main">
            <a:off x="762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메일 관찰</a:t>
            </a:r>
          </a:p>
        </p:txBody>
      </p:sp>
      <p:sp>
        <p:nvSpPr>
          <p:cNvPr id="10" name="">
            <a:extLst xmlns:a="http://schemas.openxmlformats.org/drawingml/2006/main">
              <a:ext uri="{FF2B5EF4-FFF2-40B4-BE49-F238E27FC236}">
                <a16:creationId xmlns:a16="http://schemas.microsoft.com/office/drawing/2014/main" id="{6F3A3A2D-E898-4676-B634-41C65C22FA3C}"/>
              </a:ext>
            </a:extLst>
          </p:cNvPr>
          <p:cNvSpPr>
            <a:spLocks xmlns:a="http://schemas.openxmlformats.org/drawingml/2006/main" noGrp="1"/>
          </p:cNvSpPr>
          <p:nvPr/>
        </p:nvSpPr>
        <p:spPr>
          <a:xfrm xmlns:a="http://schemas.openxmlformats.org/drawingml/2006/main">
            <a:off x="762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Gmail 수신·발신</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Thread와 참여자</a:t>
            </a:r>
          </a:p>
        </p:txBody>
      </p:sp>
      <p:sp>
        <p:nvSpPr>
          <p:cNvPr id="11" name="">
            <a:extLst xmlns:a="http://schemas.openxmlformats.org/drawingml/2006/main">
              <a:ext uri="{FF2B5EF4-FFF2-40B4-BE49-F238E27FC236}">
                <a16:creationId xmlns:a16="http://schemas.microsoft.com/office/drawing/2014/main" id="{892B0EB4-5295-45F3-BB97-1DD1F4D0A1E6}"/>
              </a:ext>
            </a:extLst>
          </p:cNvPr>
          <p:cNvSpPr>
            <a:spLocks xmlns:a="http://schemas.openxmlformats.org/drawingml/2006/main" noGrp="1"/>
          </p:cNvSpPr>
          <p:nvPr/>
        </p:nvSpPr>
        <p:spPr>
          <a:xfrm xmlns:a="http://schemas.openxmlformats.org/drawingml/2006/main">
            <a:off x="2457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5036938-6D55-4897-9F2D-772DE4B94082}"/>
              </a:ext>
            </a:extLst>
          </p:cNvPr>
          <p:cNvSpPr>
            <a:spLocks xmlns:a="http://schemas.openxmlformats.org/drawingml/2006/main" noGrp="1"/>
          </p:cNvSpPr>
          <p:nvPr/>
        </p:nvSpPr>
        <p:spPr>
          <a:xfrm xmlns:a="http://schemas.openxmlformats.org/drawingml/2006/main">
            <a:off x="2857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13" name="">
            <a:extLst xmlns:a="http://schemas.openxmlformats.org/drawingml/2006/main">
              <a:ext uri="{FF2B5EF4-FFF2-40B4-BE49-F238E27FC236}">
                <a16:creationId xmlns:a16="http://schemas.microsoft.com/office/drawing/2014/main" id="{9DAF66EF-3E9E-486A-A9F4-F5C9FE75C6A4}"/>
              </a:ext>
            </a:extLst>
          </p:cNvPr>
          <p:cNvSpPr>
            <a:spLocks xmlns:a="http://schemas.openxmlformats.org/drawingml/2006/main" noGrp="1"/>
          </p:cNvSpPr>
          <p:nvPr/>
        </p:nvSpPr>
        <p:spPr>
          <a:xfrm xmlns:a="http://schemas.openxmlformats.org/drawingml/2006/main">
            <a:off x="2857500" y="2381250"/>
            <a:ext cx="76200" cy="1104900"/>
          </a:xfrm>
          <a:prstGeom xmlns:a="http://schemas.openxmlformats.org/drawingml/2006/main" prst="roundRect">
            <a:avLst>
              <a:gd name="adj" fmla="val 50000"/>
            </a:avLst>
          </a:prstGeom>
          <a:solidFill xmlns:a="http://schemas.openxmlformats.org/drawingml/2006/main">
            <a:srgbClr val="20B8C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E780A29-E98C-4D11-A06D-0D0B4D02B1B7}"/>
              </a:ext>
            </a:extLst>
          </p:cNvPr>
          <p:cNvSpPr>
            <a:spLocks xmlns:a="http://schemas.openxmlformats.org/drawingml/2006/main" noGrp="1"/>
          </p:cNvSpPr>
          <p:nvPr/>
        </p:nvSpPr>
        <p:spPr>
          <a:xfrm xmlns:a="http://schemas.openxmlformats.org/drawingml/2006/main">
            <a:off x="3048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의미 분석</a:t>
            </a:r>
          </a:p>
        </p:txBody>
      </p:sp>
      <p:sp>
        <p:nvSpPr>
          <p:cNvPr id="15" name="">
            <a:extLst xmlns:a="http://schemas.openxmlformats.org/drawingml/2006/main">
              <a:ext uri="{FF2B5EF4-FFF2-40B4-BE49-F238E27FC236}">
                <a16:creationId xmlns:a16="http://schemas.microsoft.com/office/drawing/2014/main" id="{01451FCB-2209-4AE6-B753-AAA2604050CE}"/>
              </a:ext>
            </a:extLst>
          </p:cNvPr>
          <p:cNvSpPr>
            <a:spLocks xmlns:a="http://schemas.openxmlformats.org/drawingml/2006/main" noGrp="1"/>
          </p:cNvSpPr>
          <p:nvPr/>
        </p:nvSpPr>
        <p:spPr>
          <a:xfrm xmlns:a="http://schemas.openxmlformats.org/drawingml/2006/main">
            <a:off x="3048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요청·기한·Intent</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회사 LLM 구조화</a:t>
            </a:r>
          </a:p>
        </p:txBody>
      </p:sp>
      <p:sp>
        <p:nvSpPr>
          <p:cNvPr id="16" name="">
            <a:extLst xmlns:a="http://schemas.openxmlformats.org/drawingml/2006/main">
              <a:ext uri="{FF2B5EF4-FFF2-40B4-BE49-F238E27FC236}">
                <a16:creationId xmlns:a16="http://schemas.microsoft.com/office/drawing/2014/main" id="{C8C04537-8FED-4178-9D38-EC0960D728CE}"/>
              </a:ext>
            </a:extLst>
          </p:cNvPr>
          <p:cNvSpPr>
            <a:spLocks xmlns:a="http://schemas.openxmlformats.org/drawingml/2006/main" noGrp="1"/>
          </p:cNvSpPr>
          <p:nvPr/>
        </p:nvSpPr>
        <p:spPr>
          <a:xfrm xmlns:a="http://schemas.openxmlformats.org/drawingml/2006/main">
            <a:off x="4743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0843AEC-9D76-4123-8804-2FF92FBDD950}"/>
              </a:ext>
            </a:extLst>
          </p:cNvPr>
          <p:cNvSpPr>
            <a:spLocks xmlns:a="http://schemas.openxmlformats.org/drawingml/2006/main" noGrp="1"/>
          </p:cNvSpPr>
          <p:nvPr/>
        </p:nvSpPr>
        <p:spPr>
          <a:xfrm xmlns:a="http://schemas.openxmlformats.org/drawingml/2006/main">
            <a:off x="5143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18" name="">
            <a:extLst xmlns:a="http://schemas.openxmlformats.org/drawingml/2006/main">
              <a:ext uri="{FF2B5EF4-FFF2-40B4-BE49-F238E27FC236}">
                <a16:creationId xmlns:a16="http://schemas.microsoft.com/office/drawing/2014/main" id="{3A614382-B0D6-451C-8968-C7E1CE4690BB}"/>
              </a:ext>
            </a:extLst>
          </p:cNvPr>
          <p:cNvSpPr>
            <a:spLocks xmlns:a="http://schemas.openxmlformats.org/drawingml/2006/main" noGrp="1"/>
          </p:cNvSpPr>
          <p:nvPr/>
        </p:nvSpPr>
        <p:spPr>
          <a:xfrm xmlns:a="http://schemas.openxmlformats.org/drawingml/2006/main">
            <a:off x="5143500" y="2381250"/>
            <a:ext cx="76200" cy="1104900"/>
          </a:xfrm>
          <a:prstGeom xmlns:a="http://schemas.openxmlformats.org/drawingml/2006/main" prst="roundRect">
            <a:avLst>
              <a:gd name="adj" fmla="val 50000"/>
            </a:avLst>
          </a:prstGeom>
          <a:solidFill xmlns:a="http://schemas.openxmlformats.org/drawingml/2006/main">
            <a:srgbClr val="7657D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04BF935-ED05-4F37-AF15-B33FBDCAF8E8}"/>
              </a:ext>
            </a:extLst>
          </p:cNvPr>
          <p:cNvSpPr>
            <a:spLocks xmlns:a="http://schemas.openxmlformats.org/drawingml/2006/main" noGrp="1"/>
          </p:cNvSpPr>
          <p:nvPr/>
        </p:nvSpPr>
        <p:spPr>
          <a:xfrm xmlns:a="http://schemas.openxmlformats.org/drawingml/2006/main">
            <a:off x="5334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관계 판단</a:t>
            </a:r>
          </a:p>
        </p:txBody>
      </p:sp>
      <p:sp>
        <p:nvSpPr>
          <p:cNvPr id="20" name="">
            <a:extLst xmlns:a="http://schemas.openxmlformats.org/drawingml/2006/main">
              <a:ext uri="{FF2B5EF4-FFF2-40B4-BE49-F238E27FC236}">
                <a16:creationId xmlns:a16="http://schemas.microsoft.com/office/drawing/2014/main" id="{8294126B-CC8C-43C0-97E4-98411E44B8AE}"/>
              </a:ext>
            </a:extLst>
          </p:cNvPr>
          <p:cNvSpPr>
            <a:spLocks xmlns:a="http://schemas.openxmlformats.org/drawingml/2006/main" noGrp="1"/>
          </p:cNvSpPr>
          <p:nvPr/>
        </p:nvSpPr>
        <p:spPr>
          <a:xfrm xmlns:a="http://schemas.openxmlformats.org/drawingml/2006/main">
            <a:off x="5334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Task Context RAG</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Action Proposal</a:t>
            </a:r>
          </a:p>
        </p:txBody>
      </p:sp>
      <p:sp>
        <p:nvSpPr>
          <p:cNvPr id="21" name="">
            <a:extLst xmlns:a="http://schemas.openxmlformats.org/drawingml/2006/main">
              <a:ext uri="{FF2B5EF4-FFF2-40B4-BE49-F238E27FC236}">
                <a16:creationId xmlns:a16="http://schemas.microsoft.com/office/drawing/2014/main" id="{66D2477A-415E-4341-B2EA-23BD601725BF}"/>
              </a:ext>
            </a:extLst>
          </p:cNvPr>
          <p:cNvSpPr>
            <a:spLocks xmlns:a="http://schemas.openxmlformats.org/drawingml/2006/main" noGrp="1"/>
          </p:cNvSpPr>
          <p:nvPr/>
        </p:nvSpPr>
        <p:spPr>
          <a:xfrm xmlns:a="http://schemas.openxmlformats.org/drawingml/2006/main">
            <a:off x="7029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DF76830-6CE4-4550-8644-900C37A8F049}"/>
              </a:ext>
            </a:extLst>
          </p:cNvPr>
          <p:cNvSpPr>
            <a:spLocks xmlns:a="http://schemas.openxmlformats.org/drawingml/2006/main" noGrp="1"/>
          </p:cNvSpPr>
          <p:nvPr/>
        </p:nvSpPr>
        <p:spPr>
          <a:xfrm xmlns:a="http://schemas.openxmlformats.org/drawingml/2006/main">
            <a:off x="7429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23" name="">
            <a:extLst xmlns:a="http://schemas.openxmlformats.org/drawingml/2006/main">
              <a:ext uri="{FF2B5EF4-FFF2-40B4-BE49-F238E27FC236}">
                <a16:creationId xmlns:a16="http://schemas.microsoft.com/office/drawing/2014/main" id="{0157D25A-4CDC-4795-85EB-960AB0B6ABE1}"/>
              </a:ext>
            </a:extLst>
          </p:cNvPr>
          <p:cNvSpPr>
            <a:spLocks xmlns:a="http://schemas.openxmlformats.org/drawingml/2006/main" noGrp="1"/>
          </p:cNvSpPr>
          <p:nvPr/>
        </p:nvSpPr>
        <p:spPr>
          <a:xfrm xmlns:a="http://schemas.openxmlformats.org/drawingml/2006/main">
            <a:off x="7429500" y="2381250"/>
            <a:ext cx="76200" cy="1104900"/>
          </a:xfrm>
          <a:prstGeom xmlns:a="http://schemas.openxmlformats.org/drawingml/2006/main" prst="roundRect">
            <a:avLst>
              <a:gd name="adj" fmla="val 50000"/>
            </a:avLst>
          </a:prstGeom>
          <a:solidFill xmlns:a="http://schemas.openxmlformats.org/drawingml/2006/main">
            <a:srgbClr val="C77B0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A7A1E39-4DA3-4884-AED1-62C06C6709A1}"/>
              </a:ext>
            </a:extLst>
          </p:cNvPr>
          <p:cNvSpPr>
            <a:spLocks xmlns:a="http://schemas.openxmlformats.org/drawingml/2006/main" noGrp="1"/>
          </p:cNvSpPr>
          <p:nvPr/>
        </p:nvSpPr>
        <p:spPr>
          <a:xfrm xmlns:a="http://schemas.openxmlformats.org/drawingml/2006/main">
            <a:off x="7620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안전 실행</a:t>
            </a:r>
          </a:p>
        </p:txBody>
      </p:sp>
      <p:sp>
        <p:nvSpPr>
          <p:cNvPr id="25" name="">
            <a:extLst xmlns:a="http://schemas.openxmlformats.org/drawingml/2006/main">
              <a:ext uri="{FF2B5EF4-FFF2-40B4-BE49-F238E27FC236}">
                <a16:creationId xmlns:a16="http://schemas.microsoft.com/office/drawing/2014/main" id="{32EE6C95-B2B8-4F8B-89B4-949594E3A1F8}"/>
              </a:ext>
            </a:extLst>
          </p:cNvPr>
          <p:cNvSpPr>
            <a:spLocks xmlns:a="http://schemas.openxmlformats.org/drawingml/2006/main" noGrp="1"/>
          </p:cNvSpPr>
          <p:nvPr/>
        </p:nvSpPr>
        <p:spPr>
          <a:xfrm xmlns:a="http://schemas.openxmlformats.org/drawingml/2006/main">
            <a:off x="7620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Python Guard</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필요 시 회신·승인</a:t>
            </a:r>
          </a:p>
        </p:txBody>
      </p:sp>
      <p:sp>
        <p:nvSpPr>
          <p:cNvPr id="26" name="">
            <a:extLst xmlns:a="http://schemas.openxmlformats.org/drawingml/2006/main">
              <a:ext uri="{FF2B5EF4-FFF2-40B4-BE49-F238E27FC236}">
                <a16:creationId xmlns:a16="http://schemas.microsoft.com/office/drawing/2014/main" id="{D081F26B-9F8D-4D0B-A65D-0495E7977EEA}"/>
              </a:ext>
            </a:extLst>
          </p:cNvPr>
          <p:cNvSpPr>
            <a:spLocks xmlns:a="http://schemas.openxmlformats.org/drawingml/2006/main" noGrp="1"/>
          </p:cNvSpPr>
          <p:nvPr/>
        </p:nvSpPr>
        <p:spPr>
          <a:xfrm xmlns:a="http://schemas.openxmlformats.org/drawingml/2006/main">
            <a:off x="9315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2B10813-67BE-4FEB-838C-5BA58FDD6BEE}"/>
              </a:ext>
            </a:extLst>
          </p:cNvPr>
          <p:cNvSpPr>
            <a:spLocks xmlns:a="http://schemas.openxmlformats.org/drawingml/2006/main" noGrp="1"/>
          </p:cNvSpPr>
          <p:nvPr/>
        </p:nvSpPr>
        <p:spPr>
          <a:xfrm xmlns:a="http://schemas.openxmlformats.org/drawingml/2006/main">
            <a:off x="9715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28" name="">
            <a:extLst xmlns:a="http://schemas.openxmlformats.org/drawingml/2006/main">
              <a:ext uri="{FF2B5EF4-FFF2-40B4-BE49-F238E27FC236}">
                <a16:creationId xmlns:a16="http://schemas.microsoft.com/office/drawing/2014/main" id="{0B54B213-4D17-4345-9E68-5A55CB0C1485}"/>
              </a:ext>
            </a:extLst>
          </p:cNvPr>
          <p:cNvSpPr>
            <a:spLocks xmlns:a="http://schemas.openxmlformats.org/drawingml/2006/main" noGrp="1"/>
          </p:cNvSpPr>
          <p:nvPr/>
        </p:nvSpPr>
        <p:spPr>
          <a:xfrm xmlns:a="http://schemas.openxmlformats.org/drawingml/2006/main">
            <a:off x="9715500" y="2381250"/>
            <a:ext cx="76200" cy="1104900"/>
          </a:xfrm>
          <a:prstGeom xmlns:a="http://schemas.openxmlformats.org/drawingml/2006/main" prst="roundRect">
            <a:avLst>
              <a:gd name="adj" fmla="val 50000"/>
            </a:avLst>
          </a:prstGeom>
          <a:solidFill xmlns:a="http://schemas.openxmlformats.org/drawingml/2006/main">
            <a:srgbClr val="138A6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27514A0-6487-44DC-B756-F978B72AFE95}"/>
              </a:ext>
            </a:extLst>
          </p:cNvPr>
          <p:cNvSpPr>
            <a:spLocks xmlns:a="http://schemas.openxmlformats.org/drawingml/2006/main" noGrp="1"/>
          </p:cNvSpPr>
          <p:nvPr/>
        </p:nvSpPr>
        <p:spPr>
          <a:xfrm xmlns:a="http://schemas.openxmlformats.org/drawingml/2006/main">
            <a:off x="9906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결과 기억</a:t>
            </a:r>
          </a:p>
        </p:txBody>
      </p:sp>
      <p:sp>
        <p:nvSpPr>
          <p:cNvPr id="30" name="">
            <a:extLst xmlns:a="http://schemas.openxmlformats.org/drawingml/2006/main">
              <a:ext uri="{FF2B5EF4-FFF2-40B4-BE49-F238E27FC236}">
                <a16:creationId xmlns:a16="http://schemas.microsoft.com/office/drawing/2014/main" id="{D599471F-0591-4394-960C-4D08B490B044}"/>
              </a:ext>
            </a:extLst>
          </p:cNvPr>
          <p:cNvSpPr>
            <a:spLocks xmlns:a="http://schemas.openxmlformats.org/drawingml/2006/main" noGrp="1"/>
          </p:cNvSpPr>
          <p:nvPr/>
        </p:nvSpPr>
        <p:spPr>
          <a:xfrm xmlns:a="http://schemas.openxmlformats.org/drawingml/2006/main">
            <a:off x="9906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Gmail 발송·후속 Mail</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Task·History·Trace</a:t>
            </a:r>
          </a:p>
        </p:txBody>
      </p:sp>
      <p:sp>
        <p:nvSpPr>
          <p:cNvPr id="31" name="">
            <a:extLst xmlns:a="http://schemas.openxmlformats.org/drawingml/2006/main">
              <a:ext uri="{FF2B5EF4-FFF2-40B4-BE49-F238E27FC236}">
                <a16:creationId xmlns:a16="http://schemas.microsoft.com/office/drawing/2014/main" id="{3DC44231-6459-49BF-8107-57111B99F34F}"/>
              </a:ext>
            </a:extLst>
          </p:cNvPr>
          <p:cNvSpPr>
            <a:spLocks xmlns:a="http://schemas.openxmlformats.org/drawingml/2006/main" noGrp="1"/>
          </p:cNvSpPr>
          <p:nvPr/>
        </p:nvSpPr>
        <p:spPr>
          <a:xfrm xmlns:a="http://schemas.openxmlformats.org/drawingml/2006/main">
            <a:off x="571500" y="385762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핵심 기술</a:t>
            </a:r>
          </a:p>
        </p:txBody>
      </p:sp>
      <p:sp>
        <p:nvSpPr>
          <p:cNvPr id="32" name="">
            <a:extLst xmlns:a="http://schemas.openxmlformats.org/drawingml/2006/main">
              <a:ext uri="{FF2B5EF4-FFF2-40B4-BE49-F238E27FC236}">
                <a16:creationId xmlns:a16="http://schemas.microsoft.com/office/drawing/2014/main" id="{8A8D8D47-CAED-40F9-B326-BA9B71BA6F43}"/>
              </a:ext>
            </a:extLst>
          </p:cNvPr>
          <p:cNvSpPr>
            <a:spLocks xmlns:a="http://schemas.openxmlformats.org/drawingml/2006/main" noGrp="1"/>
          </p:cNvSpPr>
          <p:nvPr/>
        </p:nvSpPr>
        <p:spPr>
          <a:xfrm xmlns:a="http://schemas.openxmlformats.org/drawingml/2006/main">
            <a:off x="1952625" y="3857625"/>
            <a:ext cx="928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657187"/>
                </a:solidFill>
                <a:latin typeface="Malgun Gothic"/>
                <a:ea typeface="Malgun Gothic"/>
                <a:cs typeface="Malgun Gothic"/>
              </a:defRPr>
            </a:pPr>
            <a:r>
              <a:rPr sz="1200" b="1">
                <a:solidFill>
                  <a:srgbClr val="657187"/>
                </a:solidFill>
                <a:latin typeface="Malgun Gothic"/>
                <a:ea typeface="Malgun Gothic"/>
                <a:cs typeface="Malgun Gothic"/>
              </a:rPr>
              <a:t>회사 gpt-4.1-mini  ·  Python + Pydantic  ·  SQLite Task Context  ·  Gmail API  ·  Streamlit</a:t>
            </a:r>
          </a:p>
        </p:txBody>
      </p:sp>
      <p:sp>
        <p:nvSpPr>
          <p:cNvPr id="33" name="">
            <a:extLst xmlns:a="http://schemas.openxmlformats.org/drawingml/2006/main">
              <a:ext uri="{FF2B5EF4-FFF2-40B4-BE49-F238E27FC236}">
                <a16:creationId xmlns:a16="http://schemas.microsoft.com/office/drawing/2014/main" id="{F5331C77-283B-49AD-843C-CC366D3C030A}"/>
              </a:ext>
            </a:extLst>
          </p:cNvPr>
          <p:cNvSpPr>
            <a:spLocks xmlns:a="http://schemas.openxmlformats.org/drawingml/2006/main" noGrp="1"/>
          </p:cNvSpPr>
          <p:nvPr/>
        </p:nvSpPr>
        <p:spPr>
          <a:xfrm xmlns:a="http://schemas.openxmlformats.org/drawingml/2006/main">
            <a:off x="571500" y="42386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0243E"/>
                </a:solidFill>
                <a:latin typeface="Malgun Gothic"/>
                <a:ea typeface="Malgun Gothic"/>
                <a:cs typeface="Malgun Gothic"/>
              </a:defRPr>
            </a:pPr>
            <a:r>
              <a:rPr sz="1575" b="1">
                <a:solidFill>
                  <a:srgbClr val="10243E"/>
                </a:solidFill>
                <a:latin typeface="Malgun Gothic"/>
                <a:ea typeface="Malgun Gothic"/>
                <a:cs typeface="Malgun Gothic"/>
              </a:rPr>
              <a:t>검증 결과</a:t>
            </a:r>
          </a:p>
        </p:txBody>
      </p:sp>
      <p:sp>
        <p:nvSpPr>
          <p:cNvPr id="34" name="">
            <a:extLst xmlns:a="http://schemas.openxmlformats.org/drawingml/2006/main">
              <a:ext uri="{FF2B5EF4-FFF2-40B4-BE49-F238E27FC236}">
                <a16:creationId xmlns:a16="http://schemas.microsoft.com/office/drawing/2014/main" id="{67E40FA8-DD30-40B5-8492-6F4D3C2C8046}"/>
              </a:ext>
            </a:extLst>
          </p:cNvPr>
          <p:cNvSpPr>
            <a:spLocks xmlns:a="http://schemas.openxmlformats.org/drawingml/2006/main" noGrp="1"/>
          </p:cNvSpPr>
          <p:nvPr/>
        </p:nvSpPr>
        <p:spPr>
          <a:xfrm xmlns:a="http://schemas.openxmlformats.org/drawingml/2006/main">
            <a:off x="571500" y="45815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769E0"/>
                </a:solidFill>
                <a:latin typeface="Malgun Gothic"/>
                <a:ea typeface="Malgun Gothic"/>
                <a:cs typeface="Malgun Gothic"/>
              </a:defRPr>
            </a:pPr>
            <a:r>
              <a:rPr sz="2400" b="1">
                <a:solidFill>
                  <a:srgbClr val="1769E0"/>
                </a:solidFill>
                <a:latin typeface="Malgun Gothic"/>
                <a:ea typeface="Malgun Gothic"/>
                <a:cs typeface="Malgun Gothic"/>
              </a:rPr>
              <a:t>28/28</a:t>
            </a:r>
          </a:p>
        </p:txBody>
      </p:sp>
      <p:sp>
        <p:nvSpPr>
          <p:cNvPr id="35" name="">
            <a:extLst xmlns:a="http://schemas.openxmlformats.org/drawingml/2006/main">
              <a:ext uri="{FF2B5EF4-FFF2-40B4-BE49-F238E27FC236}">
                <a16:creationId xmlns:a16="http://schemas.microsoft.com/office/drawing/2014/main" id="{3AD87649-628C-421C-8515-C8E95B852656}"/>
              </a:ext>
            </a:extLst>
          </p:cNvPr>
          <p:cNvSpPr>
            <a:spLocks xmlns:a="http://schemas.openxmlformats.org/drawingml/2006/main" noGrp="1"/>
          </p:cNvSpPr>
          <p:nvPr/>
        </p:nvSpPr>
        <p:spPr>
          <a:xfrm xmlns:a="http://schemas.openxmlformats.org/drawingml/2006/main">
            <a:off x="571500" y="498157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Action 단계</a:t>
            </a:r>
          </a:p>
        </p:txBody>
      </p:sp>
      <p:sp>
        <p:nvSpPr>
          <p:cNvPr id="36" name="">
            <a:extLst xmlns:a="http://schemas.openxmlformats.org/drawingml/2006/main">
              <a:ext uri="{FF2B5EF4-FFF2-40B4-BE49-F238E27FC236}">
                <a16:creationId xmlns:a16="http://schemas.microsoft.com/office/drawing/2014/main" id="{61F78CCB-05B8-4C76-81D8-62B92DB844E6}"/>
              </a:ext>
            </a:extLst>
          </p:cNvPr>
          <p:cNvSpPr>
            <a:spLocks xmlns:a="http://schemas.openxmlformats.org/drawingml/2006/main" noGrp="1"/>
          </p:cNvSpPr>
          <p:nvPr/>
        </p:nvSpPr>
        <p:spPr>
          <a:xfrm xmlns:a="http://schemas.openxmlformats.org/drawingml/2006/main">
            <a:off x="3219450" y="45815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769E0"/>
                </a:solidFill>
                <a:latin typeface="Malgun Gothic"/>
                <a:ea typeface="Malgun Gothic"/>
                <a:cs typeface="Malgun Gothic"/>
              </a:defRPr>
            </a:pPr>
            <a:r>
              <a:rPr sz="2400" b="1">
                <a:solidFill>
                  <a:srgbClr val="1769E0"/>
                </a:solidFill>
                <a:latin typeface="Malgun Gothic"/>
                <a:ea typeface="Malgun Gothic"/>
                <a:cs typeface="Malgun Gothic"/>
              </a:rPr>
              <a:t>3/3</a:t>
            </a:r>
          </a:p>
        </p:txBody>
      </p:sp>
      <p:sp>
        <p:nvSpPr>
          <p:cNvPr id="37" name="">
            <a:extLst xmlns:a="http://schemas.openxmlformats.org/drawingml/2006/main">
              <a:ext uri="{FF2B5EF4-FFF2-40B4-BE49-F238E27FC236}">
                <a16:creationId xmlns:a16="http://schemas.microsoft.com/office/drawing/2014/main" id="{14C64416-18EC-47D2-BB8F-44A63DE966A7}"/>
              </a:ext>
            </a:extLst>
          </p:cNvPr>
          <p:cNvSpPr>
            <a:spLocks xmlns:a="http://schemas.openxmlformats.org/drawingml/2006/main" noGrp="1"/>
          </p:cNvSpPr>
          <p:nvPr/>
        </p:nvSpPr>
        <p:spPr>
          <a:xfrm xmlns:a="http://schemas.openxmlformats.org/drawingml/2006/main">
            <a:off x="3219450" y="498157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Agent Context Live</a:t>
            </a:r>
          </a:p>
        </p:txBody>
      </p:sp>
      <p:sp>
        <p:nvSpPr>
          <p:cNvPr id="38" name="">
            <a:extLst xmlns:a="http://schemas.openxmlformats.org/drawingml/2006/main">
              <a:ext uri="{FF2B5EF4-FFF2-40B4-BE49-F238E27FC236}">
                <a16:creationId xmlns:a16="http://schemas.microsoft.com/office/drawing/2014/main" id="{5CBB88F1-9079-457F-961B-CE69E42B9D08}"/>
              </a:ext>
            </a:extLst>
          </p:cNvPr>
          <p:cNvSpPr>
            <a:spLocks xmlns:a="http://schemas.openxmlformats.org/drawingml/2006/main" noGrp="1"/>
          </p:cNvSpPr>
          <p:nvPr/>
        </p:nvSpPr>
        <p:spPr>
          <a:xfrm xmlns:a="http://schemas.openxmlformats.org/drawingml/2006/main">
            <a:off x="5867400" y="45815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38A62"/>
                </a:solidFill>
                <a:latin typeface="Malgun Gothic"/>
                <a:ea typeface="Malgun Gothic"/>
                <a:cs typeface="Malgun Gothic"/>
              </a:defRPr>
            </a:pPr>
            <a:r>
              <a:rPr sz="2400" b="1">
                <a:solidFill>
                  <a:srgbClr val="138A62"/>
                </a:solidFill>
                <a:latin typeface="Malgun Gothic"/>
                <a:ea typeface="Malgun Gothic"/>
                <a:cs typeface="Malgun Gothic"/>
              </a:rPr>
              <a:t>20/20</a:t>
            </a:r>
          </a:p>
        </p:txBody>
      </p:sp>
      <p:sp>
        <p:nvSpPr>
          <p:cNvPr id="39" name="">
            <a:extLst xmlns:a="http://schemas.openxmlformats.org/drawingml/2006/main">
              <a:ext uri="{FF2B5EF4-FFF2-40B4-BE49-F238E27FC236}">
                <a16:creationId xmlns:a16="http://schemas.microsoft.com/office/drawing/2014/main" id="{B1CF45AA-D479-44FF-AEA2-BE15C9AFD441}"/>
              </a:ext>
            </a:extLst>
          </p:cNvPr>
          <p:cNvSpPr>
            <a:spLocks xmlns:a="http://schemas.openxmlformats.org/drawingml/2006/main" noGrp="1"/>
          </p:cNvSpPr>
          <p:nvPr/>
        </p:nvSpPr>
        <p:spPr>
          <a:xfrm xmlns:a="http://schemas.openxmlformats.org/drawingml/2006/main">
            <a:off x="5867400" y="498157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Gmail 수용시험</a:t>
            </a:r>
          </a:p>
        </p:txBody>
      </p:sp>
      <p:sp>
        <p:nvSpPr>
          <p:cNvPr id="40" name="">
            <a:extLst xmlns:a="http://schemas.openxmlformats.org/drawingml/2006/main">
              <a:ext uri="{FF2B5EF4-FFF2-40B4-BE49-F238E27FC236}">
                <a16:creationId xmlns:a16="http://schemas.microsoft.com/office/drawing/2014/main" id="{88A756E4-EE82-4E9B-BEDA-911A47D4C019}"/>
              </a:ext>
            </a:extLst>
          </p:cNvPr>
          <p:cNvSpPr>
            <a:spLocks xmlns:a="http://schemas.openxmlformats.org/drawingml/2006/main" noGrp="1"/>
          </p:cNvSpPr>
          <p:nvPr/>
        </p:nvSpPr>
        <p:spPr>
          <a:xfrm xmlns:a="http://schemas.openxmlformats.org/drawingml/2006/main">
            <a:off x="8001000" y="45148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10243E"/>
                </a:solidFill>
                <a:latin typeface="Malgun Gothic"/>
                <a:ea typeface="Malgun Gothic"/>
                <a:cs typeface="Malgun Gothic"/>
              </a:defRPr>
            </a:pPr>
            <a:r>
              <a:rPr sz="975" b="1">
                <a:solidFill>
                  <a:srgbClr val="10243E"/>
                </a:solidFill>
                <a:latin typeface="Malgun Gothic"/>
                <a:ea typeface="Malgun Gothic"/>
                <a:cs typeface="Malgun Gothic"/>
              </a:rPr>
              <a:t>보조 검증  |  pytest 227 passed  ·  중복 재조회 35/35</a:t>
            </a:r>
          </a:p>
        </p:txBody>
      </p:sp>
      <p:sp>
        <p:nvSpPr>
          <p:cNvPr id="41" name="">
            <a:extLst xmlns:a="http://schemas.openxmlformats.org/drawingml/2006/main">
              <a:ext uri="{FF2B5EF4-FFF2-40B4-BE49-F238E27FC236}">
                <a16:creationId xmlns:a16="http://schemas.microsoft.com/office/drawing/2014/main" id="{DF8AF29A-2436-4733-ABC7-06EE281C037F}"/>
              </a:ext>
            </a:extLst>
          </p:cNvPr>
          <p:cNvSpPr>
            <a:spLocks xmlns:a="http://schemas.openxmlformats.org/drawingml/2006/main" noGrp="1"/>
          </p:cNvSpPr>
          <p:nvPr/>
        </p:nvSpPr>
        <p:spPr>
          <a:xfrm xmlns:a="http://schemas.openxmlformats.org/drawingml/2006/main">
            <a:off x="7239000" y="47434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138A62"/>
                </a:solidFill>
                <a:latin typeface="Malgun Gothic"/>
                <a:ea typeface="Malgun Gothic"/>
                <a:cs typeface="Malgun Gothic"/>
              </a:defRPr>
            </a:pPr>
            <a:r>
              <a:rPr sz="975" b="1">
                <a:solidFill>
                  <a:srgbClr val="138A62"/>
                </a:solidFill>
                <a:latin typeface="Malgun Gothic"/>
                <a:ea typeface="Malgun Gothic"/>
                <a:cs typeface="Malgun Gothic"/>
              </a:rPr>
              <a:t>Reply Planning 3/3  ·  Draft 1/1  ·  사용자 승인 실제 Gmail 발송 1건</a:t>
            </a:r>
          </a:p>
        </p:txBody>
      </p:sp>
      <p:sp>
        <p:nvSpPr>
          <p:cNvPr id="42" name="">
            <a:extLst xmlns:a="http://schemas.openxmlformats.org/drawingml/2006/main">
              <a:ext uri="{FF2B5EF4-FFF2-40B4-BE49-F238E27FC236}">
                <a16:creationId xmlns:a16="http://schemas.microsoft.com/office/drawing/2014/main" id="{A84D4777-B7EF-4BBE-9D6E-B99A64B44901}"/>
              </a:ext>
            </a:extLst>
          </p:cNvPr>
          <p:cNvSpPr>
            <a:spLocks xmlns:a="http://schemas.openxmlformats.org/drawingml/2006/main" noGrp="1"/>
          </p:cNvSpPr>
          <p:nvPr/>
        </p:nvSpPr>
        <p:spPr>
          <a:xfrm xmlns:a="http://schemas.openxmlformats.org/drawingml/2006/main">
            <a:off x="571500" y="527685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0243E"/>
                </a:solidFill>
                <a:latin typeface="Malgun Gothic"/>
                <a:ea typeface="Malgun Gothic"/>
                <a:cs typeface="Malgun Gothic"/>
              </a:defRPr>
            </a:pPr>
            <a:r>
              <a:rPr sz="1050" b="1">
                <a:solidFill>
                  <a:srgbClr val="10243E"/>
                </a:solidFill>
                <a:latin typeface="Malgun Gothic"/>
                <a:ea typeface="Malgun Gothic"/>
                <a:cs typeface="Malgun Gothic"/>
              </a:rPr>
              <a:t>자동 반영 비율  |  정의된 합성 15 Case에서 자동 반영 8/15(53.3%)  ·  사용자 확인 7/15(46.7%)</a:t>
            </a:r>
          </a:p>
        </p:txBody>
      </p:sp>
      <p:sp>
        <p:nvSpPr>
          <p:cNvPr id="43" name="">
            <a:extLst xmlns:a="http://schemas.openxmlformats.org/drawingml/2006/main">
              <a:ext uri="{FF2B5EF4-FFF2-40B4-BE49-F238E27FC236}">
                <a16:creationId xmlns:a16="http://schemas.microsoft.com/office/drawing/2014/main" id="{3BF653BE-C8E8-469D-ADF0-536365803AA4}"/>
              </a:ext>
            </a:extLst>
          </p:cNvPr>
          <p:cNvSpPr>
            <a:spLocks xmlns:a="http://schemas.openxmlformats.org/drawingml/2006/main" noGrp="1"/>
          </p:cNvSpPr>
          <p:nvPr/>
        </p:nvSpPr>
        <p:spPr>
          <a:xfrm xmlns:a="http://schemas.openxmlformats.org/drawingml/2006/main">
            <a:off x="571500" y="550545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0834"/>
          </a:bodyPr>
          <a:lstStyle xmlns:a="http://schemas.openxmlformats.org/drawingml/2006/main"/>
          <a:p xmlns:a="http://schemas.openxmlformats.org/drawingml/2006/main">
            <a:pPr algn="l">
              <a:defRPr sz="863" b="0">
                <a:solidFill>
                  <a:srgbClr val="657187"/>
                </a:solidFill>
                <a:latin typeface="Malgun Gothic"/>
                <a:ea typeface="Malgun Gothic"/>
                <a:cs typeface="Malgun Gothic"/>
              </a:defRPr>
            </a:pPr>
            <a:r>
              <a:rPr sz="863" b="0">
                <a:solidFill>
                  <a:srgbClr val="657187"/>
                </a:solidFill>
                <a:latin typeface="Malgun Gothic"/>
                <a:ea typeface="Malgun Gothic"/>
                <a:cs typeface="Malgun Gothic"/>
              </a:rPr>
              <a:t>위 수치는 정의된 Case 범위의 결과이며 실제 Mailbox 전체 성능이 아닙니다. 사용자 체감 시간은 미측정입니다.</a:t>
            </a:r>
          </a:p>
        </p:txBody>
      </p:sp>
      <p:sp>
        <p:nvSpPr>
          <p:cNvPr id="44" name="">
            <a:extLst xmlns:a="http://schemas.openxmlformats.org/drawingml/2006/main">
              <a:ext uri="{FF2B5EF4-FFF2-40B4-BE49-F238E27FC236}">
                <a16:creationId xmlns:a16="http://schemas.microsoft.com/office/drawing/2014/main" id="{467C168E-EE6B-4879-A4C8-3EF065C95507}"/>
              </a:ext>
            </a:extLst>
          </p:cNvPr>
          <p:cNvSpPr>
            <a:spLocks xmlns:a="http://schemas.openxmlformats.org/drawingml/2006/main" noGrp="1"/>
          </p:cNvSpPr>
          <p:nvPr/>
        </p:nvSpPr>
        <p:spPr>
          <a:xfrm xmlns:a="http://schemas.openxmlformats.org/drawingml/2006/main">
            <a:off x="571500" y="5734050"/>
            <a:ext cx="11049000" cy="419100"/>
          </a:xfrm>
          <a:prstGeom xmlns:a="http://schemas.openxmlformats.org/drawingml/2006/main" prst="roundRect">
            <a:avLst>
              <a:gd name="adj" fmla="val 18182"/>
            </a:avLst>
          </a:prstGeom>
          <a:solidFill xmlns:a="http://schemas.openxmlformats.org/drawingml/2006/main">
            <a:srgbClr val="EFF5FD"/>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35800F68-54DA-4835-A9F7-C37C82E55FB1}"/>
              </a:ext>
            </a:extLst>
          </p:cNvPr>
          <p:cNvSpPr>
            <a:spLocks xmlns:a="http://schemas.openxmlformats.org/drawingml/2006/main" noGrp="1"/>
          </p:cNvSpPr>
          <p:nvPr/>
        </p:nvSpPr>
        <p:spPr>
          <a:xfrm xmlns:a="http://schemas.openxmlformats.org/drawingml/2006/main">
            <a:off x="781050" y="58197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핵심 메시지  |  규칙으로 열거할 수 없는 "이 메일이 어느 업무인가"만 Agent가 판단하고, 실행 권한은 Python과 사용자가 가집니다.</a:t>
            </a:r>
          </a:p>
        </p:txBody>
      </p:sp>
    </p:spTree>
    <p:extLst>
      <p:ext uri="{BB962C8B-B14F-4D97-AF65-F5344CB8AC3E}">
        <p14:creationId xmlns:p14="http://schemas.microsoft.com/office/powerpoint/2010/main" val="9817912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315ADF48-A34B-4121-BC29-B37649885602}"/>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665BD8-40F2-4224-868A-4775571FDAC6}"/>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기술 아키텍처와 Agent 판단 구조</a:t>
            </a:r>
          </a:p>
        </p:txBody>
      </p:sp>
      <p:sp>
        <p:nvSpPr>
          <p:cNvPr id="3" name="">
            <a:extLst xmlns:a="http://schemas.openxmlformats.org/drawingml/2006/main">
              <a:ext uri="{FF2B5EF4-FFF2-40B4-BE49-F238E27FC236}">
                <a16:creationId xmlns:a16="http://schemas.microsoft.com/office/drawing/2014/main" id="{68829A86-5B28-4AA1-BA86-8BFB521AA437}"/>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C38C7D-09E6-4AF3-B217-A57CF6C95E9A}"/>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03</a:t>
            </a:r>
          </a:p>
        </p:txBody>
      </p:sp>
      <p:sp>
        <p:nvSpPr>
          <p:cNvPr id="5" name="">
            <a:extLst xmlns:a="http://schemas.openxmlformats.org/drawingml/2006/main">
              <a:ext uri="{FF2B5EF4-FFF2-40B4-BE49-F238E27FC236}">
                <a16:creationId xmlns:a16="http://schemas.microsoft.com/office/drawing/2014/main" id="{4B54EEF6-E842-4BF5-A871-30530F5D7A28}"/>
              </a:ext>
            </a:extLst>
          </p:cNvPr>
          <p:cNvSpPr>
            <a:spLocks xmlns:a="http://schemas.openxmlformats.org/drawingml/2006/main" noGrp="1"/>
          </p:cNvSpPr>
          <p:nvPr/>
        </p:nvSpPr>
        <p:spPr>
          <a:xfrm xmlns:a="http://schemas.openxmlformats.org/drawingml/2006/main">
            <a:off x="571500" y="12001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1769E0"/>
                </a:solidFill>
                <a:latin typeface="Malgun Gothic"/>
                <a:ea typeface="Malgun Gothic"/>
                <a:cs typeface="Malgun Gothic"/>
              </a:defRPr>
            </a:pPr>
            <a:r>
              <a:rPr sz="1425" b="1">
                <a:solidFill>
                  <a:srgbClr val="1769E0"/>
                </a:solidFill>
                <a:latin typeface="Malgun Gothic"/>
                <a:ea typeface="Malgun Gothic"/>
                <a:cs typeface="Malgun Gothic"/>
              </a:rPr>
              <a:t>M-01~M-05 Workflow는 안전한 실행 뼈대, 규칙으로 확정할 수 없는 관계·대상·Action은 Agent가 판단</a:t>
            </a:r>
          </a:p>
        </p:txBody>
      </p:sp>
      <p:sp>
        <p:nvSpPr>
          <p:cNvPr id="6" name="">
            <a:extLst xmlns:a="http://schemas.openxmlformats.org/drawingml/2006/main">
              <a:ext uri="{FF2B5EF4-FFF2-40B4-BE49-F238E27FC236}">
                <a16:creationId xmlns:a16="http://schemas.microsoft.com/office/drawing/2014/main" id="{D26EE620-EE4B-4169-8C0C-D5C1EA375B43}"/>
              </a:ext>
            </a:extLst>
          </p:cNvPr>
          <p:cNvSpPr>
            <a:spLocks xmlns:a="http://schemas.openxmlformats.org/drawingml/2006/main" noGrp="1"/>
          </p:cNvSpPr>
          <p:nvPr/>
        </p:nvSpPr>
        <p:spPr>
          <a:xfrm xmlns:a="http://schemas.openxmlformats.org/drawingml/2006/main">
            <a:off x="57150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7" name="">
            <a:extLst xmlns:a="http://schemas.openxmlformats.org/drawingml/2006/main">
              <a:ext uri="{FF2B5EF4-FFF2-40B4-BE49-F238E27FC236}">
                <a16:creationId xmlns:a16="http://schemas.microsoft.com/office/drawing/2014/main" id="{67C49BF8-D7DB-4223-80AA-31E861703146}"/>
              </a:ext>
            </a:extLst>
          </p:cNvPr>
          <p:cNvSpPr>
            <a:spLocks xmlns:a="http://schemas.openxmlformats.org/drawingml/2006/main" noGrp="1"/>
          </p:cNvSpPr>
          <p:nvPr/>
        </p:nvSpPr>
        <p:spPr>
          <a:xfrm xmlns:a="http://schemas.openxmlformats.org/drawingml/2006/main">
            <a:off x="74295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E41D652-5DC8-4AAD-B46F-825176583048}"/>
              </a:ext>
            </a:extLst>
          </p:cNvPr>
          <p:cNvSpPr>
            <a:spLocks xmlns:a="http://schemas.openxmlformats.org/drawingml/2006/main" noGrp="1"/>
          </p:cNvSpPr>
          <p:nvPr/>
        </p:nvSpPr>
        <p:spPr>
          <a:xfrm xmlns:a="http://schemas.openxmlformats.org/drawingml/2006/main">
            <a:off x="7810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M-01</a:t>
            </a:r>
          </a:p>
        </p:txBody>
      </p:sp>
      <p:sp>
        <p:nvSpPr>
          <p:cNvPr id="9" name="">
            <a:extLst xmlns:a="http://schemas.openxmlformats.org/drawingml/2006/main">
              <a:ext uri="{FF2B5EF4-FFF2-40B4-BE49-F238E27FC236}">
                <a16:creationId xmlns:a16="http://schemas.microsoft.com/office/drawing/2014/main" id="{B63868D9-60DA-42F0-9CBD-C4B6E583F23A}"/>
              </a:ext>
            </a:extLst>
          </p:cNvPr>
          <p:cNvSpPr>
            <a:spLocks xmlns:a="http://schemas.openxmlformats.org/drawingml/2006/main" noGrp="1"/>
          </p:cNvSpPr>
          <p:nvPr/>
        </p:nvSpPr>
        <p:spPr>
          <a:xfrm xmlns:a="http://schemas.openxmlformats.org/drawingml/2006/main">
            <a:off x="7048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Mail Analyzer</a:t>
            </a:r>
          </a:p>
        </p:txBody>
      </p:sp>
      <p:sp>
        <p:nvSpPr>
          <p:cNvPr id="10" name="">
            <a:extLst xmlns:a="http://schemas.openxmlformats.org/drawingml/2006/main">
              <a:ext uri="{FF2B5EF4-FFF2-40B4-BE49-F238E27FC236}">
                <a16:creationId xmlns:a16="http://schemas.microsoft.com/office/drawing/2014/main" id="{5B759058-1F17-4A8B-9E00-EAF059BA06E0}"/>
              </a:ext>
            </a:extLst>
          </p:cNvPr>
          <p:cNvSpPr>
            <a:spLocks xmlns:a="http://schemas.openxmlformats.org/drawingml/2006/main" noGrp="1"/>
          </p:cNvSpPr>
          <p:nvPr/>
        </p:nvSpPr>
        <p:spPr>
          <a:xfrm xmlns:a="http://schemas.openxmlformats.org/drawingml/2006/main">
            <a:off x="7048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의미·Intent·기한</a:t>
            </a:r>
          </a:p>
        </p:txBody>
      </p:sp>
      <p:sp>
        <p:nvSpPr>
          <p:cNvPr id="11" name="">
            <a:extLst xmlns:a="http://schemas.openxmlformats.org/drawingml/2006/main">
              <a:ext uri="{FF2B5EF4-FFF2-40B4-BE49-F238E27FC236}">
                <a16:creationId xmlns:a16="http://schemas.microsoft.com/office/drawing/2014/main" id="{88C52111-8E9A-4F96-9ECE-AF3F08F74E52}"/>
              </a:ext>
            </a:extLst>
          </p:cNvPr>
          <p:cNvSpPr>
            <a:spLocks xmlns:a="http://schemas.openxmlformats.org/drawingml/2006/main" noGrp="1"/>
          </p:cNvSpPr>
          <p:nvPr/>
        </p:nvSpPr>
        <p:spPr>
          <a:xfrm xmlns:a="http://schemas.openxmlformats.org/drawingml/2006/main">
            <a:off x="21526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C5654F-4262-4762-B973-9FB395E26C38}"/>
              </a:ext>
            </a:extLst>
          </p:cNvPr>
          <p:cNvSpPr>
            <a:spLocks xmlns:a="http://schemas.openxmlformats.org/drawingml/2006/main" noGrp="1"/>
          </p:cNvSpPr>
          <p:nvPr/>
        </p:nvSpPr>
        <p:spPr>
          <a:xfrm xmlns:a="http://schemas.openxmlformats.org/drawingml/2006/main">
            <a:off x="23812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13" name="">
            <a:extLst xmlns:a="http://schemas.openxmlformats.org/drawingml/2006/main">
              <a:ext uri="{FF2B5EF4-FFF2-40B4-BE49-F238E27FC236}">
                <a16:creationId xmlns:a16="http://schemas.microsoft.com/office/drawing/2014/main" id="{9D94FF94-822C-40CD-809B-560384EF4238}"/>
              </a:ext>
            </a:extLst>
          </p:cNvPr>
          <p:cNvSpPr>
            <a:spLocks xmlns:a="http://schemas.openxmlformats.org/drawingml/2006/main" noGrp="1"/>
          </p:cNvSpPr>
          <p:nvPr/>
        </p:nvSpPr>
        <p:spPr>
          <a:xfrm xmlns:a="http://schemas.openxmlformats.org/drawingml/2006/main">
            <a:off x="25527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F84CB7F-8FEC-424A-A8F1-DEE5D9691BF1}"/>
              </a:ext>
            </a:extLst>
          </p:cNvPr>
          <p:cNvSpPr>
            <a:spLocks xmlns:a="http://schemas.openxmlformats.org/drawingml/2006/main" noGrp="1"/>
          </p:cNvSpPr>
          <p:nvPr/>
        </p:nvSpPr>
        <p:spPr>
          <a:xfrm xmlns:a="http://schemas.openxmlformats.org/drawingml/2006/main">
            <a:off x="25908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M-02</a:t>
            </a:r>
          </a:p>
        </p:txBody>
      </p:sp>
      <p:sp>
        <p:nvSpPr>
          <p:cNvPr id="15" name="">
            <a:extLst xmlns:a="http://schemas.openxmlformats.org/drawingml/2006/main">
              <a:ext uri="{FF2B5EF4-FFF2-40B4-BE49-F238E27FC236}">
                <a16:creationId xmlns:a16="http://schemas.microsoft.com/office/drawing/2014/main" id="{931AEDE7-6575-4B96-8248-53639F2B4171}"/>
              </a:ext>
            </a:extLst>
          </p:cNvPr>
          <p:cNvSpPr>
            <a:spLocks xmlns:a="http://schemas.openxmlformats.org/drawingml/2006/main" noGrp="1"/>
          </p:cNvSpPr>
          <p:nvPr/>
        </p:nvSpPr>
        <p:spPr>
          <a:xfrm xmlns:a="http://schemas.openxmlformats.org/drawingml/2006/main">
            <a:off x="25146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Task Retriever</a:t>
            </a:r>
          </a:p>
        </p:txBody>
      </p:sp>
      <p:sp>
        <p:nvSpPr>
          <p:cNvPr id="16" name="">
            <a:extLst xmlns:a="http://schemas.openxmlformats.org/drawingml/2006/main">
              <a:ext uri="{FF2B5EF4-FFF2-40B4-BE49-F238E27FC236}">
                <a16:creationId xmlns:a16="http://schemas.microsoft.com/office/drawing/2014/main" id="{4F48F93A-056A-4768-B27B-12063EDA6DEB}"/>
              </a:ext>
            </a:extLst>
          </p:cNvPr>
          <p:cNvSpPr>
            <a:spLocks xmlns:a="http://schemas.openxmlformats.org/drawingml/2006/main" noGrp="1"/>
          </p:cNvSpPr>
          <p:nvPr/>
        </p:nvSpPr>
        <p:spPr>
          <a:xfrm xmlns:a="http://schemas.openxmlformats.org/drawingml/2006/main">
            <a:off x="25146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619"/>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SQLite Context top-k</a:t>
            </a:r>
          </a:p>
        </p:txBody>
      </p:sp>
      <p:sp>
        <p:nvSpPr>
          <p:cNvPr id="17" name="">
            <a:extLst xmlns:a="http://schemas.openxmlformats.org/drawingml/2006/main">
              <a:ext uri="{FF2B5EF4-FFF2-40B4-BE49-F238E27FC236}">
                <a16:creationId xmlns:a16="http://schemas.microsoft.com/office/drawing/2014/main" id="{508A113B-4436-4009-845F-8FEAB0F2A0DA}"/>
              </a:ext>
            </a:extLst>
          </p:cNvPr>
          <p:cNvSpPr>
            <a:spLocks xmlns:a="http://schemas.openxmlformats.org/drawingml/2006/main" noGrp="1"/>
          </p:cNvSpPr>
          <p:nvPr/>
        </p:nvSpPr>
        <p:spPr>
          <a:xfrm xmlns:a="http://schemas.openxmlformats.org/drawingml/2006/main">
            <a:off x="396240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2AADEE5-3F3B-4277-A8F0-72688525296B}"/>
              </a:ext>
            </a:extLst>
          </p:cNvPr>
          <p:cNvSpPr>
            <a:spLocks xmlns:a="http://schemas.openxmlformats.org/drawingml/2006/main" noGrp="1"/>
          </p:cNvSpPr>
          <p:nvPr/>
        </p:nvSpPr>
        <p:spPr>
          <a:xfrm xmlns:a="http://schemas.openxmlformats.org/drawingml/2006/main">
            <a:off x="4191000" y="1809750"/>
            <a:ext cx="1524000" cy="1257300"/>
          </a:xfrm>
          <a:prstGeom xmlns:a="http://schemas.openxmlformats.org/drawingml/2006/main" prst="roundRect">
            <a:avLst>
              <a:gd name="adj" fmla="val 6061"/>
            </a:avLst>
          </a:prstGeom>
          <a:solidFill xmlns:a="http://schemas.openxmlformats.org/drawingml/2006/main">
            <a:srgbClr val="F3EFFF"/>
          </a:solidFill>
          <a:ln xmlns:a="http://schemas.openxmlformats.org/drawingml/2006/main" w="9525">
            <a:solidFill>
              <a:srgbClr val="7657D6"/>
            </a:solidFill>
          </a:ln>
        </p:spPr>
      </p:sp>
      <p:sp>
        <p:nvSpPr>
          <p:cNvPr id="19" name="">
            <a:extLst xmlns:a="http://schemas.openxmlformats.org/drawingml/2006/main">
              <a:ext uri="{FF2B5EF4-FFF2-40B4-BE49-F238E27FC236}">
                <a16:creationId xmlns:a16="http://schemas.microsoft.com/office/drawing/2014/main" id="{C8F497DC-D028-4ACF-9BFB-BFB26A12987C}"/>
              </a:ext>
            </a:extLst>
          </p:cNvPr>
          <p:cNvSpPr>
            <a:spLocks xmlns:a="http://schemas.openxmlformats.org/drawingml/2006/main" noGrp="1"/>
          </p:cNvSpPr>
          <p:nvPr/>
        </p:nvSpPr>
        <p:spPr>
          <a:xfrm xmlns:a="http://schemas.openxmlformats.org/drawingml/2006/main">
            <a:off x="4362450" y="1943100"/>
            <a:ext cx="857250" cy="323850"/>
          </a:xfrm>
          <a:prstGeom xmlns:a="http://schemas.openxmlformats.org/drawingml/2006/main" prst="roundRect">
            <a:avLst>
              <a:gd name="adj" fmla="val 23529"/>
            </a:avLst>
          </a:prstGeom>
          <a:solidFill xmlns:a="http://schemas.openxmlformats.org/drawingml/2006/main">
            <a:srgbClr val="EDE6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8200715-0936-4845-B670-15B875EB2EF9}"/>
              </a:ext>
            </a:extLst>
          </p:cNvPr>
          <p:cNvSpPr>
            <a:spLocks xmlns:a="http://schemas.openxmlformats.org/drawingml/2006/main" noGrp="1"/>
          </p:cNvSpPr>
          <p:nvPr/>
        </p:nvSpPr>
        <p:spPr>
          <a:xfrm xmlns:a="http://schemas.openxmlformats.org/drawingml/2006/main">
            <a:off x="44005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7657D6"/>
                </a:solidFill>
                <a:latin typeface="Malgun Gothic"/>
                <a:ea typeface="Malgun Gothic"/>
                <a:cs typeface="Malgun Gothic"/>
              </a:defRPr>
            </a:pPr>
            <a:r>
              <a:rPr sz="1050" b="1">
                <a:solidFill>
                  <a:srgbClr val="7657D6"/>
                </a:solidFill>
                <a:latin typeface="Malgun Gothic"/>
                <a:ea typeface="Malgun Gothic"/>
                <a:cs typeface="Malgun Gothic"/>
              </a:rPr>
              <a:t>M-03</a:t>
            </a:r>
          </a:p>
        </p:txBody>
      </p:sp>
      <p:sp>
        <p:nvSpPr>
          <p:cNvPr id="21" name="">
            <a:extLst xmlns:a="http://schemas.openxmlformats.org/drawingml/2006/main">
              <a:ext uri="{FF2B5EF4-FFF2-40B4-BE49-F238E27FC236}">
                <a16:creationId xmlns:a16="http://schemas.microsoft.com/office/drawing/2014/main" id="{0604260D-F46A-4EE6-AEFF-846D8DF2457A}"/>
              </a:ext>
            </a:extLst>
          </p:cNvPr>
          <p:cNvSpPr>
            <a:spLocks xmlns:a="http://schemas.openxmlformats.org/drawingml/2006/main" noGrp="1"/>
          </p:cNvSpPr>
          <p:nvPr/>
        </p:nvSpPr>
        <p:spPr>
          <a:xfrm xmlns:a="http://schemas.openxmlformats.org/drawingml/2006/main">
            <a:off x="43243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Context Agent</a:t>
            </a:r>
          </a:p>
        </p:txBody>
      </p:sp>
      <p:sp>
        <p:nvSpPr>
          <p:cNvPr id="22" name="">
            <a:extLst xmlns:a="http://schemas.openxmlformats.org/drawingml/2006/main">
              <a:ext uri="{FF2B5EF4-FFF2-40B4-BE49-F238E27FC236}">
                <a16:creationId xmlns:a16="http://schemas.microsoft.com/office/drawing/2014/main" id="{2F48D54A-D2B6-44CE-9251-D8FDDBD78D13}"/>
              </a:ext>
            </a:extLst>
          </p:cNvPr>
          <p:cNvSpPr>
            <a:spLocks xmlns:a="http://schemas.openxmlformats.org/drawingml/2006/main" noGrp="1"/>
          </p:cNvSpPr>
          <p:nvPr/>
        </p:nvSpPr>
        <p:spPr>
          <a:xfrm xmlns:a="http://schemas.openxmlformats.org/drawingml/2006/main">
            <a:off x="43243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가설 생성·검증·평가</a:t>
            </a:r>
          </a:p>
        </p:txBody>
      </p:sp>
      <p:sp>
        <p:nvSpPr>
          <p:cNvPr id="23" name="">
            <a:extLst xmlns:a="http://schemas.openxmlformats.org/drawingml/2006/main">
              <a:ext uri="{FF2B5EF4-FFF2-40B4-BE49-F238E27FC236}">
                <a16:creationId xmlns:a16="http://schemas.microsoft.com/office/drawing/2014/main" id="{6C0B67AF-9EFE-44A3-B34C-F3F500A32B40}"/>
              </a:ext>
            </a:extLst>
          </p:cNvPr>
          <p:cNvSpPr>
            <a:spLocks xmlns:a="http://schemas.openxmlformats.org/drawingml/2006/main" noGrp="1"/>
          </p:cNvSpPr>
          <p:nvPr/>
        </p:nvSpPr>
        <p:spPr>
          <a:xfrm xmlns:a="http://schemas.openxmlformats.org/drawingml/2006/main">
            <a:off x="57721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7438168-341D-4803-9ACA-FF52AF80CBF7}"/>
              </a:ext>
            </a:extLst>
          </p:cNvPr>
          <p:cNvSpPr>
            <a:spLocks xmlns:a="http://schemas.openxmlformats.org/drawingml/2006/main" noGrp="1"/>
          </p:cNvSpPr>
          <p:nvPr/>
        </p:nvSpPr>
        <p:spPr>
          <a:xfrm xmlns:a="http://schemas.openxmlformats.org/drawingml/2006/main">
            <a:off x="60007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25" name="">
            <a:extLst xmlns:a="http://schemas.openxmlformats.org/drawingml/2006/main">
              <a:ext uri="{FF2B5EF4-FFF2-40B4-BE49-F238E27FC236}">
                <a16:creationId xmlns:a16="http://schemas.microsoft.com/office/drawing/2014/main" id="{820582B4-C8D0-4E4B-9920-DADE1302D6F3}"/>
              </a:ext>
            </a:extLst>
          </p:cNvPr>
          <p:cNvSpPr>
            <a:spLocks xmlns:a="http://schemas.openxmlformats.org/drawingml/2006/main" noGrp="1"/>
          </p:cNvSpPr>
          <p:nvPr/>
        </p:nvSpPr>
        <p:spPr>
          <a:xfrm xmlns:a="http://schemas.openxmlformats.org/drawingml/2006/main">
            <a:off x="61722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3560FF5-EE6F-4AF4-B525-FCBE22DE404F}"/>
              </a:ext>
            </a:extLst>
          </p:cNvPr>
          <p:cNvSpPr>
            <a:spLocks xmlns:a="http://schemas.openxmlformats.org/drawingml/2006/main" noGrp="1"/>
          </p:cNvSpPr>
          <p:nvPr/>
        </p:nvSpPr>
        <p:spPr>
          <a:xfrm xmlns:a="http://schemas.openxmlformats.org/drawingml/2006/main">
            <a:off x="62103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Guard</a:t>
            </a:r>
          </a:p>
        </p:txBody>
      </p:sp>
      <p:sp>
        <p:nvSpPr>
          <p:cNvPr id="27" name="">
            <a:extLst xmlns:a="http://schemas.openxmlformats.org/drawingml/2006/main">
              <a:ext uri="{FF2B5EF4-FFF2-40B4-BE49-F238E27FC236}">
                <a16:creationId xmlns:a16="http://schemas.microsoft.com/office/drawing/2014/main" id="{13BD4F69-AEF6-47EB-8389-DE8FA6820182}"/>
              </a:ext>
            </a:extLst>
          </p:cNvPr>
          <p:cNvSpPr>
            <a:spLocks xmlns:a="http://schemas.openxmlformats.org/drawingml/2006/main" noGrp="1"/>
          </p:cNvSpPr>
          <p:nvPr/>
        </p:nvSpPr>
        <p:spPr>
          <a:xfrm xmlns:a="http://schemas.openxmlformats.org/drawingml/2006/main">
            <a:off x="61341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Python Policy</a:t>
            </a:r>
          </a:p>
        </p:txBody>
      </p:sp>
      <p:sp>
        <p:nvSpPr>
          <p:cNvPr id="28" name="">
            <a:extLst xmlns:a="http://schemas.openxmlformats.org/drawingml/2006/main">
              <a:ext uri="{FF2B5EF4-FFF2-40B4-BE49-F238E27FC236}">
                <a16:creationId xmlns:a16="http://schemas.microsoft.com/office/drawing/2014/main" id="{69A1DD3E-A4BE-4A04-B756-17EDA6AAA279}"/>
              </a:ext>
            </a:extLst>
          </p:cNvPr>
          <p:cNvSpPr>
            <a:spLocks xmlns:a="http://schemas.openxmlformats.org/drawingml/2006/main" noGrp="1"/>
          </p:cNvSpPr>
          <p:nvPr/>
        </p:nvSpPr>
        <p:spPr>
          <a:xfrm xmlns:a="http://schemas.openxmlformats.org/drawingml/2006/main">
            <a:off x="61341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Payload·전이 검증</a:t>
            </a:r>
          </a:p>
        </p:txBody>
      </p:sp>
      <p:sp>
        <p:nvSpPr>
          <p:cNvPr id="29" name="">
            <a:extLst xmlns:a="http://schemas.openxmlformats.org/drawingml/2006/main">
              <a:ext uri="{FF2B5EF4-FFF2-40B4-BE49-F238E27FC236}">
                <a16:creationId xmlns:a16="http://schemas.microsoft.com/office/drawing/2014/main" id="{071302F8-D57A-4F3D-99F5-5D4EE54AC64F}"/>
              </a:ext>
            </a:extLst>
          </p:cNvPr>
          <p:cNvSpPr>
            <a:spLocks xmlns:a="http://schemas.openxmlformats.org/drawingml/2006/main" noGrp="1"/>
          </p:cNvSpPr>
          <p:nvPr/>
        </p:nvSpPr>
        <p:spPr>
          <a:xfrm xmlns:a="http://schemas.openxmlformats.org/drawingml/2006/main">
            <a:off x="758190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6542EFF-7659-4081-9937-978D2F6AC75E}"/>
              </a:ext>
            </a:extLst>
          </p:cNvPr>
          <p:cNvSpPr>
            <a:spLocks xmlns:a="http://schemas.openxmlformats.org/drawingml/2006/main" noGrp="1"/>
          </p:cNvSpPr>
          <p:nvPr/>
        </p:nvSpPr>
        <p:spPr>
          <a:xfrm xmlns:a="http://schemas.openxmlformats.org/drawingml/2006/main">
            <a:off x="781050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31" name="">
            <a:extLst xmlns:a="http://schemas.openxmlformats.org/drawingml/2006/main">
              <a:ext uri="{FF2B5EF4-FFF2-40B4-BE49-F238E27FC236}">
                <a16:creationId xmlns:a16="http://schemas.microsoft.com/office/drawing/2014/main" id="{471AB6A0-C2BB-4234-BCB8-0D68B4FC730D}"/>
              </a:ext>
            </a:extLst>
          </p:cNvPr>
          <p:cNvSpPr>
            <a:spLocks xmlns:a="http://schemas.openxmlformats.org/drawingml/2006/main" noGrp="1"/>
          </p:cNvSpPr>
          <p:nvPr/>
        </p:nvSpPr>
        <p:spPr>
          <a:xfrm xmlns:a="http://schemas.openxmlformats.org/drawingml/2006/main">
            <a:off x="798195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0F9C6C5-166B-4F5A-BB45-C824D48AE146}"/>
              </a:ext>
            </a:extLst>
          </p:cNvPr>
          <p:cNvSpPr>
            <a:spLocks xmlns:a="http://schemas.openxmlformats.org/drawingml/2006/main" noGrp="1"/>
          </p:cNvSpPr>
          <p:nvPr/>
        </p:nvSpPr>
        <p:spPr>
          <a:xfrm xmlns:a="http://schemas.openxmlformats.org/drawingml/2006/main">
            <a:off x="80200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M-04</a:t>
            </a:r>
          </a:p>
        </p:txBody>
      </p:sp>
      <p:sp>
        <p:nvSpPr>
          <p:cNvPr id="33" name="">
            <a:extLst xmlns:a="http://schemas.openxmlformats.org/drawingml/2006/main">
              <a:ext uri="{FF2B5EF4-FFF2-40B4-BE49-F238E27FC236}">
                <a16:creationId xmlns:a16="http://schemas.microsoft.com/office/drawing/2014/main" id="{57D1376D-351A-41E0-A97A-A7D8238DF5E4}"/>
              </a:ext>
            </a:extLst>
          </p:cNvPr>
          <p:cNvSpPr>
            <a:spLocks xmlns:a="http://schemas.openxmlformats.org/drawingml/2006/main" noGrp="1"/>
          </p:cNvSpPr>
          <p:nvPr/>
        </p:nvSpPr>
        <p:spPr>
          <a:xfrm xmlns:a="http://schemas.openxmlformats.org/drawingml/2006/main">
            <a:off x="79438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DB Tool</a:t>
            </a:r>
          </a:p>
        </p:txBody>
      </p:sp>
      <p:sp>
        <p:nvSpPr>
          <p:cNvPr id="34" name="">
            <a:extLst xmlns:a="http://schemas.openxmlformats.org/drawingml/2006/main">
              <a:ext uri="{FF2B5EF4-FFF2-40B4-BE49-F238E27FC236}">
                <a16:creationId xmlns:a16="http://schemas.microsoft.com/office/drawing/2014/main" id="{66DEB3D7-F7F6-4860-A05F-2A303F10A60F}"/>
              </a:ext>
            </a:extLst>
          </p:cNvPr>
          <p:cNvSpPr>
            <a:spLocks xmlns:a="http://schemas.openxmlformats.org/drawingml/2006/main" noGrp="1"/>
          </p:cNvSpPr>
          <p:nvPr/>
        </p:nvSpPr>
        <p:spPr>
          <a:xfrm xmlns:a="http://schemas.openxmlformats.org/drawingml/2006/main">
            <a:off x="79438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저장·상태 재조회</a:t>
            </a:r>
          </a:p>
        </p:txBody>
      </p:sp>
      <p:sp>
        <p:nvSpPr>
          <p:cNvPr id="35" name="">
            <a:extLst xmlns:a="http://schemas.openxmlformats.org/drawingml/2006/main">
              <a:ext uri="{FF2B5EF4-FFF2-40B4-BE49-F238E27FC236}">
                <a16:creationId xmlns:a16="http://schemas.microsoft.com/office/drawing/2014/main" id="{FFA5E6B6-3BDD-430F-965C-DBC8D0CE0AAC}"/>
              </a:ext>
            </a:extLst>
          </p:cNvPr>
          <p:cNvSpPr>
            <a:spLocks xmlns:a="http://schemas.openxmlformats.org/drawingml/2006/main" noGrp="1"/>
          </p:cNvSpPr>
          <p:nvPr/>
        </p:nvSpPr>
        <p:spPr>
          <a:xfrm xmlns:a="http://schemas.openxmlformats.org/drawingml/2006/main">
            <a:off x="93916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EDC4EE3-E520-4427-AE22-5CBBCA2E1627}"/>
              </a:ext>
            </a:extLst>
          </p:cNvPr>
          <p:cNvSpPr>
            <a:spLocks xmlns:a="http://schemas.openxmlformats.org/drawingml/2006/main" noGrp="1"/>
          </p:cNvSpPr>
          <p:nvPr/>
        </p:nvSpPr>
        <p:spPr>
          <a:xfrm xmlns:a="http://schemas.openxmlformats.org/drawingml/2006/main">
            <a:off x="96202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37" name="">
            <a:extLst xmlns:a="http://schemas.openxmlformats.org/drawingml/2006/main">
              <a:ext uri="{FF2B5EF4-FFF2-40B4-BE49-F238E27FC236}">
                <a16:creationId xmlns:a16="http://schemas.microsoft.com/office/drawing/2014/main" id="{F8B0E318-A089-4893-AB7B-A6F0BAFE5CF4}"/>
              </a:ext>
            </a:extLst>
          </p:cNvPr>
          <p:cNvSpPr>
            <a:spLocks xmlns:a="http://schemas.openxmlformats.org/drawingml/2006/main" noGrp="1"/>
          </p:cNvSpPr>
          <p:nvPr/>
        </p:nvSpPr>
        <p:spPr>
          <a:xfrm xmlns:a="http://schemas.openxmlformats.org/drawingml/2006/main">
            <a:off x="97917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CBFFBA9-D87B-4BEF-BF9F-8F8B9507B0B8}"/>
              </a:ext>
            </a:extLst>
          </p:cNvPr>
          <p:cNvSpPr>
            <a:spLocks xmlns:a="http://schemas.openxmlformats.org/drawingml/2006/main" noGrp="1"/>
          </p:cNvSpPr>
          <p:nvPr/>
        </p:nvSpPr>
        <p:spPr>
          <a:xfrm xmlns:a="http://schemas.openxmlformats.org/drawingml/2006/main">
            <a:off x="98298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M-05</a:t>
            </a:r>
          </a:p>
        </p:txBody>
      </p:sp>
      <p:sp>
        <p:nvSpPr>
          <p:cNvPr id="39" name="">
            <a:extLst xmlns:a="http://schemas.openxmlformats.org/drawingml/2006/main">
              <a:ext uri="{FF2B5EF4-FFF2-40B4-BE49-F238E27FC236}">
                <a16:creationId xmlns:a16="http://schemas.microsoft.com/office/drawing/2014/main" id="{BA549AA5-FBF7-4771-AACC-A5B380A7429B}"/>
              </a:ext>
            </a:extLst>
          </p:cNvPr>
          <p:cNvSpPr>
            <a:spLocks xmlns:a="http://schemas.openxmlformats.org/drawingml/2006/main" noGrp="1"/>
          </p:cNvSpPr>
          <p:nvPr/>
        </p:nvSpPr>
        <p:spPr>
          <a:xfrm xmlns:a="http://schemas.openxmlformats.org/drawingml/2006/main">
            <a:off x="97536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Review·Trace</a:t>
            </a:r>
          </a:p>
        </p:txBody>
      </p:sp>
      <p:sp>
        <p:nvSpPr>
          <p:cNvPr id="40" name="">
            <a:extLst xmlns:a="http://schemas.openxmlformats.org/drawingml/2006/main">
              <a:ext uri="{FF2B5EF4-FFF2-40B4-BE49-F238E27FC236}">
                <a16:creationId xmlns:a16="http://schemas.microsoft.com/office/drawing/2014/main" id="{EAA23F79-18E5-4BEE-9B28-AA5A10710F9D}"/>
              </a:ext>
            </a:extLst>
          </p:cNvPr>
          <p:cNvSpPr>
            <a:spLocks xmlns:a="http://schemas.openxmlformats.org/drawingml/2006/main" noGrp="1"/>
          </p:cNvSpPr>
          <p:nvPr/>
        </p:nvSpPr>
        <p:spPr>
          <a:xfrm xmlns:a="http://schemas.openxmlformats.org/drawingml/2006/main">
            <a:off x="97536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사용자 확인 화면</a:t>
            </a:r>
          </a:p>
        </p:txBody>
      </p:sp>
      <p:sp>
        <p:nvSpPr>
          <p:cNvPr id="41" name="">
            <a:extLst xmlns:a="http://schemas.openxmlformats.org/drawingml/2006/main">
              <a:ext uri="{FF2B5EF4-FFF2-40B4-BE49-F238E27FC236}">
                <a16:creationId xmlns:a16="http://schemas.microsoft.com/office/drawing/2014/main" id="{3F49F7C8-FC5A-4BD0-8D09-B912856A2D20}"/>
              </a:ext>
            </a:extLst>
          </p:cNvPr>
          <p:cNvSpPr>
            <a:spLocks xmlns:a="http://schemas.openxmlformats.org/drawingml/2006/main" noGrp="1"/>
          </p:cNvSpPr>
          <p:nvPr/>
        </p:nvSpPr>
        <p:spPr>
          <a:xfrm xmlns:a="http://schemas.openxmlformats.org/drawingml/2006/main">
            <a:off x="571500" y="3257550"/>
            <a:ext cx="11049000" cy="838200"/>
          </a:xfrm>
          <a:prstGeom xmlns:a="http://schemas.openxmlformats.org/drawingml/2006/main" prst="roundRect">
            <a:avLst>
              <a:gd name="adj" fmla="val 9091"/>
            </a:avLst>
          </a:prstGeom>
          <a:solidFill xmlns:a="http://schemas.openxmlformats.org/drawingml/2006/main">
            <a:srgbClr val="EFF5FD"/>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85036C6-2BA1-4D6A-8DB2-F78D74402D0D}"/>
              </a:ext>
            </a:extLst>
          </p:cNvPr>
          <p:cNvSpPr>
            <a:spLocks xmlns:a="http://schemas.openxmlformats.org/drawingml/2006/main" noGrp="1"/>
          </p:cNvSpPr>
          <p:nvPr/>
        </p:nvSpPr>
        <p:spPr>
          <a:xfrm xmlns:a="http://schemas.openxmlformats.org/drawingml/2006/main">
            <a:off x="781050" y="33337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Task 관계</a:t>
            </a:r>
          </a:p>
        </p:txBody>
      </p:sp>
      <p:sp>
        <p:nvSpPr>
          <p:cNvPr id="43" name="">
            <a:extLst xmlns:a="http://schemas.openxmlformats.org/drawingml/2006/main">
              <a:ext uri="{FF2B5EF4-FFF2-40B4-BE49-F238E27FC236}">
                <a16:creationId xmlns:a16="http://schemas.microsoft.com/office/drawing/2014/main" id="{A45E6617-78D4-4D65-ACEA-56CB3E041CA6}"/>
              </a:ext>
            </a:extLst>
          </p:cNvPr>
          <p:cNvSpPr>
            <a:spLocks xmlns:a="http://schemas.openxmlformats.org/drawingml/2006/main" noGrp="1"/>
          </p:cNvSpPr>
          <p:nvPr/>
        </p:nvSpPr>
        <p:spPr>
          <a:xfrm xmlns:a="http://schemas.openxmlformats.org/drawingml/2006/main">
            <a:off x="1952625" y="33337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동일 Thread는 Metadata 규칙</a:t>
            </a:r>
          </a:p>
        </p:txBody>
      </p:sp>
      <p:sp>
        <p:nvSpPr>
          <p:cNvPr id="44" name="">
            <a:extLst xmlns:a="http://schemas.openxmlformats.org/drawingml/2006/main">
              <a:ext uri="{FF2B5EF4-FFF2-40B4-BE49-F238E27FC236}">
                <a16:creationId xmlns:a16="http://schemas.microsoft.com/office/drawing/2014/main" id="{7081C204-F1B1-4BB3-AB4B-164E01749834}"/>
              </a:ext>
            </a:extLst>
          </p:cNvPr>
          <p:cNvSpPr>
            <a:spLocks xmlns:a="http://schemas.openxmlformats.org/drawingml/2006/main" noGrp="1"/>
          </p:cNvSpPr>
          <p:nvPr/>
        </p:nvSpPr>
        <p:spPr>
          <a:xfrm xmlns:a="http://schemas.openxmlformats.org/drawingml/2006/main">
            <a:off x="4524375" y="333375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7657D6"/>
                </a:solidFill>
                <a:latin typeface="Malgun Gothic"/>
                <a:ea typeface="Malgun Gothic"/>
                <a:cs typeface="Malgun Gothic"/>
              </a:defRPr>
            </a:pPr>
            <a:r>
              <a:rPr sz="1125" b="1">
                <a:solidFill>
                  <a:srgbClr val="7657D6"/>
                </a:solidFill>
                <a:latin typeface="Malgun Gothic"/>
                <a:ea typeface="Malgun Gothic"/>
                <a:cs typeface="Malgun Gothic"/>
              </a:rPr>
              <a:t>다른 Thread·다른 표현은 후보 2~3개를 비교해 관계·대상·Action 선택</a:t>
            </a:r>
          </a:p>
        </p:txBody>
      </p:sp>
      <p:sp>
        <p:nvSpPr>
          <p:cNvPr id="45" name="">
            <a:extLst xmlns:a="http://schemas.openxmlformats.org/drawingml/2006/main">
              <a:ext uri="{FF2B5EF4-FFF2-40B4-BE49-F238E27FC236}">
                <a16:creationId xmlns:a16="http://schemas.microsoft.com/office/drawing/2014/main" id="{1DAC679D-FF7A-4C82-9702-4EFBA60F2B6D}"/>
              </a:ext>
            </a:extLst>
          </p:cNvPr>
          <p:cNvSpPr>
            <a:spLocks xmlns:a="http://schemas.openxmlformats.org/drawingml/2006/main" noGrp="1"/>
          </p:cNvSpPr>
          <p:nvPr/>
        </p:nvSpPr>
        <p:spPr>
          <a:xfrm xmlns:a="http://schemas.openxmlformats.org/drawingml/2006/main">
            <a:off x="781050" y="37147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회신 실행</a:t>
            </a:r>
          </a:p>
        </p:txBody>
      </p:sp>
      <p:sp>
        <p:nvSpPr>
          <p:cNvPr id="46" name="">
            <a:extLst xmlns:a="http://schemas.openxmlformats.org/drawingml/2006/main">
              <a:ext uri="{FF2B5EF4-FFF2-40B4-BE49-F238E27FC236}">
                <a16:creationId xmlns:a16="http://schemas.microsoft.com/office/drawing/2014/main" id="{5D14B3DC-A9CB-4AA0-8365-D9F7780455F5}"/>
              </a:ext>
            </a:extLst>
          </p:cNvPr>
          <p:cNvSpPr>
            <a:spLocks xmlns:a="http://schemas.openxmlformats.org/drawingml/2006/main" noGrp="1"/>
          </p:cNvSpPr>
          <p:nvPr/>
        </p:nvSpPr>
        <p:spPr>
          <a:xfrm xmlns:a="http://schemas.openxmlformats.org/drawingml/2006/main">
            <a:off x="1952625" y="37147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38A62"/>
                </a:solidFill>
                <a:latin typeface="Malgun Gothic"/>
                <a:ea typeface="Malgun Gothic"/>
                <a:cs typeface="Malgun Gothic"/>
              </a:defRPr>
            </a:pPr>
            <a:r>
              <a:rPr sz="1125" b="1">
                <a:solidFill>
                  <a:srgbClr val="138A62"/>
                </a:solidFill>
                <a:latin typeface="Malgun Gothic"/>
                <a:ea typeface="Malgun Gothic"/>
                <a:cs typeface="Malgun Gothic"/>
              </a:rPr>
              <a:t>Reply Agent 판단  →  사용자 입력  →  LLM 초안  →  승인 Gmail 발송  →  WAITING_REPLY</a:t>
            </a:r>
          </a:p>
        </p:txBody>
      </p:sp>
      <p:sp>
        <p:nvSpPr>
          <p:cNvPr id="47" name="">
            <a:extLst xmlns:a="http://schemas.openxmlformats.org/drawingml/2006/main">
              <a:ext uri="{FF2B5EF4-FFF2-40B4-BE49-F238E27FC236}">
                <a16:creationId xmlns:a16="http://schemas.microsoft.com/office/drawing/2014/main" id="{BE1D8893-4E73-49F6-9053-D9419D49D4F2}"/>
              </a:ext>
            </a:extLst>
          </p:cNvPr>
          <p:cNvSpPr>
            <a:spLocks xmlns:a="http://schemas.openxmlformats.org/drawingml/2006/main" noGrp="1"/>
          </p:cNvSpPr>
          <p:nvPr/>
        </p:nvSpPr>
        <p:spPr>
          <a:xfrm xmlns:a="http://schemas.openxmlformats.org/drawingml/2006/main">
            <a:off x="571500" y="4286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기술 선택 이유</a:t>
            </a:r>
          </a:p>
        </p:txBody>
      </p:sp>
      <p:sp>
        <p:nvSpPr>
          <p:cNvPr id="48" name="">
            <a:extLst xmlns:a="http://schemas.openxmlformats.org/drawingml/2006/main">
              <a:ext uri="{FF2B5EF4-FFF2-40B4-BE49-F238E27FC236}">
                <a16:creationId xmlns:a16="http://schemas.microsoft.com/office/drawing/2014/main" id="{AF829DFC-94FE-49A2-8E7B-45D7EDA45ABB}"/>
              </a:ext>
            </a:extLst>
          </p:cNvPr>
          <p:cNvSpPr>
            <a:spLocks xmlns:a="http://schemas.openxmlformats.org/drawingml/2006/main" noGrp="1"/>
          </p:cNvSpPr>
          <p:nvPr/>
        </p:nvSpPr>
        <p:spPr>
          <a:xfrm xmlns:a="http://schemas.openxmlformats.org/drawingml/2006/main">
            <a:off x="57150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1769E0"/>
                </a:solidFill>
                <a:latin typeface="Malgun Gothic"/>
                <a:ea typeface="Malgun Gothic"/>
                <a:cs typeface="Malgun Gothic"/>
              </a:defRPr>
            </a:pPr>
            <a:r>
              <a:rPr sz="1275" b="1">
                <a:solidFill>
                  <a:srgbClr val="1769E0"/>
                </a:solidFill>
                <a:latin typeface="Malgun Gothic"/>
                <a:ea typeface="Malgun Gothic"/>
                <a:cs typeface="Malgun Gothic"/>
              </a:rPr>
              <a:t>gpt-4.1-mini</a:t>
            </a:r>
          </a:p>
        </p:txBody>
      </p:sp>
      <p:sp>
        <p:nvSpPr>
          <p:cNvPr id="49" name="">
            <a:extLst xmlns:a="http://schemas.openxmlformats.org/drawingml/2006/main">
              <a:ext uri="{FF2B5EF4-FFF2-40B4-BE49-F238E27FC236}">
                <a16:creationId xmlns:a16="http://schemas.microsoft.com/office/drawing/2014/main" id="{5C02B904-BF65-4CF6-9E95-3A8F16436CC0}"/>
              </a:ext>
            </a:extLst>
          </p:cNvPr>
          <p:cNvSpPr>
            <a:spLocks xmlns:a="http://schemas.openxmlformats.org/drawingml/2006/main" noGrp="1"/>
          </p:cNvSpPr>
          <p:nvPr/>
        </p:nvSpPr>
        <p:spPr>
          <a:xfrm xmlns:a="http://schemas.openxmlformats.org/drawingml/2006/main">
            <a:off x="57150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메일 의미와 관계를 Pydantic Schema로 구조화</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모델 간 우월성 비교는 수행하지 않음</a:t>
            </a:r>
          </a:p>
        </p:txBody>
      </p:sp>
      <p:sp>
        <p:nvSpPr>
          <p:cNvPr id="50" name="">
            <a:extLst xmlns:a="http://schemas.openxmlformats.org/drawingml/2006/main">
              <a:ext uri="{FF2B5EF4-FFF2-40B4-BE49-F238E27FC236}">
                <a16:creationId xmlns:a16="http://schemas.microsoft.com/office/drawing/2014/main" id="{BF8B785D-41F1-494D-9849-856A23261BEF}"/>
              </a:ext>
            </a:extLst>
          </p:cNvPr>
          <p:cNvSpPr>
            <a:spLocks xmlns:a="http://schemas.openxmlformats.org/drawingml/2006/main" noGrp="1"/>
          </p:cNvSpPr>
          <p:nvPr/>
        </p:nvSpPr>
        <p:spPr>
          <a:xfrm xmlns:a="http://schemas.openxmlformats.org/drawingml/2006/main">
            <a:off x="424815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7657D6"/>
                </a:solidFill>
                <a:latin typeface="Malgun Gothic"/>
                <a:ea typeface="Malgun Gothic"/>
                <a:cs typeface="Malgun Gothic"/>
              </a:defRPr>
            </a:pPr>
            <a:r>
              <a:rPr sz="1275" b="1">
                <a:solidFill>
                  <a:srgbClr val="7657D6"/>
                </a:solidFill>
                <a:latin typeface="Malgun Gothic"/>
                <a:ea typeface="Malgun Gothic"/>
                <a:cs typeface="Malgun Gothic"/>
              </a:rPr>
              <a:t>SQLite Task Context</a:t>
            </a:r>
          </a:p>
        </p:txBody>
      </p:sp>
      <p:sp>
        <p:nvSpPr>
          <p:cNvPr id="51" name="">
            <a:extLst xmlns:a="http://schemas.openxmlformats.org/drawingml/2006/main">
              <a:ext uri="{FF2B5EF4-FFF2-40B4-BE49-F238E27FC236}">
                <a16:creationId xmlns:a16="http://schemas.microsoft.com/office/drawing/2014/main" id="{EBD6F1E4-5349-439D-8CBD-5E03A359B4F4}"/>
              </a:ext>
            </a:extLst>
          </p:cNvPr>
          <p:cNvSpPr>
            <a:spLocks xmlns:a="http://schemas.openxmlformats.org/drawingml/2006/main" noGrp="1"/>
          </p:cNvSpPr>
          <p:nvPr/>
        </p:nvSpPr>
        <p:spPr>
          <a:xfrm xmlns:a="http://schemas.openxmlformats.org/drawingml/2006/main">
            <a:off x="424815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75"/>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개인 MVP의 활성 Task·최근 Mail·History만 제한 검색</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Vector DB와 외부 Embedding은 사용하지 않음</a:t>
            </a:r>
          </a:p>
        </p:txBody>
      </p:sp>
      <p:sp>
        <p:nvSpPr>
          <p:cNvPr id="52" name="">
            <a:extLst xmlns:a="http://schemas.openxmlformats.org/drawingml/2006/main">
              <a:ext uri="{FF2B5EF4-FFF2-40B4-BE49-F238E27FC236}">
                <a16:creationId xmlns:a16="http://schemas.microsoft.com/office/drawing/2014/main" id="{818EEBB4-5E0D-45E4-8114-8E96D1BDEFE2}"/>
              </a:ext>
            </a:extLst>
          </p:cNvPr>
          <p:cNvSpPr>
            <a:spLocks xmlns:a="http://schemas.openxmlformats.org/drawingml/2006/main" noGrp="1"/>
          </p:cNvSpPr>
          <p:nvPr/>
        </p:nvSpPr>
        <p:spPr>
          <a:xfrm xmlns:a="http://schemas.openxmlformats.org/drawingml/2006/main">
            <a:off x="792480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1769E0"/>
                </a:solidFill>
                <a:latin typeface="Malgun Gothic"/>
                <a:ea typeface="Malgun Gothic"/>
                <a:cs typeface="Malgun Gothic"/>
              </a:defRPr>
            </a:pPr>
            <a:r>
              <a:rPr sz="1275" b="1">
                <a:solidFill>
                  <a:srgbClr val="1769E0"/>
                </a:solidFill>
                <a:latin typeface="Malgun Gothic"/>
                <a:ea typeface="Malgun Gothic"/>
                <a:cs typeface="Malgun Gothic"/>
              </a:rPr>
              <a:t>Python + Pydantic Guard</a:t>
            </a:r>
          </a:p>
        </p:txBody>
      </p:sp>
      <p:sp>
        <p:nvSpPr>
          <p:cNvPr id="53" name="">
            <a:extLst xmlns:a="http://schemas.openxmlformats.org/drawingml/2006/main">
              <a:ext uri="{FF2B5EF4-FFF2-40B4-BE49-F238E27FC236}">
                <a16:creationId xmlns:a16="http://schemas.microsoft.com/office/drawing/2014/main" id="{485C1326-DC97-4812-88CD-B93317F84C86}"/>
              </a:ext>
            </a:extLst>
          </p:cNvPr>
          <p:cNvSpPr>
            <a:spLocks xmlns:a="http://schemas.openxmlformats.org/drawingml/2006/main" noGrp="1"/>
          </p:cNvSpPr>
          <p:nvPr/>
        </p:nvSpPr>
        <p:spPr>
          <a:xfrm xmlns:a="http://schemas.openxmlformats.org/drawingml/2006/main">
            <a:off x="792480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LangGraph 없이 단일 Agent + 결정론 Guard 구성</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후보 ID·상태 전이·중요 변경을 Python이 검증</a:t>
            </a:r>
          </a:p>
        </p:txBody>
      </p:sp>
      <p:sp>
        <p:nvSpPr>
          <p:cNvPr id="54" name="">
            <a:extLst xmlns:a="http://schemas.openxmlformats.org/drawingml/2006/main">
              <a:ext uri="{FF2B5EF4-FFF2-40B4-BE49-F238E27FC236}">
                <a16:creationId xmlns:a16="http://schemas.microsoft.com/office/drawing/2014/main" id="{58A20E0B-D333-402F-8136-7324FB3EEEE5}"/>
              </a:ext>
            </a:extLst>
          </p:cNvPr>
          <p:cNvSpPr>
            <a:spLocks xmlns:a="http://schemas.openxmlformats.org/drawingml/2006/main" noGrp="1"/>
          </p:cNvSpPr>
          <p:nvPr/>
        </p:nvSpPr>
        <p:spPr>
          <a:xfrm xmlns:a="http://schemas.openxmlformats.org/drawingml/2006/main">
            <a:off x="571500" y="5619750"/>
            <a:ext cx="11049000" cy="419100"/>
          </a:xfrm>
          <a:prstGeom xmlns:a="http://schemas.openxmlformats.org/drawingml/2006/main" prst="roundRect">
            <a:avLst>
              <a:gd name="adj" fmla="val 18182"/>
            </a:avLst>
          </a:prstGeom>
          <a:solidFill xmlns:a="http://schemas.openxmlformats.org/drawingml/2006/main">
            <a:srgbClr val="EEF9F5"/>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E96C8630-BB9C-451C-A4EE-B7744F87ABE5}"/>
              </a:ext>
            </a:extLst>
          </p:cNvPr>
          <p:cNvSpPr>
            <a:spLocks xmlns:a="http://schemas.openxmlformats.org/drawingml/2006/main" noGrp="1"/>
          </p:cNvSpPr>
          <p:nvPr/>
        </p:nvSpPr>
        <p:spPr>
          <a:xfrm xmlns:a="http://schemas.openxmlformats.org/drawingml/2006/main">
            <a:off x="781050" y="569595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M-01은 모든 Mail 의미를 LLM으로 구조화하고, 관계·Action 선택은 STRUCTURED_RAG 경로에만 적용합니다.</a:t>
            </a:r>
          </a:p>
        </p:txBody>
      </p:sp>
    </p:spTree>
    <p:extLst>
      <p:ext uri="{BB962C8B-B14F-4D97-AF65-F5344CB8AC3E}">
        <p14:creationId xmlns:p14="http://schemas.microsoft.com/office/powerpoint/2010/main" val="2108711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834181B-3126-4DA1-8478-E9DF56D764C3}"/>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CC553B-4369-4AEE-B116-E5F350B1F64E}"/>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핵심 기술 과제와 검증</a:t>
            </a:r>
          </a:p>
        </p:txBody>
      </p:sp>
      <p:sp>
        <p:nvSpPr>
          <p:cNvPr id="3" name="">
            <a:extLst xmlns:a="http://schemas.openxmlformats.org/drawingml/2006/main">
              <a:ext uri="{FF2B5EF4-FFF2-40B4-BE49-F238E27FC236}">
                <a16:creationId xmlns:a16="http://schemas.microsoft.com/office/drawing/2014/main" id="{E2CCE609-21BB-4D02-A7A4-3DA9C945B463}"/>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F31C13-ACDB-40FB-A725-0871D6CEB5C3}"/>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04</a:t>
            </a:r>
          </a:p>
        </p:txBody>
      </p:sp>
      <p:sp>
        <p:nvSpPr>
          <p:cNvPr id="5" name="">
            <a:extLst xmlns:a="http://schemas.openxmlformats.org/drawingml/2006/main">
              <a:ext uri="{FF2B5EF4-FFF2-40B4-BE49-F238E27FC236}">
                <a16:creationId xmlns:a16="http://schemas.microsoft.com/office/drawing/2014/main" id="{B6D43B35-1A1C-438A-8DB4-04CB702236C3}"/>
              </a:ext>
            </a:extLst>
          </p:cNvPr>
          <p:cNvSpPr>
            <a:spLocks xmlns:a="http://schemas.openxmlformats.org/drawingml/2006/main" noGrp="1"/>
          </p:cNvSpPr>
          <p:nvPr/>
        </p:nvSpPr>
        <p:spPr>
          <a:xfrm xmlns:a="http://schemas.openxmlformats.org/drawingml/2006/main">
            <a:off x="571500" y="125730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C73C34"/>
                </a:solidFill>
                <a:latin typeface="Malgun Gothic"/>
                <a:ea typeface="Malgun Gothic"/>
                <a:cs typeface="Malgun Gothic"/>
              </a:defRPr>
            </a:pPr>
            <a:r>
              <a:rPr sz="1575" b="1">
                <a:solidFill>
                  <a:srgbClr val="C73C34"/>
                </a:solidFill>
                <a:latin typeface="Malgun Gothic"/>
                <a:ea typeface="Malgun Gothic"/>
                <a:cs typeface="Malgun Gothic"/>
              </a:rPr>
              <a:t>왜 고정 규칙과 단일 결론 Agent만으로 부족했는가</a:t>
            </a:r>
          </a:p>
        </p:txBody>
      </p:sp>
      <p:sp>
        <p:nvSpPr>
          <p:cNvPr id="6" name="">
            <a:extLst xmlns:a="http://schemas.openxmlformats.org/drawingml/2006/main">
              <a:ext uri="{FF2B5EF4-FFF2-40B4-BE49-F238E27FC236}">
                <a16:creationId xmlns:a16="http://schemas.microsoft.com/office/drawing/2014/main" id="{8C68C6EC-77EA-4ECA-840E-F3470093C377}"/>
              </a:ext>
            </a:extLst>
          </p:cNvPr>
          <p:cNvSpPr>
            <a:spLocks xmlns:a="http://schemas.openxmlformats.org/drawingml/2006/main" noGrp="1"/>
          </p:cNvSpPr>
          <p:nvPr/>
        </p:nvSpPr>
        <p:spPr>
          <a:xfrm xmlns:a="http://schemas.openxmlformats.org/drawingml/2006/main">
            <a:off x="571500" y="15811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033"/>
                </a:solidFill>
                <a:latin typeface="Malgun Gothic"/>
                <a:ea typeface="Malgun Gothic"/>
                <a:cs typeface="Malgun Gothic"/>
              </a:defRPr>
            </a:pPr>
            <a:r>
              <a:rPr sz="1275" b="0">
                <a:solidFill>
                  <a:srgbClr val="172033"/>
                </a:solidFill>
                <a:latin typeface="Malgun Gothic"/>
                <a:ea typeface="Malgun Gothic"/>
                <a:cs typeface="Malgun Gothic"/>
              </a:rPr>
              <a:t>Agent가 결론 하나만 내면 후보를 견준 것인지 설명을 붙인 것인지 알 수 없습니다. 멘토 피드백도 "Rule Base처럼 보인다"였습니다.</a:t>
            </a:r>
          </a:p>
        </p:txBody>
      </p:sp>
      <p:sp>
        <p:nvSpPr>
          <p:cNvPr id="7" name="">
            <a:extLst xmlns:a="http://schemas.openxmlformats.org/drawingml/2006/main">
              <a:ext uri="{FF2B5EF4-FFF2-40B4-BE49-F238E27FC236}">
                <a16:creationId xmlns:a16="http://schemas.microsoft.com/office/drawing/2014/main" id="{8D9DEF10-1B65-4D33-9858-BC4CBBE98989}"/>
              </a:ext>
            </a:extLst>
          </p:cNvPr>
          <p:cNvSpPr>
            <a:spLocks xmlns:a="http://schemas.openxmlformats.org/drawingml/2006/main" noGrp="1"/>
          </p:cNvSpPr>
          <p:nvPr/>
        </p:nvSpPr>
        <p:spPr>
          <a:xfrm xmlns:a="http://schemas.openxmlformats.org/drawingml/2006/main">
            <a:off x="571500" y="2171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0D0D711-AC4A-47F4-9EA3-A3AE6C16F539}"/>
              </a:ext>
            </a:extLst>
          </p:cNvPr>
          <p:cNvSpPr>
            <a:spLocks xmlns:a="http://schemas.openxmlformats.org/drawingml/2006/main" noGrp="1"/>
          </p:cNvSpPr>
          <p:nvPr/>
        </p:nvSpPr>
        <p:spPr>
          <a:xfrm xmlns:a="http://schemas.openxmlformats.org/drawingml/2006/main">
            <a:off x="571500" y="23431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실제 Agent 판단 흐름</a:t>
            </a:r>
          </a:p>
        </p:txBody>
      </p:sp>
      <p:sp>
        <p:nvSpPr>
          <p:cNvPr id="9" name="">
            <a:extLst xmlns:a="http://schemas.openxmlformats.org/drawingml/2006/main">
              <a:ext uri="{FF2B5EF4-FFF2-40B4-BE49-F238E27FC236}">
                <a16:creationId xmlns:a16="http://schemas.microsoft.com/office/drawing/2014/main" id="{0B7C1011-1A08-4BEC-B4C5-6FAA7E27BF51}"/>
              </a:ext>
            </a:extLst>
          </p:cNvPr>
          <p:cNvSpPr>
            <a:spLocks xmlns:a="http://schemas.openxmlformats.org/drawingml/2006/main" noGrp="1"/>
          </p:cNvSpPr>
          <p:nvPr/>
        </p:nvSpPr>
        <p:spPr>
          <a:xfrm xmlns:a="http://schemas.openxmlformats.org/drawingml/2006/main">
            <a:off x="571500" y="25527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7657D6"/>
                </a:solidFill>
                <a:latin typeface="Malgun Gothic"/>
                <a:ea typeface="Malgun Gothic"/>
                <a:cs typeface="Malgun Gothic"/>
              </a:defRPr>
            </a:pPr>
            <a:r>
              <a:rPr sz="975" b="1">
                <a:solidFill>
                  <a:srgbClr val="7657D6"/>
                </a:solidFill>
                <a:latin typeface="Malgun Gothic"/>
                <a:ea typeface="Malgun Gothic"/>
                <a:cs typeface="Malgun Gothic"/>
              </a:rPr>
              <a:t>적용 기법  |  Bounded Multi-Hypothesis Deliberation</a:t>
            </a:r>
          </a:p>
        </p:txBody>
      </p:sp>
      <p:sp>
        <p:nvSpPr>
          <p:cNvPr id="10" name="">
            <a:extLst xmlns:a="http://schemas.openxmlformats.org/drawingml/2006/main">
              <a:ext uri="{FF2B5EF4-FFF2-40B4-BE49-F238E27FC236}">
                <a16:creationId xmlns:a16="http://schemas.microsoft.com/office/drawing/2014/main" id="{6954F1BE-7879-4F4E-BC28-E0447A3A8E3A}"/>
              </a:ext>
            </a:extLst>
          </p:cNvPr>
          <p:cNvSpPr>
            <a:spLocks xmlns:a="http://schemas.openxmlformats.org/drawingml/2006/main" noGrp="1"/>
          </p:cNvSpPr>
          <p:nvPr/>
        </p:nvSpPr>
        <p:spPr>
          <a:xfrm xmlns:a="http://schemas.openxmlformats.org/drawingml/2006/main">
            <a:off x="571500" y="27432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296"/>
          </a:bodyPr>
          <a:lstStyle xmlns:a="http://schemas.openxmlformats.org/drawingml/2006/main"/>
          <a:p xmlns:a="http://schemas.openxmlformats.org/drawingml/2006/main">
            <a:pPr algn="l">
              <a:defRPr sz="938" b="0">
                <a:solidFill>
                  <a:srgbClr val="657187"/>
                </a:solidFill>
                <a:latin typeface="Malgun Gothic"/>
                <a:ea typeface="Malgun Gothic"/>
                <a:cs typeface="Malgun Gothic"/>
              </a:defRPr>
            </a:pPr>
            <a:r>
              <a:rPr sz="938" b="0">
                <a:solidFill>
                  <a:srgbClr val="657187"/>
                </a:solidFill>
                <a:latin typeface="Malgun Gothic"/>
                <a:ea typeface="Malgun Gothic"/>
                <a:cs typeface="Malgun Gothic"/>
              </a:rPr>
              <a:t>Tree of Thoughts(Yao et al., NeurIPS 2023)의 후보 생성·평가 분리 아이디어를 참고하되, 후보 2~3개·평가 1회·재검색 1회로 제한했습니다. Full Tree of Thoughts 구현은 아닙니다.</a:t>
            </a:r>
          </a:p>
        </p:txBody>
      </p:sp>
      <p:sp>
        <p:nvSpPr>
          <p:cNvPr id="11" name="">
            <a:extLst xmlns:a="http://schemas.openxmlformats.org/drawingml/2006/main">
              <a:ext uri="{FF2B5EF4-FFF2-40B4-BE49-F238E27FC236}">
                <a16:creationId xmlns:a16="http://schemas.microsoft.com/office/drawing/2014/main" id="{AF44BBD6-64F2-4E42-AEA8-3B22F789EC90}"/>
              </a:ext>
            </a:extLst>
          </p:cNvPr>
          <p:cNvSpPr>
            <a:spLocks xmlns:a="http://schemas.openxmlformats.org/drawingml/2006/main" noGrp="1"/>
          </p:cNvSpPr>
          <p:nvPr/>
        </p:nvSpPr>
        <p:spPr>
          <a:xfrm xmlns:a="http://schemas.openxmlformats.org/drawingml/2006/main">
            <a:off x="571500" y="302895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325A726-24DE-47E7-B88A-26A0D7FA1DB3}"/>
              </a:ext>
            </a:extLst>
          </p:cNvPr>
          <p:cNvSpPr>
            <a:spLocks xmlns:a="http://schemas.openxmlformats.org/drawingml/2006/main" noGrp="1"/>
          </p:cNvSpPr>
          <p:nvPr/>
        </p:nvSpPr>
        <p:spPr>
          <a:xfrm xmlns:a="http://schemas.openxmlformats.org/drawingml/2006/main">
            <a:off x="609600" y="30480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1</a:t>
            </a:r>
          </a:p>
        </p:txBody>
      </p:sp>
      <p:sp>
        <p:nvSpPr>
          <p:cNvPr id="13" name="">
            <a:extLst xmlns:a="http://schemas.openxmlformats.org/drawingml/2006/main">
              <a:ext uri="{FF2B5EF4-FFF2-40B4-BE49-F238E27FC236}">
                <a16:creationId xmlns:a16="http://schemas.microsoft.com/office/drawing/2014/main" id="{636513BD-6A66-4C29-9163-4FA6E982D95F}"/>
              </a:ext>
            </a:extLst>
          </p:cNvPr>
          <p:cNvSpPr>
            <a:spLocks xmlns:a="http://schemas.openxmlformats.org/drawingml/2006/main" noGrp="1"/>
          </p:cNvSpPr>
          <p:nvPr/>
        </p:nvSpPr>
        <p:spPr>
          <a:xfrm xmlns:a="http://schemas.openxmlformats.org/drawingml/2006/main">
            <a:off x="1104900" y="30289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입력·검색</a:t>
            </a:r>
          </a:p>
        </p:txBody>
      </p:sp>
      <p:sp>
        <p:nvSpPr>
          <p:cNvPr id="14" name="">
            <a:extLst xmlns:a="http://schemas.openxmlformats.org/drawingml/2006/main">
              <a:ext uri="{FF2B5EF4-FFF2-40B4-BE49-F238E27FC236}">
                <a16:creationId xmlns:a16="http://schemas.microsoft.com/office/drawing/2014/main" id="{918EBCEC-19FE-473A-8E3E-9CB258841909}"/>
              </a:ext>
            </a:extLst>
          </p:cNvPr>
          <p:cNvSpPr>
            <a:spLocks xmlns:a="http://schemas.openxmlformats.org/drawingml/2006/main" noGrp="1"/>
          </p:cNvSpPr>
          <p:nvPr/>
        </p:nvSpPr>
        <p:spPr>
          <a:xfrm xmlns:a="http://schemas.openxmlformats.org/drawingml/2006/main">
            <a:off x="2343150" y="30289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현재 Mail + 활성 Task + 최근 Mail 3건 + History 5건</a:t>
            </a:r>
          </a:p>
        </p:txBody>
      </p:sp>
      <p:sp>
        <p:nvSpPr>
          <p:cNvPr id="15" name="">
            <a:extLst xmlns:a="http://schemas.openxmlformats.org/drawingml/2006/main">
              <a:ext uri="{FF2B5EF4-FFF2-40B4-BE49-F238E27FC236}">
                <a16:creationId xmlns:a16="http://schemas.microsoft.com/office/drawing/2014/main" id="{F16FA7E1-D549-4E75-A33B-ACC1EDABB0BC}"/>
              </a:ext>
            </a:extLst>
          </p:cNvPr>
          <p:cNvSpPr>
            <a:spLocks xmlns:a="http://schemas.openxmlformats.org/drawingml/2006/main" noGrp="1"/>
          </p:cNvSpPr>
          <p:nvPr/>
        </p:nvSpPr>
        <p:spPr>
          <a:xfrm xmlns:a="http://schemas.openxmlformats.org/drawingml/2006/main">
            <a:off x="571500" y="340995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A9CD43A-EA23-4390-B424-987F89F87BF0}"/>
              </a:ext>
            </a:extLst>
          </p:cNvPr>
          <p:cNvSpPr>
            <a:spLocks xmlns:a="http://schemas.openxmlformats.org/drawingml/2006/main" noGrp="1"/>
          </p:cNvSpPr>
          <p:nvPr/>
        </p:nvSpPr>
        <p:spPr>
          <a:xfrm xmlns:a="http://schemas.openxmlformats.org/drawingml/2006/main">
            <a:off x="609600" y="34290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2</a:t>
            </a:r>
          </a:p>
        </p:txBody>
      </p:sp>
      <p:sp>
        <p:nvSpPr>
          <p:cNvPr id="17" name="">
            <a:extLst xmlns:a="http://schemas.openxmlformats.org/drawingml/2006/main">
              <a:ext uri="{FF2B5EF4-FFF2-40B4-BE49-F238E27FC236}">
                <a16:creationId xmlns:a16="http://schemas.microsoft.com/office/drawing/2014/main" id="{0D84C730-56FF-4A14-8BF4-EE30068506A9}"/>
              </a:ext>
            </a:extLst>
          </p:cNvPr>
          <p:cNvSpPr>
            <a:spLocks xmlns:a="http://schemas.openxmlformats.org/drawingml/2006/main" noGrp="1"/>
          </p:cNvSpPr>
          <p:nvPr/>
        </p:nvSpPr>
        <p:spPr>
          <a:xfrm xmlns:a="http://schemas.openxmlformats.org/drawingml/2006/main">
            <a:off x="1104900" y="34099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가설 생성</a:t>
            </a:r>
          </a:p>
        </p:txBody>
      </p:sp>
      <p:sp>
        <p:nvSpPr>
          <p:cNvPr id="18" name="">
            <a:extLst xmlns:a="http://schemas.openxmlformats.org/drawingml/2006/main">
              <a:ext uri="{FF2B5EF4-FFF2-40B4-BE49-F238E27FC236}">
                <a16:creationId xmlns:a16="http://schemas.microsoft.com/office/drawing/2014/main" id="{B98D9D96-AA7D-4A6C-A5D6-9880A908B97B}"/>
              </a:ext>
            </a:extLst>
          </p:cNvPr>
          <p:cNvSpPr>
            <a:spLocks xmlns:a="http://schemas.openxmlformats.org/drawingml/2006/main" noGrp="1"/>
          </p:cNvSpPr>
          <p:nvPr/>
        </p:nvSpPr>
        <p:spPr>
          <a:xfrm xmlns:a="http://schemas.openxmlformats.org/drawingml/2006/main">
            <a:off x="2343150" y="34099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가능한 관계·대상·Action 후보 2~3개를 근거와 함께 제시 (점수는 매기지 않음)</a:t>
            </a:r>
          </a:p>
        </p:txBody>
      </p:sp>
      <p:sp>
        <p:nvSpPr>
          <p:cNvPr id="19" name="">
            <a:extLst xmlns:a="http://schemas.openxmlformats.org/drawingml/2006/main">
              <a:ext uri="{FF2B5EF4-FFF2-40B4-BE49-F238E27FC236}">
                <a16:creationId xmlns:a16="http://schemas.microsoft.com/office/drawing/2014/main" id="{4F35C0DE-9E89-488A-842E-A8F2B3356AE3}"/>
              </a:ext>
            </a:extLst>
          </p:cNvPr>
          <p:cNvSpPr>
            <a:spLocks xmlns:a="http://schemas.openxmlformats.org/drawingml/2006/main" noGrp="1"/>
          </p:cNvSpPr>
          <p:nvPr/>
        </p:nvSpPr>
        <p:spPr>
          <a:xfrm xmlns:a="http://schemas.openxmlformats.org/drawingml/2006/main">
            <a:off x="571500" y="3790950"/>
            <a:ext cx="361950" cy="323850"/>
          </a:xfrm>
          <a:prstGeom xmlns:a="http://schemas.openxmlformats.org/drawingml/2006/main" prst="roundRect">
            <a:avLst>
              <a:gd name="adj" fmla="val 23529"/>
            </a:avLst>
          </a:prstGeom>
          <a:solidFill xmlns:a="http://schemas.openxmlformats.org/drawingml/2006/main">
            <a:srgbClr val="7657D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66BFA60-F496-4D05-A121-231CBA84C017}"/>
              </a:ext>
            </a:extLst>
          </p:cNvPr>
          <p:cNvSpPr>
            <a:spLocks xmlns:a="http://schemas.openxmlformats.org/drawingml/2006/main" noGrp="1"/>
          </p:cNvSpPr>
          <p:nvPr/>
        </p:nvSpPr>
        <p:spPr>
          <a:xfrm xmlns:a="http://schemas.openxmlformats.org/drawingml/2006/main">
            <a:off x="609600" y="38100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3</a:t>
            </a:r>
          </a:p>
        </p:txBody>
      </p:sp>
      <p:sp>
        <p:nvSpPr>
          <p:cNvPr id="21" name="">
            <a:extLst xmlns:a="http://schemas.openxmlformats.org/drawingml/2006/main">
              <a:ext uri="{FF2B5EF4-FFF2-40B4-BE49-F238E27FC236}">
                <a16:creationId xmlns:a16="http://schemas.microsoft.com/office/drawing/2014/main" id="{9051FA4E-D6C1-4DCE-A0C3-E02D64A5F327}"/>
              </a:ext>
            </a:extLst>
          </p:cNvPr>
          <p:cNvSpPr>
            <a:spLocks xmlns:a="http://schemas.openxmlformats.org/drawingml/2006/main" noGrp="1"/>
          </p:cNvSpPr>
          <p:nvPr/>
        </p:nvSpPr>
        <p:spPr>
          <a:xfrm xmlns:a="http://schemas.openxmlformats.org/drawingml/2006/main">
            <a:off x="1104900" y="37909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검증·평가</a:t>
            </a:r>
          </a:p>
        </p:txBody>
      </p:sp>
      <p:sp>
        <p:nvSpPr>
          <p:cNvPr id="22" name="">
            <a:extLst xmlns:a="http://schemas.openxmlformats.org/drawingml/2006/main">
              <a:ext uri="{FF2B5EF4-FFF2-40B4-BE49-F238E27FC236}">
                <a16:creationId xmlns:a16="http://schemas.microsoft.com/office/drawing/2014/main" id="{7FA30D5E-C980-4BFB-B17A-6AADD4A7175B}"/>
              </a:ext>
            </a:extLst>
          </p:cNvPr>
          <p:cNvSpPr>
            <a:spLocks xmlns:a="http://schemas.openxmlformats.org/drawingml/2006/main" noGrp="1"/>
          </p:cNvSpPr>
          <p:nvPr/>
        </p:nvSpPr>
        <p:spPr>
          <a:xfrm xmlns:a="http://schemas.openxmlformats.org/drawingml/2006/main">
            <a:off x="2343150" y="37909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Python이 후보 계약을 검증하고, 별도 평가 단계가 지지도를 매겨 하나를 선택</a:t>
            </a:r>
          </a:p>
        </p:txBody>
      </p:sp>
      <p:sp>
        <p:nvSpPr>
          <p:cNvPr id="23" name="">
            <a:extLst xmlns:a="http://schemas.openxmlformats.org/drawingml/2006/main">
              <a:ext uri="{FF2B5EF4-FFF2-40B4-BE49-F238E27FC236}">
                <a16:creationId xmlns:a16="http://schemas.microsoft.com/office/drawing/2014/main" id="{ECE30260-EED0-41FD-BC96-9D64BB23A89B}"/>
              </a:ext>
            </a:extLst>
          </p:cNvPr>
          <p:cNvSpPr>
            <a:spLocks xmlns:a="http://schemas.openxmlformats.org/drawingml/2006/main" noGrp="1"/>
          </p:cNvSpPr>
          <p:nvPr/>
        </p:nvSpPr>
        <p:spPr>
          <a:xfrm xmlns:a="http://schemas.openxmlformats.org/drawingml/2006/main">
            <a:off x="571500" y="417195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D617B9A-E6D2-4F37-81EB-9F908C9AC669}"/>
              </a:ext>
            </a:extLst>
          </p:cNvPr>
          <p:cNvSpPr>
            <a:spLocks xmlns:a="http://schemas.openxmlformats.org/drawingml/2006/main" noGrp="1"/>
          </p:cNvSpPr>
          <p:nvPr/>
        </p:nvSpPr>
        <p:spPr>
          <a:xfrm xmlns:a="http://schemas.openxmlformats.org/drawingml/2006/main">
            <a:off x="609600" y="41910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4</a:t>
            </a:r>
          </a:p>
        </p:txBody>
      </p:sp>
      <p:sp>
        <p:nvSpPr>
          <p:cNvPr id="25" name="">
            <a:extLst xmlns:a="http://schemas.openxmlformats.org/drawingml/2006/main">
              <a:ext uri="{FF2B5EF4-FFF2-40B4-BE49-F238E27FC236}">
                <a16:creationId xmlns:a16="http://schemas.microsoft.com/office/drawing/2014/main" id="{B2A1C0F2-C374-46FD-B5BE-691BC8A9762C}"/>
              </a:ext>
            </a:extLst>
          </p:cNvPr>
          <p:cNvSpPr>
            <a:spLocks xmlns:a="http://schemas.openxmlformats.org/drawingml/2006/main" noGrp="1"/>
          </p:cNvSpPr>
          <p:nvPr/>
        </p:nvSpPr>
        <p:spPr>
          <a:xfrm xmlns:a="http://schemas.openxmlformats.org/drawingml/2006/main">
            <a:off x="1104900" y="41719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재판단</a:t>
            </a:r>
          </a:p>
        </p:txBody>
      </p:sp>
      <p:sp>
        <p:nvSpPr>
          <p:cNvPr id="26" name="">
            <a:extLst xmlns:a="http://schemas.openxmlformats.org/drawingml/2006/main">
              <a:ext uri="{FF2B5EF4-FFF2-40B4-BE49-F238E27FC236}">
                <a16:creationId xmlns:a16="http://schemas.microsoft.com/office/drawing/2014/main" id="{4A2C28B0-C96C-42EF-A6EC-F891D847D40D}"/>
              </a:ext>
            </a:extLst>
          </p:cNvPr>
          <p:cNvSpPr>
            <a:spLocks xmlns:a="http://schemas.openxmlformats.org/drawingml/2006/main" noGrp="1"/>
          </p:cNvSpPr>
          <p:nvPr/>
        </p:nvSpPr>
        <p:spPr>
          <a:xfrm xmlns:a="http://schemas.openxmlformats.org/drawingml/2006/main">
            <a:off x="2343150" y="41719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모호·저신뢰이거나 선택 차이가 작으면 Query Rewrite 후 재검색을 최대 1회 수행</a:t>
            </a:r>
          </a:p>
        </p:txBody>
      </p:sp>
      <p:sp>
        <p:nvSpPr>
          <p:cNvPr id="27" name="">
            <a:extLst xmlns:a="http://schemas.openxmlformats.org/drawingml/2006/main">
              <a:ext uri="{FF2B5EF4-FFF2-40B4-BE49-F238E27FC236}">
                <a16:creationId xmlns:a16="http://schemas.microsoft.com/office/drawing/2014/main" id="{7B4C4897-3CB5-4FE3-BF31-AC594FF83FAC}"/>
              </a:ext>
            </a:extLst>
          </p:cNvPr>
          <p:cNvSpPr>
            <a:spLocks xmlns:a="http://schemas.openxmlformats.org/drawingml/2006/main" noGrp="1"/>
          </p:cNvSpPr>
          <p:nvPr/>
        </p:nvSpPr>
        <p:spPr>
          <a:xfrm xmlns:a="http://schemas.openxmlformats.org/drawingml/2006/main">
            <a:off x="571500" y="455295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AEB2038-B8DE-4A8D-B8E7-917180762160}"/>
              </a:ext>
            </a:extLst>
          </p:cNvPr>
          <p:cNvSpPr>
            <a:spLocks xmlns:a="http://schemas.openxmlformats.org/drawingml/2006/main" noGrp="1"/>
          </p:cNvSpPr>
          <p:nvPr/>
        </p:nvSpPr>
        <p:spPr>
          <a:xfrm xmlns:a="http://schemas.openxmlformats.org/drawingml/2006/main">
            <a:off x="609600" y="45720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5</a:t>
            </a:r>
          </a:p>
        </p:txBody>
      </p:sp>
      <p:sp>
        <p:nvSpPr>
          <p:cNvPr id="29" name="">
            <a:extLst xmlns:a="http://schemas.openxmlformats.org/drawingml/2006/main">
              <a:ext uri="{FF2B5EF4-FFF2-40B4-BE49-F238E27FC236}">
                <a16:creationId xmlns:a16="http://schemas.microsoft.com/office/drawing/2014/main" id="{FB3BEAE0-9108-4E6F-A1AA-704A5187E0F6}"/>
              </a:ext>
            </a:extLst>
          </p:cNvPr>
          <p:cNvSpPr>
            <a:spLocks xmlns:a="http://schemas.openxmlformats.org/drawingml/2006/main" noGrp="1"/>
          </p:cNvSpPr>
          <p:nvPr/>
        </p:nvSpPr>
        <p:spPr>
          <a:xfrm xmlns:a="http://schemas.openxmlformats.org/drawingml/2006/main">
            <a:off x="1104900" y="45529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실행·관찰</a:t>
            </a:r>
          </a:p>
        </p:txBody>
      </p:sp>
      <p:sp>
        <p:nvSpPr>
          <p:cNvPr id="30" name="">
            <a:extLst xmlns:a="http://schemas.openxmlformats.org/drawingml/2006/main">
              <a:ext uri="{FF2B5EF4-FFF2-40B4-BE49-F238E27FC236}">
                <a16:creationId xmlns:a16="http://schemas.microsoft.com/office/drawing/2014/main" id="{E915273C-040A-4C55-8EA0-EDD11870A777}"/>
              </a:ext>
            </a:extLst>
          </p:cNvPr>
          <p:cNvSpPr>
            <a:spLocks xmlns:a="http://schemas.openxmlformats.org/drawingml/2006/main" noGrp="1"/>
          </p:cNvSpPr>
          <p:nvPr/>
        </p:nvSpPr>
        <p:spPr>
          <a:xfrm xmlns:a="http://schemas.openxmlformats.org/drawingml/2006/main">
            <a:off x="2343150" y="45529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Python Guard 승인 또는 ASK_USER → DB 실행 → 실제 저장 상태 재조회</a:t>
            </a:r>
          </a:p>
        </p:txBody>
      </p:sp>
      <p:sp>
        <p:nvSpPr>
          <p:cNvPr id="31" name="">
            <a:extLst xmlns:a="http://schemas.openxmlformats.org/drawingml/2006/main">
              <a:ext uri="{FF2B5EF4-FFF2-40B4-BE49-F238E27FC236}">
                <a16:creationId xmlns:a16="http://schemas.microsoft.com/office/drawing/2014/main" id="{08220385-906C-4F4F-BA2D-B245DD1A91DD}"/>
              </a:ext>
            </a:extLst>
          </p:cNvPr>
          <p:cNvSpPr>
            <a:spLocks xmlns:a="http://schemas.openxmlformats.org/drawingml/2006/main" noGrp="1"/>
          </p:cNvSpPr>
          <p:nvPr/>
        </p:nvSpPr>
        <p:spPr>
          <a:xfrm xmlns:a="http://schemas.openxmlformats.org/drawingml/2006/main">
            <a:off x="571500" y="495300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7657D6"/>
                </a:solidFill>
                <a:latin typeface="Malgun Gothic"/>
                <a:ea typeface="Malgun Gothic"/>
                <a:cs typeface="Malgun Gothic"/>
              </a:defRPr>
            </a:pPr>
            <a:r>
              <a:rPr sz="1425" b="1">
                <a:solidFill>
                  <a:srgbClr val="7657D6"/>
                </a:solidFill>
                <a:latin typeface="Malgun Gothic"/>
                <a:ea typeface="Malgun Gothic"/>
                <a:cs typeface="Malgun Gothic"/>
              </a:rPr>
              <a:t>같은 Case·같은 코드에서 숙고만 껐다 켠 비교</a:t>
            </a:r>
          </a:p>
        </p:txBody>
      </p:sp>
      <p:sp>
        <p:nvSpPr>
          <p:cNvPr id="32" name="">
            <a:extLst xmlns:a="http://schemas.openxmlformats.org/drawingml/2006/main">
              <a:ext uri="{FF2B5EF4-FFF2-40B4-BE49-F238E27FC236}">
                <a16:creationId xmlns:a16="http://schemas.microsoft.com/office/drawing/2014/main" id="{3678D1C1-71A8-4DD4-A6D7-25E9F761B1C4}"/>
              </a:ext>
            </a:extLst>
          </p:cNvPr>
          <p:cNvSpPr>
            <a:spLocks xmlns:a="http://schemas.openxmlformats.org/drawingml/2006/main" noGrp="1"/>
          </p:cNvSpPr>
          <p:nvPr/>
        </p:nvSpPr>
        <p:spPr>
          <a:xfrm xmlns:a="http://schemas.openxmlformats.org/drawingml/2006/main">
            <a:off x="57150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기존 15 Case</a:t>
            </a:r>
          </a:p>
        </p:txBody>
      </p:sp>
      <p:sp>
        <p:nvSpPr>
          <p:cNvPr id="33" name="">
            <a:extLst xmlns:a="http://schemas.openxmlformats.org/drawingml/2006/main">
              <a:ext uri="{FF2B5EF4-FFF2-40B4-BE49-F238E27FC236}">
                <a16:creationId xmlns:a16="http://schemas.microsoft.com/office/drawing/2014/main" id="{9B8889CC-9264-476E-9E5B-542DC525B1B4}"/>
              </a:ext>
            </a:extLst>
          </p:cNvPr>
          <p:cNvSpPr>
            <a:spLocks xmlns:a="http://schemas.openxmlformats.org/drawingml/2006/main" noGrp="1"/>
          </p:cNvSpPr>
          <p:nvPr/>
        </p:nvSpPr>
        <p:spPr>
          <a:xfrm xmlns:a="http://schemas.openxmlformats.org/drawingml/2006/main">
            <a:off x="57150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15/15 · Action 28/28</a:t>
            </a:r>
          </a:p>
        </p:txBody>
      </p:sp>
      <p:sp>
        <p:nvSpPr>
          <p:cNvPr id="34" name="">
            <a:extLst xmlns:a="http://schemas.openxmlformats.org/drawingml/2006/main">
              <a:ext uri="{FF2B5EF4-FFF2-40B4-BE49-F238E27FC236}">
                <a16:creationId xmlns:a16="http://schemas.microsoft.com/office/drawing/2014/main" id="{8594AFAD-8B3E-4FA5-AB2D-B60A1357F48B}"/>
              </a:ext>
            </a:extLst>
          </p:cNvPr>
          <p:cNvSpPr>
            <a:spLocks xmlns:a="http://schemas.openxmlformats.org/drawingml/2006/main" noGrp="1"/>
          </p:cNvSpPr>
          <p:nvPr/>
        </p:nvSpPr>
        <p:spPr>
          <a:xfrm xmlns:a="http://schemas.openxmlformats.org/drawingml/2006/main">
            <a:off x="57150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숙고 On·Off 동일, 시간만 증가</a:t>
            </a:r>
          </a:p>
        </p:txBody>
      </p:sp>
      <p:sp>
        <p:nvSpPr>
          <p:cNvPr id="35" name="">
            <a:extLst xmlns:a="http://schemas.openxmlformats.org/drawingml/2006/main">
              <a:ext uri="{FF2B5EF4-FFF2-40B4-BE49-F238E27FC236}">
                <a16:creationId xmlns:a16="http://schemas.microsoft.com/office/drawing/2014/main" id="{A3E49C49-7B1E-44CE-99EC-75CCB507D290}"/>
              </a:ext>
            </a:extLst>
          </p:cNvPr>
          <p:cNvSpPr>
            <a:spLocks xmlns:a="http://schemas.openxmlformats.org/drawingml/2006/main" noGrp="1"/>
          </p:cNvSpPr>
          <p:nvPr/>
        </p:nvSpPr>
        <p:spPr>
          <a:xfrm xmlns:a="http://schemas.openxmlformats.org/drawingml/2006/main">
            <a:off x="424815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숙고 전용 4 Case</a:t>
            </a:r>
          </a:p>
        </p:txBody>
      </p:sp>
      <p:sp>
        <p:nvSpPr>
          <p:cNvPr id="36" name="">
            <a:extLst xmlns:a="http://schemas.openxmlformats.org/drawingml/2006/main">
              <a:ext uri="{FF2B5EF4-FFF2-40B4-BE49-F238E27FC236}">
                <a16:creationId xmlns:a16="http://schemas.microsoft.com/office/drawing/2014/main" id="{8EFA454D-3F5A-4152-8BBC-47D63143B68A}"/>
              </a:ext>
            </a:extLst>
          </p:cNvPr>
          <p:cNvSpPr>
            <a:spLocks xmlns:a="http://schemas.openxmlformats.org/drawingml/2006/main" noGrp="1"/>
          </p:cNvSpPr>
          <p:nvPr/>
        </p:nvSpPr>
        <p:spPr>
          <a:xfrm xmlns:a="http://schemas.openxmlformats.org/drawingml/2006/main">
            <a:off x="424815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재현되는 차이 1건</a:t>
            </a:r>
          </a:p>
        </p:txBody>
      </p:sp>
      <p:sp>
        <p:nvSpPr>
          <p:cNvPr id="37" name="">
            <a:extLst xmlns:a="http://schemas.openxmlformats.org/drawingml/2006/main">
              <a:ext uri="{FF2B5EF4-FFF2-40B4-BE49-F238E27FC236}">
                <a16:creationId xmlns:a16="http://schemas.microsoft.com/office/drawing/2014/main" id="{09ECA76B-A625-4C48-8176-3A28A49A2F1F}"/>
              </a:ext>
            </a:extLst>
          </p:cNvPr>
          <p:cNvSpPr>
            <a:spLocks xmlns:a="http://schemas.openxmlformats.org/drawingml/2006/main" noGrp="1"/>
          </p:cNvSpPr>
          <p:nvPr/>
        </p:nvSpPr>
        <p:spPr>
          <a:xfrm xmlns:a="http://schemas.openxmlformats.org/drawingml/2006/main">
            <a:off x="424815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DLB-02: On 3/3 통과, Off 3/3 실패</a:t>
            </a:r>
          </a:p>
        </p:txBody>
      </p:sp>
      <p:sp>
        <p:nvSpPr>
          <p:cNvPr id="38" name="">
            <a:extLst xmlns:a="http://schemas.openxmlformats.org/drawingml/2006/main">
              <a:ext uri="{FF2B5EF4-FFF2-40B4-BE49-F238E27FC236}">
                <a16:creationId xmlns:a16="http://schemas.microsoft.com/office/drawing/2014/main" id="{DD60F613-675D-4DD4-975C-1C5C4545DD6D}"/>
              </a:ext>
            </a:extLst>
          </p:cNvPr>
          <p:cNvSpPr>
            <a:spLocks xmlns:a="http://schemas.openxmlformats.org/drawingml/2006/main" noGrp="1"/>
          </p:cNvSpPr>
          <p:nvPr/>
        </p:nvSpPr>
        <p:spPr>
          <a:xfrm xmlns:a="http://schemas.openxmlformats.org/drawingml/2006/main">
            <a:off x="792480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실제 Gmail 재현</a:t>
            </a:r>
          </a:p>
        </p:txBody>
      </p:sp>
      <p:sp>
        <p:nvSpPr>
          <p:cNvPr id="39" name="">
            <a:extLst xmlns:a="http://schemas.openxmlformats.org/drawingml/2006/main">
              <a:ext uri="{FF2B5EF4-FFF2-40B4-BE49-F238E27FC236}">
                <a16:creationId xmlns:a16="http://schemas.microsoft.com/office/drawing/2014/main" id="{AB455AAC-F5C8-48AE-B4D4-F75B1555FB0E}"/>
              </a:ext>
            </a:extLst>
          </p:cNvPr>
          <p:cNvSpPr>
            <a:spLocks xmlns:a="http://schemas.openxmlformats.org/drawingml/2006/main" noGrp="1"/>
          </p:cNvSpPr>
          <p:nvPr/>
        </p:nvSpPr>
        <p:spPr>
          <a:xfrm xmlns:a="http://schemas.openxmlformats.org/drawingml/2006/main">
            <a:off x="792480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새 메일 4건 처리</a:t>
            </a:r>
          </a:p>
        </p:txBody>
      </p:sp>
      <p:sp>
        <p:nvSpPr>
          <p:cNvPr id="40" name="">
            <a:extLst xmlns:a="http://schemas.openxmlformats.org/drawingml/2006/main">
              <a:ext uri="{FF2B5EF4-FFF2-40B4-BE49-F238E27FC236}">
                <a16:creationId xmlns:a16="http://schemas.microsoft.com/office/drawing/2014/main" id="{F9F9FB5D-D4AE-4C43-AB5D-71BD3A0E328C}"/>
              </a:ext>
            </a:extLst>
          </p:cNvPr>
          <p:cNvSpPr>
            <a:spLocks xmlns:a="http://schemas.openxmlformats.org/drawingml/2006/main" noGrp="1"/>
          </p:cNvSpPr>
          <p:nvPr/>
        </p:nvSpPr>
        <p:spPr>
          <a:xfrm xmlns:a="http://schemas.openxmlformats.org/drawingml/2006/main">
            <a:off x="792480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2건 Task 생성, 2건 ASK_USER</a:t>
            </a:r>
          </a:p>
        </p:txBody>
      </p:sp>
      <p:sp>
        <p:nvSpPr>
          <p:cNvPr id="41" name="">
            <a:extLst xmlns:a="http://schemas.openxmlformats.org/drawingml/2006/main">
              <a:ext uri="{FF2B5EF4-FFF2-40B4-BE49-F238E27FC236}">
                <a16:creationId xmlns:a16="http://schemas.microsoft.com/office/drawing/2014/main" id="{7DC7F027-43D3-403E-86ED-D7EA13B2833E}"/>
              </a:ext>
            </a:extLst>
          </p:cNvPr>
          <p:cNvSpPr>
            <a:spLocks xmlns:a="http://schemas.openxmlformats.org/drawingml/2006/main" noGrp="1"/>
          </p:cNvSpPr>
          <p:nvPr/>
        </p:nvSpPr>
        <p:spPr>
          <a:xfrm xmlns:a="http://schemas.openxmlformats.org/drawingml/2006/main">
            <a:off x="571500" y="60579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Next Step  |  Gmail 검증 결과를 바탕으로 Outlook·Graph Adapter와 사내 인증·운영 서버로 전환</a:t>
            </a:r>
          </a:p>
        </p:txBody>
      </p:sp>
      <p:sp>
        <p:nvSpPr>
          <p:cNvPr id="42" name="">
            <a:extLst xmlns:a="http://schemas.openxmlformats.org/drawingml/2006/main">
              <a:ext uri="{FF2B5EF4-FFF2-40B4-BE49-F238E27FC236}">
                <a16:creationId xmlns:a16="http://schemas.microsoft.com/office/drawing/2014/main" id="{0FACA7BE-02FB-4B65-8B25-B3EF3D3E478D}"/>
              </a:ext>
            </a:extLst>
          </p:cNvPr>
          <p:cNvSpPr>
            <a:spLocks xmlns:a="http://schemas.openxmlformats.org/drawingml/2006/main" noGrp="1"/>
          </p:cNvSpPr>
          <p:nvPr/>
        </p:nvSpPr>
        <p:spPr>
          <a:xfrm xmlns:a="http://schemas.openxmlformats.org/drawingml/2006/main">
            <a:off x="571500" y="63055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C73C34"/>
                </a:solidFill>
                <a:latin typeface="Malgun Gothic"/>
                <a:ea typeface="Malgun Gothic"/>
                <a:cs typeface="Malgun Gothic"/>
              </a:defRPr>
            </a:pPr>
            <a:r>
              <a:rPr sz="1050" b="1">
                <a:solidFill>
                  <a:srgbClr val="C73C34"/>
                </a:solidFill>
                <a:latin typeface="Malgun Gothic"/>
                <a:ea typeface="Malgun Gothic"/>
                <a:cs typeface="Malgun Gothic"/>
              </a:rPr>
              <a:t>실패  |  계약 위반 응답을 재시도 없이 실패 처리해 판단 4건 유실</a:t>
            </a:r>
          </a:p>
        </p:txBody>
      </p:sp>
      <p:sp>
        <p:nvSpPr>
          <p:cNvPr id="43" name="">
            <a:extLst xmlns:a="http://schemas.openxmlformats.org/drawingml/2006/main">
              <a:ext uri="{FF2B5EF4-FFF2-40B4-BE49-F238E27FC236}">
                <a16:creationId xmlns:a16="http://schemas.microsoft.com/office/drawing/2014/main" id="{ACEE9718-8328-47B1-8A38-2C3EA3DE4535}"/>
              </a:ext>
            </a:extLst>
          </p:cNvPr>
          <p:cNvSpPr>
            <a:spLocks xmlns:a="http://schemas.openxmlformats.org/drawingml/2006/main" noGrp="1"/>
          </p:cNvSpPr>
          <p:nvPr/>
        </p:nvSpPr>
        <p:spPr>
          <a:xfrm xmlns:a="http://schemas.openxmlformats.org/drawingml/2006/main">
            <a:off x="7239000" y="6305550"/>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38A62"/>
                </a:solidFill>
                <a:latin typeface="Malgun Gothic"/>
                <a:ea typeface="Malgun Gothic"/>
                <a:cs typeface="Malgun Gothic"/>
              </a:defRPr>
            </a:pPr>
            <a:r>
              <a:rPr sz="1050" b="1">
                <a:solidFill>
                  <a:srgbClr val="138A62"/>
                </a:solidFill>
                <a:latin typeface="Malgun Gothic"/>
                <a:ea typeface="Malgun Gothic"/>
                <a:cs typeface="Malgun Gothic"/>
              </a:rPr>
              <a:t>개선  |  검증을 재시도 루프 안으로 이동, 유실 0건</a:t>
            </a:r>
          </a:p>
        </p:txBody>
      </p:sp>
    </p:spTree>
    <p:extLst>
      <p:ext uri="{BB962C8B-B14F-4D97-AF65-F5344CB8AC3E}">
        <p14:creationId xmlns:p14="http://schemas.microsoft.com/office/powerpoint/2010/main" val="21055666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2026-09-15T12:28:06.1920000Z</dcterms:created>
  <dcterms:modified xsi:type="dcterms:W3CDTF">2026-09-15T12:28:06.1920000Z</dcterms:modified>
</coreProperties>
</file>