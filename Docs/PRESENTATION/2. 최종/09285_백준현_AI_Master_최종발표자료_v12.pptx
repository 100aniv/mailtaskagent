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d360f15f6c45a8" /><Relationship Type="http://schemas.openxmlformats.org/officeDocument/2006/relationships/extended-properties" Target="/docProps/app.xml" Id="Rcdd3cc1e0226459d" /><Relationship Type="http://schemas.openxmlformats.org/officeDocument/2006/relationships/officeDocument" Target="/ppt/presentation.xml" Id="R1480467161a14a06" /></Relationships>
</file>

<file path=ppt/presentation.xml><?xml version="1.0" encoding="utf-8"?>
<p:presentation xmlns:p="http://schemas.openxmlformats.org/presentationml/2006/main">
  <p:sldMasterIdLst>
    <p:sldMasterId xmlns:r="http://schemas.openxmlformats.org/officeDocument/2006/relationships" id="2147483648" r:id="R46176f043030474a"/>
  </p:sldMasterIdLst>
  <p:notesMasterIdLst>
    <p:notesMasterId xmlns:r="http://schemas.openxmlformats.org/officeDocument/2006/relationships" r:id="R42decd384bcb4d21"/>
  </p:notesMasterIdLst>
  <p:sldIdLst>
    <p:sldId xmlns:r="http://schemas.openxmlformats.org/officeDocument/2006/relationships" id="256" r:id="Rab3dd916f49b421e"/>
    <p:sldId xmlns:r="http://schemas.openxmlformats.org/officeDocument/2006/relationships" id="257" r:id="Re540fb3e453f4a4d"/>
    <p:sldId xmlns:r="http://schemas.openxmlformats.org/officeDocument/2006/relationships" id="258" r:id="R69c6203641684b55"/>
    <p:sldId xmlns:r="http://schemas.openxmlformats.org/officeDocument/2006/relationships" id="259" r:id="Rcf3bef0f1d6944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009bade2544b68" /><Relationship Type="http://schemas.openxmlformats.org/officeDocument/2006/relationships/slideMaster" Target="/ppt/slideMasters/slideMaster1.xml" Id="R46176f043030474a" /><Relationship Type="http://schemas.openxmlformats.org/officeDocument/2006/relationships/notesMaster" Target="/ppt/notesMasters/notesMaster1.xml" Id="R42decd384bcb4d21" /><Relationship Type="http://schemas.openxmlformats.org/officeDocument/2006/relationships/presProps" Target="/ppt/presProps.xml" Id="R89ba78cbc6c54073" /><Relationship Type="http://schemas.openxmlformats.org/officeDocument/2006/relationships/tableStyles" Target="/ppt/tableStyles.xml" Id="R07d6503410e54a80" /><Relationship Type="http://schemas.openxmlformats.org/officeDocument/2006/relationships/slide" Target="/ppt/slides/slide1.xml" Id="Rab3dd916f49b421e" /><Relationship Type="http://schemas.openxmlformats.org/officeDocument/2006/relationships/slide" Target="/ppt/slides/slide2.xml" Id="Re540fb3e453f4a4d" /><Relationship Type="http://schemas.openxmlformats.org/officeDocument/2006/relationships/slide" Target="/ppt/slides/slide3.xml" Id="R69c6203641684b55" /><Relationship Type="http://schemas.openxmlformats.org/officeDocument/2006/relationships/slide" Target="/ppt/slides/slide4.xml" Id="Rcf3bef0f1d6944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abf56f0a574c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eaf01236794543" /><Relationship Type="http://schemas.openxmlformats.org/officeDocument/2006/relationships/notesMaster" Target="/ppt/notesMasters/notesMaster1.xml" Id="R1a299f772a724e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e7e7c79dad48c1" /><Relationship Type="http://schemas.openxmlformats.org/officeDocument/2006/relationships/notesMaster" Target="/ppt/notesMasters/notesMaster1.xml" Id="R8032c7d51e5b49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0c1f0c89a34de4" /><Relationship Type="http://schemas.openxmlformats.org/officeDocument/2006/relationships/notesMaster" Target="/ppt/notesMasters/notesMaster1.xml" Id="R960a2c40c4e246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18adb9af584066" /><Relationship Type="http://schemas.openxmlformats.org/officeDocument/2006/relationships/notesMaster" Target="/ppt/notesMasters/notesMaster1.xml" Id="R24fbe377f5de43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문제·기능 2분, 아키텍처 3분, 핵심 기술 과제 4분으로 약 9분이다. 10분 제한에 1분 여유를 남긴 배분이므로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 측정하려면 같은 메일 묶음을 손으로 분류할 때와 이 도구를 쓸 때의 소요를 같은 사용자가 번갈아 재야 하는데, 사용자가 저 한 명이라 순서 효과를 걷어낼 방법이 없었습니다.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엠 영이가 이 프로젝트의 알에이지입니다. 외부 문서를 찾는 지식 알에이지가 아니라, 판단에 필요한 과거 업무 맥락을 제 에스큐엘라이트에서 찾아오는 태스크 컨텍스트 알에이지입니다. 활성 업무 다섯 건, 각 업무의 최근 메일 세 건과 변경 이력 다섯 건, 사용자가 과거에 확정한 결정을 함께 가져옵니다. 지난 결정이 다음 판단의 근거로 다시 들어갑니다.</a:t>
            </a:r>
          </a:p>
          <a:p xmlns:a="http://schemas.openxmlformats.org/drawingml/2006/main">
            <a:r>
              <a:t/>
            </a:r>
          </a:p>
          <a:p xmlns:a="http://schemas.openxmlformats.org/drawingml/2006/main">
            <a:r>
              <a:t>네 용어의 역할이 다릅니다. 알에이지는 맥락을 가져오는 단계, 리액트는 그 맥락을 관찰해 행동을 정하고 실행 결과를 다시 관찰하는 바깥 루프, 셀프 커렉션은 그 루프 안에서 확신이 부족할 때 검색어를 바꿔 한 번 다시 찾고 다시 판단하는 부분입니다. 파이썬 가드는 에이전트의 판단을 대신하는 자리가 아니라 그 판단을 실행해도 되는지 확인하는 경계입니다. 흐름으로 읽으면 관찰, 검색, 판단, 실행, 재관찰입니다.</a:t>
            </a:r>
          </a:p>
          <a:p xmlns:a="http://schemas.openxmlformats.org/drawingml/2006/main">
            <a:r>
              <a:t/>
            </a:r>
          </a:p>
          <a:p xmlns:a="http://schemas.openxmlformats.org/drawingml/2006/main">
            <a:r>
              <a:t>벡터 디비를 쓰지 않은 이유는 개인의 활성 업무가 수십 건 규모라 에스큐엘라이트 조회만으로 충분했고 구성요소를 늘리는 비용이 더 컸기 때문입니다.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랭그래프도 쓰지 않았습니다. 에이전트가 하나이고 상태가 Task 다섯 개와 Action 일곱 개로 닫혀 있어, 파이썬 상태와 가드만으로 검증이 더 쉬웠습니다. 분기와 중단, 재개가 복잡해지는 시점에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있었는데, 그 Agent가 결론을 하나만 돌려줬습니다. 관계 하나, 대상 하나, 행동 하나에 설명 한 줄입니다. 이러면 모델이 후보를 실제로 견줬는지, 결론을 먼저 정하고 설명을 붙였는지 밖에서 구분할 방법이 없습니다. 멘토님 피드백도 매번 같았습니다. 룰 베이스처럼 보인다, 어떤 후보를 검토했는지 보여 달라. 막힌 곳은 판단의 품질이 아니라 검증 가능성이었습니다.</a:t>
            </a:r>
          </a:p>
          <a:p xmlns:a="http://schemas.openxmlformats.org/drawingml/2006/main">
            <a:r>
              <a:t/>
            </a:r>
          </a:p>
          <a:p xmlns:a="http://schemas.openxmlformats.org/drawingml/2006/main">
            <a:r>
              <a:t>그래서 적용한 기법이 화면에 적힌 제한적 다중 가설 숙고입니다. 먼저 앞 장과의 관계를 정리하겠습니다. 숙고는 한 번의 판단 안에서 후보를 견주는 안쪽 단계이고, 리액트는 그 판단을 검색과 실행, 재관찰로 감싸는 바깥 루프입니다. 숙고가 리액트를 대체한 것이 아니라 리액트의 판단 단계를 두 호출로 쪼갠 것입니다. 트리 오브 소트를 구현한 것이 아니라, 후보 생성과 평가를 분리한다는 아이디어만 참고했습니다. 메일 한 건을 업무로 옮기는 판단은 단계가 깊지 않은 대신 틀렸을 때 비용이 업무 데이터 오변경이라, 후보 두세 개, 평가 한 번, 재검색 한 번으로 묶고 결정론적 가드와 사용자 승인으로 막는 쪽을 택했습니다. 핵심은 생성과 평가를 서로 다른 호출로 나눈 것입니다.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회차마다 출력이 달라져 각 설정을 세 번씩 돌렸고, 통과 수는 켠 쪽이 삼, 삼, 이, 끈 쪽이 이, 이, 이입니다.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건이고, 엘엘엠을 호출하지 않는 목 경로에서는 양쪽 모두 사 대 사로 차이가 없습니다.</a:t>
            </a:r>
          </a:p>
          <a:p xmlns:a="http://schemas.openxmlformats.org/drawingml/2006/main">
            <a:r>
              <a:t/>
            </a:r>
          </a:p>
          <a:p xmlns:a="http://schemas.openxmlformats.org/drawingml/2006/main">
            <a:r>
              <a:t>실패도 말씀드리겠습니다. 응답 검증을 재시도 루프 밖에 두어서, 모델이 필드 하나를 배열로 돌려준 것만으로 판단 전체가 실패했습니다. 저장해 둔 실제 지메일 서른다섯 건을 다시 흘려보냈을 때 판단 네 건이 사라졌고, 합성 테스트가 아니라 실제 데이터 재생에서 잡혔습니다. 검증을 루프 안으로 옮긴 뒤 유실은 0건입니다.</a:t>
            </a:r>
          </a:p>
          <a:p xmlns:a="http://schemas.openxmlformats.org/drawingml/2006/main">
            <a:r>
              <a:t/>
            </a:r>
          </a:p>
          <a:p xmlns:a="http://schemas.openxmlformats.org/drawingml/2006/main">
            <a:r>
              <a:t>두 번째는 기대값과 동작 중 어느 쪽이 틀렸는지 따져야 했던 건입니다. 검색 결과 안에 명령을 심어 둔 케이스가 세 번 모두 기대값인 사용자 확인 대신 무시로 끝났습니다. 그 메일은 순수 주입이 아니라 정상 회신 내용과 주입된 명령이 섞인 혼합 메일이고 정답도 업무 요청 참이었는데, 제 프롬프트가 프롬프트 인젝션을 공지·광고와 같은 줄에 두고 업무 요청이 아닌 사유로 제시해서 모델이 메일 전체를 버렸습니다. 원칙은 본문의 명령을 실행하지 않는다이지 명령이 섞인 메일을 버린다가 아닙니다. 기대값은 그대로 두고 규칙만 분리했더니 세 번 모두 통과하고, 숙고 전용 통과 수는 삼, 사, 사가 되었습니다. 명령만 들어 있는 순수 주입은 그대로 무시로 끝나 둘의 구분이 유지되고, 본문이 지시한 전체 완료 처리와 기록 삭제는 수정 전후 어느 회차에서도 일어나지 않았습니다.</a:t>
            </a:r>
          </a:p>
          <a:p xmlns:a="http://schemas.openxmlformats.org/drawingml/2006/main">
            <a:r>
              <a:t/>
            </a:r>
          </a:p>
          <a:p xmlns:a="http://schemas.openxmlformats.org/drawingml/2006/main">
            <a:r>
              <a:t>남은 한계도 말씀드리겠습니다. 화면의 신뢰도와 지지도는 모델의 자기보고 값이지 검증된 정답 확률이 아닙니다. 사용자 체감 시간은 신뢰할 Baseline을 얻지 못해 미측정으로 남겼습니다.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evidence/dlb04_injection_adjudication_2026-09-15.json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c2f413b8ea4f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adfa85f39f4f77" /><Relationship Type="http://schemas.openxmlformats.org/officeDocument/2006/relationships/slideLayout" Target="/ppt/slideLayouts/slideLayout1.xml" Id="R814c52a483694e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4c52a483694e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7cdfd9060f4cd9" /><Relationship Type="http://schemas.openxmlformats.org/officeDocument/2006/relationships/notesSlide" Target="/ppt/notesSlides/notesSlide1.xml" Id="Rcba425440f384f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5766c4334c45da" /><Relationship Type="http://schemas.openxmlformats.org/officeDocument/2006/relationships/notesSlide" Target="/ppt/notesSlides/notesSlide2.xml" Id="Re4c5da354d3c4d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e1bbec5c8441d0" /><Relationship Type="http://schemas.openxmlformats.org/officeDocument/2006/relationships/notesSlide" Target="/ppt/notesSlides/notesSlide3.xml" Id="Rf00644ea99ae48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f40c7f4c31a43fd" /><Relationship Type="http://schemas.openxmlformats.org/officeDocument/2006/relationships/notesSlide" Target="/ppt/notesSlides/notesSlide4.xml" Id="Ra62c95c4bf5b4c55"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9F78F8-2EE2-4FE9-923B-05DAEB998680}"/>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94A82E-55E1-4C58-A0AC-2A4BB22CE232}"/>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67752625-C77E-4C13-A29D-BBF7DB454895}"/>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01527271-9785-44C4-A903-204B53B1B801}"/>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62419A40-A2B1-47D1-99B0-1F829ECBC572}"/>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9A08FC-E9F0-4536-BA57-E7463B81E7B7}"/>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8198C706-86A1-4839-8038-125DBFF0B730}"/>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F6E4A886-29DC-4268-AC5D-B2D70CB85006}"/>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9073218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E7D6C455-9E08-4FD9-B5C6-788A8C8B932E}"/>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6D22A8-1209-407B-93D2-32081ACB285B}"/>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8EDDF49F-CA31-4374-86EA-1DCD8290C19D}"/>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AA159A-E4BE-4105-B460-1208FA7C4B78}"/>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2F28005E-6E87-4E89-8033-6FEA698082CA}"/>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A3C2248F-EFEC-4BC3-94FF-0FA7EF369DBA}"/>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4FEDC4D7-77EA-4715-A5D2-C06723490CF8}"/>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5B7D9852-4FC7-4C11-8DCB-F7E78D665330}"/>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2A5DB0-5C53-4E6D-8A66-D05F49B2CDFC}"/>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3A472772-F36D-4CF6-8B03-F2A4023D24AB}"/>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747F0817-5EDB-4DE8-91D3-6DD8DA7E29CE}"/>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21978C-8055-447B-81F3-E3925E99FA62}"/>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7D83756E-4BCF-4AB0-8C5E-CBE72C2F7D0B}"/>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3108ADF-2A7A-4961-9A82-CE07A9FFA587}"/>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A6AB23A2-B093-437A-B9F9-9D05813CC97C}"/>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00C03AA0-DF75-4DCB-B896-515D414FE0A4}"/>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750649C-5326-487A-80D8-64A032354976}"/>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7093FD12-79B6-43D6-B563-4242B4C6C38E}"/>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EF77772-CA67-40B0-8330-3EE793832DCA}"/>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592CBB99-F340-42F2-B214-57F9E326FCB1}"/>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0BB5F308-76E2-49E2-A0CF-E81B16573F30}"/>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1A9D7CA-E6CF-4648-B81B-8072D6AD62C4}"/>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39DFEACE-CBD9-4176-910E-2B3D7DD83EDE}"/>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644AFEB-BE40-42FC-90D5-2AD91628DDB3}"/>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69F0FA7E-AE5B-4BDE-89FA-16FF8055DF7D}"/>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E80ACA26-52A1-4E6E-AAA2-8BDE709EA5C5}"/>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9559DDD-7B8F-4608-BE48-89F3303E47E9}"/>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21F64E0D-87E6-4628-AB5A-8239CF10AC0C}"/>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28DB58-CA44-428C-B75C-C6039B564EE3}"/>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BFFD78D4-BEE5-40BD-8DFD-EC786D8ABAF8}"/>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622359F8-A2F5-4343-920D-A059FC789C26}"/>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84E8A899-9B34-460B-8547-A0746557B9EB}"/>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42FCCE6D-4C4D-40C7-9E6E-3F6FAF2FDA1A}"/>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912BC311-5FA9-463A-A752-8A4D9DA07C24}"/>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74E56CBC-4EB7-460D-AB2E-6D9CAE373704}"/>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7D164BE8-57C6-4626-B707-F26C3B9B3CEA}"/>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5CC89D65-5AF5-4BFB-B244-74965368AC26}"/>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51FD696C-0DBE-4458-B306-364906B3789A}"/>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0CBF763F-9A7D-448B-84C1-59BA63EB0E7A}"/>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E38F218C-7170-4170-8A9D-93298085EF63}"/>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228 passed  ·  중복 재조회 35/35</a:t>
            </a:r>
          </a:p>
        </p:txBody>
      </p:sp>
      <p:sp>
        <p:nvSpPr>
          <p:cNvPr id="41" name="">
            <a:extLst xmlns:a="http://schemas.openxmlformats.org/drawingml/2006/main">
              <a:ext uri="{FF2B5EF4-FFF2-40B4-BE49-F238E27FC236}">
                <a16:creationId xmlns:a16="http://schemas.microsoft.com/office/drawing/2014/main" id="{D1AD4CFF-7598-408B-851D-35CB4FEBD944}"/>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C67CE3CD-86E5-45A9-AB61-42C09037F93A}"/>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E2C81024-F463-4FFB-85AD-581F6F97B60A}"/>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09C9B169-4A7A-4A2E-B065-FD0E7CE9B90C}"/>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B0346F2-8F82-43D8-A18D-AC983AB5F552}"/>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3768665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69CB6C18-25BA-4D33-A11A-BEA642DF8221}"/>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9FF240-13DC-4646-931A-F84BF617810A}"/>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EFC94DEB-F33E-4583-9875-2C069C7A0B6A}"/>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FF4680-A91E-4D3D-A5F0-E8D2322AD76E}"/>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86ADC36E-ADA2-4E84-BC7D-14D591D381E1}"/>
              </a:ext>
            </a:extLst>
          </p:cNvPr>
          <p:cNvSpPr>
            <a:spLocks xmlns:a="http://schemas.openxmlformats.org/drawingml/2006/main" noGrp="1"/>
          </p:cNvSpPr>
          <p:nvPr/>
        </p:nvSpPr>
        <p:spPr>
          <a:xfrm xmlns:a="http://schemas.openxmlformats.org/drawingml/2006/main">
            <a:off x="571500" y="1200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A7788689-680A-4B4B-8E50-6103E4845F2E}"/>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1249C2E5-3C4A-4707-9AF0-06B1847E48F2}"/>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32B4B8-4860-4F46-9FBC-BA238DA6FEFB}"/>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1115566C-9C69-44B0-8690-D12BA0A8639C}"/>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5A46C7D7-DEFB-4FC8-82F5-A856CC9A0357}"/>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F4DE997E-874B-40A4-8622-963CF0962BA4}"/>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F2D581-0F25-426B-B1E3-F0C0ABE9943E}"/>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024F83B6-1D63-4410-9EA2-6F13775ACBAA}"/>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8211C3-F4EF-4183-896A-2F840AD75DEA}"/>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A60027F4-D419-46F6-8882-B0F8B743655E}"/>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32"/>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Context RAG</a:t>
            </a:r>
          </a:p>
        </p:txBody>
      </p:sp>
      <p:sp>
        <p:nvSpPr>
          <p:cNvPr id="16" name="">
            <a:extLst xmlns:a="http://schemas.openxmlformats.org/drawingml/2006/main">
              <a:ext uri="{FF2B5EF4-FFF2-40B4-BE49-F238E27FC236}">
                <a16:creationId xmlns:a16="http://schemas.microsoft.com/office/drawing/2014/main" id="{0A150B9B-0EEF-4A47-B7C4-5DABF07DD1B9}"/>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top-k 검색</a:t>
            </a:r>
          </a:p>
        </p:txBody>
      </p:sp>
      <p:sp>
        <p:nvSpPr>
          <p:cNvPr id="17" name="">
            <a:extLst xmlns:a="http://schemas.openxmlformats.org/drawingml/2006/main">
              <a:ext uri="{FF2B5EF4-FFF2-40B4-BE49-F238E27FC236}">
                <a16:creationId xmlns:a16="http://schemas.microsoft.com/office/drawing/2014/main" id="{E587C59A-2D10-4D79-830A-F022E2A2F2DB}"/>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661D9D6-19C1-4D00-BF76-A2F8AAA79499}"/>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0F7699E9-2CC8-4B34-B39B-F3028E42FF77}"/>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2CADD41-82FA-427D-B0F1-53AFDBF735BC}"/>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DC8F2EF5-F5CB-46EA-AD45-1B2A7AEF66E7}"/>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505D5FAA-B911-48F1-AB6A-622624495141}"/>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A8DCCD34-1686-4C8A-9250-8334D6C6B6D2}"/>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94748F1-C119-4A0A-BA83-5CB051AEE8D9}"/>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A4AC8D93-60DB-421D-842D-8B9ABEED1D67}"/>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7824557-B7E9-41D5-ABB1-A9401CDF540D}"/>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7D448AD3-D0B6-4CDC-A9E0-7BA0CD10F675}"/>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6A8D3AE7-D45E-4347-B4EC-8A75C05F6222}"/>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2AB37C5E-6D76-4854-8490-7DE872C1D95E}"/>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D90549E9-3338-4A5C-BC02-11477B05BAE0}"/>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38494FAD-B77B-469F-88E0-D1C8DA1121F4}"/>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BF0BC6C1-B066-408A-8161-B1BF9E9E0F48}"/>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4E27B85F-F3D6-4206-AA2A-99B39FA0710D}"/>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C3328018-682F-4CDC-AD81-3D4605C6B8A4}"/>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DCCAC21B-4178-4BD3-92DA-EAC92A3DDE71}"/>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169117A-6A11-4571-9516-D5453D7D33FC}"/>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03EB4AD0-1FF5-4C0B-B8D4-49C3668235E2}"/>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0983BD9D-F453-4F98-9A69-1386CBB1621C}"/>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4770B9B6-D556-4AA7-B39B-EE08F605FBFB}"/>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C9B9EDBD-7BC8-42B4-815F-682C230394B8}"/>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564F3662-76E8-4B87-94C8-B0E8F332A62D}"/>
              </a:ext>
            </a:extLst>
          </p:cNvPr>
          <p:cNvSpPr>
            <a:spLocks xmlns:a="http://schemas.openxmlformats.org/drawingml/2006/main" noGrp="1"/>
          </p:cNvSpPr>
          <p:nvPr/>
        </p:nvSpPr>
        <p:spPr>
          <a:xfrm xmlns:a="http://schemas.openxmlformats.org/drawingml/2006/main">
            <a:off x="571500" y="314325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제한적 ReAct  |  Observe → Retrieve → Reason → Act → Observe   (저신뢰·모호하면 Query Rewrite 후 재검색·재판단 최대 1회)</a:t>
            </a:r>
          </a:p>
        </p:txBody>
      </p:sp>
      <p:sp>
        <p:nvSpPr>
          <p:cNvPr id="42" name="">
            <a:extLst xmlns:a="http://schemas.openxmlformats.org/drawingml/2006/main">
              <a:ext uri="{FF2B5EF4-FFF2-40B4-BE49-F238E27FC236}">
                <a16:creationId xmlns:a16="http://schemas.microsoft.com/office/drawing/2014/main" id="{4DF498D6-6D2E-4F75-B4FB-9F4EC99C651D}"/>
              </a:ext>
            </a:extLst>
          </p:cNvPr>
          <p:cNvSpPr>
            <a:spLocks xmlns:a="http://schemas.openxmlformats.org/drawingml/2006/main" noGrp="1"/>
          </p:cNvSpPr>
          <p:nvPr/>
        </p:nvSpPr>
        <p:spPr>
          <a:xfrm xmlns:a="http://schemas.openxmlformats.org/drawingml/2006/main">
            <a:off x="571500" y="3371850"/>
            <a:ext cx="11049000" cy="762000"/>
          </a:xfrm>
          <a:prstGeom xmlns:a="http://schemas.openxmlformats.org/drawingml/2006/main" prst="roundRect">
            <a:avLst>
              <a:gd name="adj" fmla="val 10000"/>
            </a:avLst>
          </a:prstGeom>
          <a:solidFill xmlns:a="http://schemas.openxmlformats.org/drawingml/2006/main">
            <a:srgbClr val="EFF5FD"/>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241F8B91-A5FC-44FC-9649-5F4A4FC3F65C}"/>
              </a:ext>
            </a:extLst>
          </p:cNvPr>
          <p:cNvSpPr>
            <a:spLocks xmlns:a="http://schemas.openxmlformats.org/drawingml/2006/main" noGrp="1"/>
          </p:cNvSpPr>
          <p:nvPr/>
        </p:nvSpPr>
        <p:spPr>
          <a:xfrm xmlns:a="http://schemas.openxmlformats.org/drawingml/2006/main">
            <a:off x="781050" y="342900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4" name="">
            <a:extLst xmlns:a="http://schemas.openxmlformats.org/drawingml/2006/main">
              <a:ext uri="{FF2B5EF4-FFF2-40B4-BE49-F238E27FC236}">
                <a16:creationId xmlns:a16="http://schemas.microsoft.com/office/drawing/2014/main" id="{96AFB86E-7281-4234-B8FE-0EF9B5CC7113}"/>
              </a:ext>
            </a:extLst>
          </p:cNvPr>
          <p:cNvSpPr>
            <a:spLocks xmlns:a="http://schemas.openxmlformats.org/drawingml/2006/main" noGrp="1"/>
          </p:cNvSpPr>
          <p:nvPr/>
        </p:nvSpPr>
        <p:spPr>
          <a:xfrm xmlns:a="http://schemas.openxmlformats.org/drawingml/2006/main">
            <a:off x="1952625" y="34290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5" name="">
            <a:extLst xmlns:a="http://schemas.openxmlformats.org/drawingml/2006/main">
              <a:ext uri="{FF2B5EF4-FFF2-40B4-BE49-F238E27FC236}">
                <a16:creationId xmlns:a16="http://schemas.microsoft.com/office/drawing/2014/main" id="{C92953D0-B903-4E37-80C4-8B9B66635152}"/>
              </a:ext>
            </a:extLst>
          </p:cNvPr>
          <p:cNvSpPr>
            <a:spLocks xmlns:a="http://schemas.openxmlformats.org/drawingml/2006/main" noGrp="1"/>
          </p:cNvSpPr>
          <p:nvPr/>
        </p:nvSpPr>
        <p:spPr>
          <a:xfrm xmlns:a="http://schemas.openxmlformats.org/drawingml/2006/main">
            <a:off x="4524375" y="342900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6" name="">
            <a:extLst xmlns:a="http://schemas.openxmlformats.org/drawingml/2006/main">
              <a:ext uri="{FF2B5EF4-FFF2-40B4-BE49-F238E27FC236}">
                <a16:creationId xmlns:a16="http://schemas.microsoft.com/office/drawing/2014/main" id="{340C8274-C458-4630-B0CC-500C97EB9E11}"/>
              </a:ext>
            </a:extLst>
          </p:cNvPr>
          <p:cNvSpPr>
            <a:spLocks xmlns:a="http://schemas.openxmlformats.org/drawingml/2006/main" noGrp="1"/>
          </p:cNvSpPr>
          <p:nvPr/>
        </p:nvSpPr>
        <p:spPr>
          <a:xfrm xmlns:a="http://schemas.openxmlformats.org/drawingml/2006/main">
            <a:off x="781050" y="37909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7" name="">
            <a:extLst xmlns:a="http://schemas.openxmlformats.org/drawingml/2006/main">
              <a:ext uri="{FF2B5EF4-FFF2-40B4-BE49-F238E27FC236}">
                <a16:creationId xmlns:a16="http://schemas.microsoft.com/office/drawing/2014/main" id="{EEB4A7A7-972D-43E2-A242-49B8A9A8C99E}"/>
              </a:ext>
            </a:extLst>
          </p:cNvPr>
          <p:cNvSpPr>
            <a:spLocks xmlns:a="http://schemas.openxmlformats.org/drawingml/2006/main" noGrp="1"/>
          </p:cNvSpPr>
          <p:nvPr/>
        </p:nvSpPr>
        <p:spPr>
          <a:xfrm xmlns:a="http://schemas.openxmlformats.org/drawingml/2006/main">
            <a:off x="1952625" y="37909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8" name="">
            <a:extLst xmlns:a="http://schemas.openxmlformats.org/drawingml/2006/main">
              <a:ext uri="{FF2B5EF4-FFF2-40B4-BE49-F238E27FC236}">
                <a16:creationId xmlns:a16="http://schemas.microsoft.com/office/drawing/2014/main" id="{4DAAC224-51C5-421B-BA42-8329BB83F293}"/>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9" name="">
            <a:extLst xmlns:a="http://schemas.openxmlformats.org/drawingml/2006/main">
              <a:ext uri="{FF2B5EF4-FFF2-40B4-BE49-F238E27FC236}">
                <a16:creationId xmlns:a16="http://schemas.microsoft.com/office/drawing/2014/main" id="{A26CDF2A-FD7F-49C8-A69F-2A4935ADD368}"/>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50" name="">
            <a:extLst xmlns:a="http://schemas.openxmlformats.org/drawingml/2006/main">
              <a:ext uri="{FF2B5EF4-FFF2-40B4-BE49-F238E27FC236}">
                <a16:creationId xmlns:a16="http://schemas.microsoft.com/office/drawing/2014/main" id="{76ACAC60-5AAA-4118-B518-402F83E23843}"/>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1" name="">
            <a:extLst xmlns:a="http://schemas.openxmlformats.org/drawingml/2006/main">
              <a:ext uri="{FF2B5EF4-FFF2-40B4-BE49-F238E27FC236}">
                <a16:creationId xmlns:a16="http://schemas.microsoft.com/office/drawing/2014/main" id="{29AA84BA-2D15-44F2-825A-181036A3E486}"/>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 RAG</a:t>
            </a:r>
          </a:p>
        </p:txBody>
      </p:sp>
      <p:sp>
        <p:nvSpPr>
          <p:cNvPr id="52" name="">
            <a:extLst xmlns:a="http://schemas.openxmlformats.org/drawingml/2006/main">
              <a:ext uri="{FF2B5EF4-FFF2-40B4-BE49-F238E27FC236}">
                <a16:creationId xmlns:a16="http://schemas.microsoft.com/office/drawing/2014/main" id="{E9121261-A367-41D4-B357-ED6A94AA0A09}"/>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758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 3건·History 5건·사용자 결정만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않는 Structured Retrieval</a:t>
            </a:r>
          </a:p>
        </p:txBody>
      </p:sp>
      <p:sp>
        <p:nvSpPr>
          <p:cNvPr id="53" name="">
            <a:extLst xmlns:a="http://schemas.openxmlformats.org/drawingml/2006/main">
              <a:ext uri="{FF2B5EF4-FFF2-40B4-BE49-F238E27FC236}">
                <a16:creationId xmlns:a16="http://schemas.microsoft.com/office/drawing/2014/main" id="{7FCB778B-4C4C-47FB-99BA-D074AF53872E}"/>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4" name="">
            <a:extLst xmlns:a="http://schemas.openxmlformats.org/drawingml/2006/main">
              <a:ext uri="{FF2B5EF4-FFF2-40B4-BE49-F238E27FC236}">
                <a16:creationId xmlns:a16="http://schemas.microsoft.com/office/drawing/2014/main" id="{E4109BC0-B15C-436F-88F5-1F41BF164FE6}"/>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LangGraph 없이 단일 Agent + 결정론 Guard 구성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ID·상태 전이·중요 변경을 Python이 검증</a:t>
            </a:r>
          </a:p>
        </p:txBody>
      </p:sp>
      <p:sp>
        <p:nvSpPr>
          <p:cNvPr id="55" name="">
            <a:extLst xmlns:a="http://schemas.openxmlformats.org/drawingml/2006/main">
              <a:ext uri="{FF2B5EF4-FFF2-40B4-BE49-F238E27FC236}">
                <a16:creationId xmlns:a16="http://schemas.microsoft.com/office/drawing/2014/main" id="{7838BF10-383F-4C63-928A-DC1E3F621D1B}"/>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6" name="">
            <a:extLst xmlns:a="http://schemas.openxmlformats.org/drawingml/2006/main">
              <a:ext uri="{FF2B5EF4-FFF2-40B4-BE49-F238E27FC236}">
                <a16:creationId xmlns:a16="http://schemas.microsoft.com/office/drawing/2014/main" id="{E76480E4-25AA-4F00-B09A-8796F192FF0E}"/>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6719582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45EA8FE-718C-4A7E-9300-30B7A19D70F5}"/>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D59600-4BBC-4D26-9795-9604A15C7E2D}"/>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380662E1-0A63-42E6-9E82-0C2254C314E7}"/>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2BCA77-4294-46D9-852A-3FB8EC2CA539}"/>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E39F366E-506B-490E-BFF1-5804212885C7}"/>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77685EFF-5BCA-404B-A196-021AECE10538}"/>
              </a:ext>
            </a:extLst>
          </p:cNvPr>
          <p:cNvSpPr>
            <a:spLocks xmlns:a="http://schemas.openxmlformats.org/drawingml/2006/main" noGrp="1"/>
          </p:cNvSpPr>
          <p:nvPr/>
        </p:nvSpPr>
        <p:spPr>
          <a:xfrm xmlns:a="http://schemas.openxmlformats.org/drawingml/2006/main">
            <a:off x="571500" y="15811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a:t>
            </a:r>
          </a:p>
        </p:txBody>
      </p:sp>
      <p:sp>
        <p:nvSpPr>
          <p:cNvPr id="7" name="">
            <a:extLst xmlns:a="http://schemas.openxmlformats.org/drawingml/2006/main">
              <a:ext uri="{FF2B5EF4-FFF2-40B4-BE49-F238E27FC236}">
                <a16:creationId xmlns:a16="http://schemas.microsoft.com/office/drawing/2014/main" id="{DBEDFF91-9E6B-44C8-B842-4B63986E4A30}"/>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E9BD3E0-E427-4AB1-80C8-FD0BF3A88558}"/>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1A722D93-1DE7-47F0-918C-95CDCBB4DC49}"/>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Deliberation + 제한적 ReAct Self-Correction</a:t>
            </a:r>
          </a:p>
        </p:txBody>
      </p:sp>
      <p:sp>
        <p:nvSpPr>
          <p:cNvPr id="10" name="">
            <a:extLst xmlns:a="http://schemas.openxmlformats.org/drawingml/2006/main">
              <a:ext uri="{FF2B5EF4-FFF2-40B4-BE49-F238E27FC236}">
                <a16:creationId xmlns:a16="http://schemas.microsoft.com/office/drawing/2014/main" id="{F16D4674-DE55-4740-8006-96AA05EBB2E9}"/>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663"/>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Deliberation은 한 번의 Reason 안에서 후보를 견주는 단계이고, ReAct는 그 판단을 Retrieve·Act·Observe로 감싸는 바깥 Loop입니다. Tree of Thoughts(Yao et al., NeurIPS 2023)의 후보 생성·평가 분리를 참고하되 후보 2~3개·평가 1회·재검색 1회로 제한했고, Full Tree of Thoughts 구현은 아닙니다.</a:t>
            </a:r>
          </a:p>
        </p:txBody>
      </p:sp>
      <p:sp>
        <p:nvSpPr>
          <p:cNvPr id="11" name="">
            <a:extLst xmlns:a="http://schemas.openxmlformats.org/drawingml/2006/main">
              <a:ext uri="{FF2B5EF4-FFF2-40B4-BE49-F238E27FC236}">
                <a16:creationId xmlns:a16="http://schemas.microsoft.com/office/drawing/2014/main" id="{6994D7A4-50E1-4FB9-81D4-CF15053C8291}"/>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CF50F6-01DF-48D0-B245-DBE393FBDD29}"/>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E758E61B-D2FA-4561-952E-4F103CB71C4E}"/>
              </a:ext>
            </a:extLst>
          </p:cNvPr>
          <p:cNvSpPr>
            <a:spLocks xmlns:a="http://schemas.openxmlformats.org/drawingml/2006/main" noGrp="1"/>
          </p:cNvSpPr>
          <p:nvPr/>
        </p:nvSpPr>
        <p:spPr>
          <a:xfrm xmlns:a="http://schemas.openxmlformats.org/drawingml/2006/main">
            <a:off x="1104900" y="3028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Observe · Retrieve</a:t>
            </a:r>
          </a:p>
        </p:txBody>
      </p:sp>
      <p:sp>
        <p:nvSpPr>
          <p:cNvPr id="14" name="">
            <a:extLst xmlns:a="http://schemas.openxmlformats.org/drawingml/2006/main">
              <a:ext uri="{FF2B5EF4-FFF2-40B4-BE49-F238E27FC236}">
                <a16:creationId xmlns:a16="http://schemas.microsoft.com/office/drawing/2014/main" id="{6B528EEB-507E-4C9A-831B-D1D04A20FA69}"/>
              </a:ext>
            </a:extLst>
          </p:cNvPr>
          <p:cNvSpPr>
            <a:spLocks xmlns:a="http://schemas.openxmlformats.org/drawingml/2006/main" noGrp="1"/>
          </p:cNvSpPr>
          <p:nvPr/>
        </p:nvSpPr>
        <p:spPr>
          <a:xfrm xmlns:a="http://schemas.openxmlformats.org/drawingml/2006/main">
            <a:off x="3067050" y="3028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관찰 + SQLite Task Context RAG로 활성 Task·최근 Mail 3건·History 5건 검색</a:t>
            </a:r>
          </a:p>
        </p:txBody>
      </p:sp>
      <p:sp>
        <p:nvSpPr>
          <p:cNvPr id="15" name="">
            <a:extLst xmlns:a="http://schemas.openxmlformats.org/drawingml/2006/main">
              <a:ext uri="{FF2B5EF4-FFF2-40B4-BE49-F238E27FC236}">
                <a16:creationId xmlns:a16="http://schemas.microsoft.com/office/drawing/2014/main" id="{915DFB29-BB19-42AA-9933-A700A5E9E4A3}"/>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37F272D-5DCC-4315-A531-BD6616A0BBBF}"/>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7CD6B9E3-D0D4-4405-8AFE-A33FB8310822}"/>
              </a:ext>
            </a:extLst>
          </p:cNvPr>
          <p:cNvSpPr>
            <a:spLocks xmlns:a="http://schemas.openxmlformats.org/drawingml/2006/main" noGrp="1"/>
          </p:cNvSpPr>
          <p:nvPr/>
        </p:nvSpPr>
        <p:spPr>
          <a:xfrm xmlns:a="http://schemas.openxmlformats.org/drawingml/2006/main">
            <a:off x="1104900" y="3409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가설 생성</a:t>
            </a:r>
          </a:p>
        </p:txBody>
      </p:sp>
      <p:sp>
        <p:nvSpPr>
          <p:cNvPr id="18" name="">
            <a:extLst xmlns:a="http://schemas.openxmlformats.org/drawingml/2006/main">
              <a:ext uri="{FF2B5EF4-FFF2-40B4-BE49-F238E27FC236}">
                <a16:creationId xmlns:a16="http://schemas.microsoft.com/office/drawing/2014/main" id="{11A09723-3B0D-4F93-A163-8AEF8350C6AA}"/>
              </a:ext>
            </a:extLst>
          </p:cNvPr>
          <p:cNvSpPr>
            <a:spLocks xmlns:a="http://schemas.openxmlformats.org/drawingml/2006/main" noGrp="1"/>
          </p:cNvSpPr>
          <p:nvPr/>
        </p:nvSpPr>
        <p:spPr>
          <a:xfrm xmlns:a="http://schemas.openxmlformats.org/drawingml/2006/main">
            <a:off x="3067050" y="3409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5B18B30F-B1BE-490B-A69F-6825A2E4F58F}"/>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2649182-7600-41B7-8AAF-F5C9829DD3DD}"/>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66F6EEEC-C706-4503-81D1-673174BB1789}"/>
              </a:ext>
            </a:extLst>
          </p:cNvPr>
          <p:cNvSpPr>
            <a:spLocks xmlns:a="http://schemas.openxmlformats.org/drawingml/2006/main" noGrp="1"/>
          </p:cNvSpPr>
          <p:nvPr/>
        </p:nvSpPr>
        <p:spPr>
          <a:xfrm xmlns:a="http://schemas.openxmlformats.org/drawingml/2006/main">
            <a:off x="1104900" y="3790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검증·평가</a:t>
            </a:r>
          </a:p>
        </p:txBody>
      </p:sp>
      <p:sp>
        <p:nvSpPr>
          <p:cNvPr id="22" name="">
            <a:extLst xmlns:a="http://schemas.openxmlformats.org/drawingml/2006/main">
              <a:ext uri="{FF2B5EF4-FFF2-40B4-BE49-F238E27FC236}">
                <a16:creationId xmlns:a16="http://schemas.microsoft.com/office/drawing/2014/main" id="{446A9631-1B36-4CE2-BBE9-00EF581BDEAB}"/>
              </a:ext>
            </a:extLst>
          </p:cNvPr>
          <p:cNvSpPr>
            <a:spLocks xmlns:a="http://schemas.openxmlformats.org/drawingml/2006/main" noGrp="1"/>
          </p:cNvSpPr>
          <p:nvPr/>
        </p:nvSpPr>
        <p:spPr>
          <a:xfrm xmlns:a="http://schemas.openxmlformats.org/drawingml/2006/main">
            <a:off x="3067050" y="3790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9A34C278-8B83-418D-83E9-5ED1B08899A9}"/>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4203EBB-5D4D-411C-87BE-EA9EFCF75FC6}"/>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26686297-ADAC-4236-BD5F-1D19F8302BCB}"/>
              </a:ext>
            </a:extLst>
          </p:cNvPr>
          <p:cNvSpPr>
            <a:spLocks xmlns:a="http://schemas.openxmlformats.org/drawingml/2006/main" noGrp="1"/>
          </p:cNvSpPr>
          <p:nvPr/>
        </p:nvSpPr>
        <p:spPr>
          <a:xfrm xmlns:a="http://schemas.openxmlformats.org/drawingml/2006/main">
            <a:off x="1104900" y="4171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Self-Correction</a:t>
            </a:r>
          </a:p>
        </p:txBody>
      </p:sp>
      <p:sp>
        <p:nvSpPr>
          <p:cNvPr id="26" name="">
            <a:extLst xmlns:a="http://schemas.openxmlformats.org/drawingml/2006/main">
              <a:ext uri="{FF2B5EF4-FFF2-40B4-BE49-F238E27FC236}">
                <a16:creationId xmlns:a16="http://schemas.microsoft.com/office/drawing/2014/main" id="{986F2152-762D-4FFF-BE18-E7650F0A26A9}"/>
              </a:ext>
            </a:extLst>
          </p:cNvPr>
          <p:cNvSpPr>
            <a:spLocks xmlns:a="http://schemas.openxmlformats.org/drawingml/2006/main" noGrp="1"/>
          </p:cNvSpPr>
          <p:nvPr/>
        </p:nvSpPr>
        <p:spPr>
          <a:xfrm xmlns:a="http://schemas.openxmlformats.org/drawingml/2006/main">
            <a:off x="3067050" y="4171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 Context 재검색 → 재판단, 최대 1회</a:t>
            </a:r>
          </a:p>
        </p:txBody>
      </p:sp>
      <p:sp>
        <p:nvSpPr>
          <p:cNvPr id="27" name="">
            <a:extLst xmlns:a="http://schemas.openxmlformats.org/drawingml/2006/main">
              <a:ext uri="{FF2B5EF4-FFF2-40B4-BE49-F238E27FC236}">
                <a16:creationId xmlns:a16="http://schemas.microsoft.com/office/drawing/2014/main" id="{F9189868-CBFD-4D8B-A7CB-EDF5ACC1A2EA}"/>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8C73E783-A828-4375-A658-A3D1FE533BC4}"/>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96D70B26-2BD2-4E67-8349-BF8580236D11}"/>
              </a:ext>
            </a:extLst>
          </p:cNvPr>
          <p:cNvSpPr>
            <a:spLocks xmlns:a="http://schemas.openxmlformats.org/drawingml/2006/main" noGrp="1"/>
          </p:cNvSpPr>
          <p:nvPr/>
        </p:nvSpPr>
        <p:spPr>
          <a:xfrm xmlns:a="http://schemas.openxmlformats.org/drawingml/2006/main">
            <a:off x="1104900" y="4552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Act · Observe</a:t>
            </a:r>
          </a:p>
        </p:txBody>
      </p:sp>
      <p:sp>
        <p:nvSpPr>
          <p:cNvPr id="30" name="">
            <a:extLst xmlns:a="http://schemas.openxmlformats.org/drawingml/2006/main">
              <a:ext uri="{FF2B5EF4-FFF2-40B4-BE49-F238E27FC236}">
                <a16:creationId xmlns:a16="http://schemas.microsoft.com/office/drawing/2014/main" id="{3A9888DF-72CD-4A2E-83C2-ADC82D95F408}"/>
              </a:ext>
            </a:extLst>
          </p:cNvPr>
          <p:cNvSpPr>
            <a:spLocks xmlns:a="http://schemas.openxmlformats.org/drawingml/2006/main" noGrp="1"/>
          </p:cNvSpPr>
          <p:nvPr/>
        </p:nvSpPr>
        <p:spPr>
          <a:xfrm xmlns:a="http://schemas.openxmlformats.org/drawingml/2006/main">
            <a:off x="3067050" y="4552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검증 → DB 실행 또는 ASK_USER → 실제 저장 결과를 다시 조회해 확인</a:t>
            </a:r>
          </a:p>
        </p:txBody>
      </p:sp>
      <p:sp>
        <p:nvSpPr>
          <p:cNvPr id="31" name="">
            <a:extLst xmlns:a="http://schemas.openxmlformats.org/drawingml/2006/main">
              <a:ext uri="{FF2B5EF4-FFF2-40B4-BE49-F238E27FC236}">
                <a16:creationId xmlns:a16="http://schemas.microsoft.com/office/drawing/2014/main" id="{7370C074-8E85-4CC6-9A02-6788A6960E77}"/>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F8DCA58E-5BC9-4DAB-AABA-03D51E068222}"/>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EBD8A046-4D9B-4FAF-85D1-0FAC6231B7AE}"/>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24217D38-1617-4087-A0FB-3978C494A4D2}"/>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BC5C7679-D79D-4DCD-8B5D-96B45EDEAE11}"/>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DF9A65E3-C6D3-4193-A191-6361962272A2}"/>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ED410242-80F8-4BFF-B5F8-C4C6F98DC000}"/>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98EC9282-3FEA-4440-B555-5FA432753F2E}"/>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61D305EA-345A-4B56-991D-CCCAB82C017F}"/>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31D37235-A187-46A5-9CC7-79ED952F56E7}"/>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52654303-F064-4346-99C1-010603521015}"/>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16EE07E3-7A8C-47A4-BCCB-00E256095194}"/>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B858B5FB-E076-4A8A-A18A-A15B3E8C9EE6}"/>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1396109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2026-09-15T15:52:11.1860000Z</dcterms:created>
  <dcterms:modified xsi:type="dcterms:W3CDTF">2026-09-15T15:52:11.1860000Z</dcterms:modified>
</coreProperties>
</file>