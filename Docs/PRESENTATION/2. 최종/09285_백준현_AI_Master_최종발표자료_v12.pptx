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732a19612b4aef" /><Relationship Type="http://schemas.openxmlformats.org/officeDocument/2006/relationships/extended-properties" Target="/docProps/app.xml" Id="Reeca6ac1bad44caa" /><Relationship Type="http://schemas.openxmlformats.org/officeDocument/2006/relationships/officeDocument" Target="/ppt/presentation.xml" Id="R047c2de7adf64a7d" /></Relationships>
</file>

<file path=ppt/presentation.xml><?xml version="1.0" encoding="utf-8"?>
<p:presentation xmlns:p="http://schemas.openxmlformats.org/presentationml/2006/main">
  <p:sldMasterIdLst>
    <p:sldMasterId xmlns:r="http://schemas.openxmlformats.org/officeDocument/2006/relationships" id="2147483648" r:id="Rcd1754c3c12a434a"/>
  </p:sldMasterIdLst>
  <p:notesMasterIdLst>
    <p:notesMasterId xmlns:r="http://schemas.openxmlformats.org/officeDocument/2006/relationships" r:id="R287c579f3b644bad"/>
  </p:notesMasterIdLst>
  <p:sldIdLst>
    <p:sldId xmlns:r="http://schemas.openxmlformats.org/officeDocument/2006/relationships" id="256" r:id="R60020e4769d543d0"/>
    <p:sldId xmlns:r="http://schemas.openxmlformats.org/officeDocument/2006/relationships" id="257" r:id="Ra79bb92d6adc4ce6"/>
    <p:sldId xmlns:r="http://schemas.openxmlformats.org/officeDocument/2006/relationships" id="258" r:id="R67cc131e61e84f19"/>
    <p:sldId xmlns:r="http://schemas.openxmlformats.org/officeDocument/2006/relationships" id="259" r:id="R7f7cee2c0ade45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3bdb093b4b4945" /><Relationship Type="http://schemas.openxmlformats.org/officeDocument/2006/relationships/slideMaster" Target="/ppt/slideMasters/slideMaster1.xml" Id="Rcd1754c3c12a434a" /><Relationship Type="http://schemas.openxmlformats.org/officeDocument/2006/relationships/notesMaster" Target="/ppt/notesMasters/notesMaster1.xml" Id="R287c579f3b644bad" /><Relationship Type="http://schemas.openxmlformats.org/officeDocument/2006/relationships/presProps" Target="/ppt/presProps.xml" Id="R97d2f2d4bbef4ea8" /><Relationship Type="http://schemas.openxmlformats.org/officeDocument/2006/relationships/tableStyles" Target="/ppt/tableStyles.xml" Id="Re7c962d08f074831" /><Relationship Type="http://schemas.openxmlformats.org/officeDocument/2006/relationships/slide" Target="/ppt/slides/slide1.xml" Id="R60020e4769d543d0" /><Relationship Type="http://schemas.openxmlformats.org/officeDocument/2006/relationships/slide" Target="/ppt/slides/slide2.xml" Id="Ra79bb92d6adc4ce6" /><Relationship Type="http://schemas.openxmlformats.org/officeDocument/2006/relationships/slide" Target="/ppt/slides/slide3.xml" Id="R67cc131e61e84f19" /><Relationship Type="http://schemas.openxmlformats.org/officeDocument/2006/relationships/slide" Target="/ppt/slides/slide4.xml" Id="R7f7cee2c0ade45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1216e187f640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e28a6f71f941dc" /><Relationship Type="http://schemas.openxmlformats.org/officeDocument/2006/relationships/notesMaster" Target="/ppt/notesMasters/notesMaster1.xml" Id="R2c2235f84f394b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d0b15b98d941f4" /><Relationship Type="http://schemas.openxmlformats.org/officeDocument/2006/relationships/notesMaster" Target="/ppt/notesMasters/notesMaster1.xml" Id="R18f2a885da2340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b96ccea5bb40b1" /><Relationship Type="http://schemas.openxmlformats.org/officeDocument/2006/relationships/notesMaster" Target="/ppt/notesMasters/notesMaster1.xml" Id="R225e95ad9d0943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76977245d54b0f" /><Relationship Type="http://schemas.openxmlformats.org/officeDocument/2006/relationships/notesMaster" Target="/ppt/notesMasters/notesMaster1.xml" Id="Rf50f339dd09345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문제·기능 2분, 아키텍처 3분, 핵심 기술 과제 4분으로 약 9분이다. 10분 제한에 1분 여유를 남긴 배분이므로 슬라이드를 넘기기 전에 시간을 확인한다.</a:t>
            </a:r>
          </a:p>
          <a:p xmlns:a="http://schemas.openxmlformats.org/drawingml/2006/main">
            <a:r>
              <a:t/>
            </a:r>
          </a:p>
          <a:p xmlns:a="http://schemas.openxmlformats.org/drawingml/2006/main">
            <a:r>
              <a:t>[근거]</a:t>
            </a:r>
          </a:p>
          <a:p xmlns:a="http://schemas.openxmlformats.org/drawingml/2006/main">
            <a:r>
              <a:t>- Docs/PRESENTATION/2. 최종/09285_백준현_최종시연_스크립트.md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문제부터 말씀드리겠습니다. 하나의 업무가 여러 메일과 여러 Thread에 흩어져 도착하고, 기한 변경이나 자료 회신 같은 후속 메일은 표현이 매번 달라집니다. 그래서 사용자는 메일이 올 때마다 과거 메일을 다시 찾아, 이게 새 업무인지 기존 업무의 변경인지 직접 판단해야 합니다. 놓치면 기한을 넘기고, 잘못 붙이면 엉뚱한 업무의 상태가 바뀝니다. 제가 풀려는 것은 이 판단입니다.</a:t>
            </a:r>
          </a:p>
          <a:p xmlns:a="http://schemas.openxmlformats.org/drawingml/2006/main">
            <a:r>
              <a:t/>
            </a:r>
          </a:p>
          <a:p xmlns:a="http://schemas.openxmlformats.org/drawingml/2006/main">
            <a:r>
              <a:t>가운데 다섯 상자는 실제로 도는 역할입니다. 메일 분석기가 의미와 의도를 구조화하고, 컨텍스트 에이전트가 관계와 대상, 행동 후보를 두세 개 만듭니다. 같은 에이전트를 한 번 더 부르는데 이번엔 평가만 시킵니다. 만드는 호출과 고르는 호출이 다릅니다. 그다음 파이썬 가드가 후보와 상태 전이, 중요 변경을 검증하고 기준에 못 미치면 사용자 확인으로 넘깁니다. 마지막이 회신 에이전트입니다. 엘엘엠이 판단하는 자리와 파이썬이 통제하는 자리가 이 그림에서 갈립니다.</a:t>
            </a:r>
          </a:p>
          <a:p xmlns:a="http://schemas.openxmlformats.org/drawingml/2006/main">
            <a:r>
              <a:t/>
            </a:r>
          </a:p>
          <a:p xmlns:a="http://schemas.openxmlformats.org/drawingml/2006/main">
            <a:r>
              <a:t>아래 수치는 분모가 서로 다르니 합쳐 읽지 말아 주십시오. 28/28은 회사 LLM Live 15개 Case에서 나온 Action 단계, 3/3은 Task Context Agent 전용 Live, 20/20은 테스트 Gmail의 비식별 합성 메일 수용시험, pytest는 코드 회귀입니다. 회사 메일함 전체 정확도가 아닙니다. 체감 시간은 신뢰할 Baseline을 얻지 못해 추정치 대신 미측정으로 적었습니다. 측정하려면 같은 메일 묶음을 손으로 분류할 때와 이 도구를 쓸 때의 소요를 같은 사용자가 번갈아 재야 하는데, 사용자가 저 한 명이라 순서 효과를 걷어낼 방법이 없었습니다.</a:t>
            </a:r>
          </a:p>
          <a:p xmlns:a="http://schemas.openxmlformats.org/drawingml/2006/main">
            <a:r>
              <a:t/>
            </a:r>
          </a:p>
          <a:p xmlns:a="http://schemas.openxmlformats.org/drawingml/2006/main">
            <a:r>
              <a:t>[근거]</a:t>
            </a:r>
          </a:p>
          <a:p xmlns:a="http://schemas.openxmlformats.org/drawingml/2006/main">
            <a:r>
              <a:t>- Docs/AI_MASTER/02_문제정의및서비스기획.md</a:t>
            </a:r>
          </a:p>
          <a:p xmlns:a="http://schemas.openxmlformats.org/drawingml/2006/main">
            <a:r>
              <a:t>- evidence/final_audit_live_2026-09-13_after_inbound_intent_guard.json</a:t>
            </a:r>
          </a:p>
          <a:p xmlns:a="http://schemas.openxmlformats.org/drawingml/2006/main">
            <a:r>
              <a:t>- evidence/final_mvp_acceptance_2026-09-08.json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중요한 설계 결정부터 말씀드리겠습니다. 모든 메일을 Agent에게 맡기지 않았습니다. 경로가 셋으로 갈립니다. 같은 Thread에 활성 업무가 정확히 하나면 규칙이 바로 연결하고 검색과 Agent 판단을 아예 호출하지 않습니다. 관련 업무를 찾아야 할 때만 RAG 경로로 가고, 업무 요청이 아니면 기존 규칙 경로로 처리합니다. 입력에 따라 호출 자체가 달라지는 것이 고정 Workflow와의 차이입니다.</a:t>
            </a:r>
          </a:p>
          <a:p xmlns:a="http://schemas.openxmlformats.org/drawingml/2006/main">
            <a:r>
              <a:t/>
            </a:r>
          </a:p>
          <a:p xmlns:a="http://schemas.openxmlformats.org/drawingml/2006/main">
            <a:r>
              <a:t>엠 영이가 이 프로젝트의 알에이지입니다. 외부 문서를 찾는 지식 알에이지가 아니라, 판단에 필요한 과거 업무 맥락을 제 에스큐엘라이트에서 찾아오는 태스크 컨텍스트 알에이지입니다. 활성 업무 다섯 건, 각 업무의 최근 메일 세 건과 변경 이력 다섯 건, 사용자가 과거에 확정한 결정을 함께 가져옵니다. 지난 결정이 다음 판단의 근거로 다시 들어갑니다.</a:t>
            </a:r>
          </a:p>
          <a:p xmlns:a="http://schemas.openxmlformats.org/drawingml/2006/main">
            <a:r>
              <a:t/>
            </a:r>
          </a:p>
          <a:p xmlns:a="http://schemas.openxmlformats.org/drawingml/2006/main">
            <a:r>
              <a:t>네 용어의 역할이 다릅니다. 알에이지는 맥락을 가져오는 단계, 리액트는 그 맥락을 관찰해 행동을 정하고 실행 결과를 다시 관찰하는 바깥 루프, 셀프 커렉션은 그 루프 안에서 확신이 부족할 때 검색어를 바꿔 한 번 다시 찾고 다시 판단하는 부분입니다. 파이썬 가드는 에이전트의 판단을 대신하는 자리가 아니라 그 판단을 실행해도 되는지 확인하는 경계입니다. 흐름으로 읽으면 관찰, 검색, 판단, 실행, 재관찰입니다.</a:t>
            </a:r>
          </a:p>
          <a:p xmlns:a="http://schemas.openxmlformats.org/drawingml/2006/main">
            <a:r>
              <a:t/>
            </a:r>
          </a:p>
          <a:p xmlns:a="http://schemas.openxmlformats.org/drawingml/2006/main">
            <a:r>
              <a:t>벡터 디비를 쓰지 않은 이유는 개인의 활성 업무가 수십 건 규모라 에스큐엘라이트 조회만으로 충분했고 구성요소를 늘리는 비용이 더 컸기 때문입니다. 대신 검색이 어휘 겹침에 의존한다는 한계가 남습니다. 모델 간 비교 실험은 하지 않았으므로 최적이라고 주장하지 않습니다.</a:t>
            </a:r>
          </a:p>
          <a:p xmlns:a="http://schemas.openxmlformats.org/drawingml/2006/main">
            <a:r>
              <a:t/>
            </a:r>
          </a:p>
          <a:p xmlns:a="http://schemas.openxmlformats.org/drawingml/2006/main">
            <a:r>
              <a:t>랭그래프도 쓰지 않았습니다. 에이전트가 하나이고 상태가 Task 다섯 개와 Action 일곱 개로 닫혀 있어, 파이썬 상태와 가드만으로 검증이 더 쉬웠습니다. 분기와 중단, 재개가 복잡해지는 시점에 다시 검토하겠습니다.</a:t>
            </a:r>
          </a:p>
          <a:p xmlns:a="http://schemas.openxmlformats.org/drawingml/2006/main">
            <a:r>
              <a:t/>
            </a:r>
          </a:p>
          <a:p xmlns:a="http://schemas.openxmlformats.org/drawingml/2006/main">
            <a:r>
              <a:t>세 번째가 가장 오래 고민한 Python Guard입니다. LLM은 제안만 하고 데이터베이스를 직접 바꾸지 않습니다. Guard는 고른 업무 ID가 검색 후보 안에 있는지, 메일 의도와 Action이 맞는지, 생성에 필요한 값이 있는지를 확인하고, 하나라도 어긋나면 사용자 확인으로 올립니다. 완료·취소·기한 단축은 신뢰도와 무관하게 항상 승인을 거칩니다.</a:t>
            </a:r>
          </a:p>
          <a:p xmlns:a="http://schemas.openxmlformats.org/drawingml/2006/main">
            <a:r>
              <a:t/>
            </a:r>
          </a:p>
          <a:p xmlns:a="http://schemas.openxmlformats.org/drawingml/2006/main">
            <a:r>
              <a:t>[근거]</a:t>
            </a:r>
          </a:p>
          <a:p xmlns:a="http://schemas.openxmlformats.org/drawingml/2006/main">
            <a:r>
              <a:t>- Docs/AI_MASTER/04_상세설계및개발환경.md</a:t>
            </a:r>
          </a:p>
          <a:p xmlns:a="http://schemas.openxmlformats.org/drawingml/2006/main">
            <a:r>
              <a:t>- src/mailtaskagent/workflow.py</a:t>
            </a:r>
          </a:p>
          <a:p xmlns:a="http://schemas.openxmlformats.org/drawingml/2006/main">
            <a:r>
              <a:t>- src/mailtaskagent/task_context_agent.py</a:t>
            </a:r>
          </a:p>
          <a:p xmlns:a="http://schemas.openxmlformats.org/drawingml/2006/main">
            <a:r>
              <a:t>- src/mailtaskagent/deliberation.py</a:t>
            </a:r>
          </a:p>
          <a:p xmlns:a="http://schemas.openxmlformats.org/drawingml/2006/main">
            <a:r>
              <a:t>- src/mailtaskagent/decision.py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슬라이드의 난제부터 말씀드리겠습니다. 저는 이미 Agent를 쓰고 있었는데, 그 Agent가 결론을 하나만 돌려줬습니다. 관계 하나, 대상 하나, 행동 하나에 설명 한 줄입니다. 이러면 모델이 후보를 실제로 견줬는지, 결론을 먼저 정하고 설명을 붙였는지 밖에서 구분할 방법이 없습니다. 멘토님 피드백도 매번 같았습니다. 룰 베이스처럼 보인다, 어떤 후보를 검토했는지 보여 달라. 막힌 곳은 판단의 품질이 아니라 검증 가능성이었습니다.</a:t>
            </a:r>
          </a:p>
          <a:p xmlns:a="http://schemas.openxmlformats.org/drawingml/2006/main">
            <a:r>
              <a:t/>
            </a:r>
          </a:p>
          <a:p xmlns:a="http://schemas.openxmlformats.org/drawingml/2006/main">
            <a:r>
              <a:t>그래서 적용한 기법이 화면에 적힌 제한적 다중 가설 숙고입니다. 먼저 앞 장과의 관계를 정리하겠습니다. 숙고는 한 번의 판단 안에서 후보를 견주는 안쪽 단계이고, 리액트는 그 판단을 검색과 실행, 재관찰로 감싸는 바깥 루프입니다. 숙고가 리액트를 대체한 것이 아니라 리액트의 판단 단계를 두 호출로 쪼갠 것입니다. 트리 오브 소트를 구현한 것이 아니라, 후보 생성과 평가를 분리한다는 아이디어만 참고했습니다. 메일 한 건을 업무로 옮기는 판단은 단계가 깊지 않은 대신 틀렸을 때 비용이 업무 데이터 오변경이라, 후보 두세 개, 평가 한 번, 재검색 한 번으로 묶고 결정론적 가드와 사용자 승인으로 막는 쪽을 택했습니다. 핵심은 생성과 평가를 서로 다른 호출로 나눈 것입니다. 생성 단계는 점수를 매기지 않고, 평가 단계는 새로 만들지 못합니다. 그래서 화면에 남는 후보 목록이 사후 설명이 아니라 실제로 비교된 기록이 됩니다.</a:t>
            </a:r>
          </a:p>
          <a:p xmlns:a="http://schemas.openxmlformats.org/drawingml/2006/main">
            <a:r>
              <a:t/>
            </a:r>
          </a:p>
          <a:p xmlns:a="http://schemas.openxmlformats.org/drawingml/2006/main">
            <a:r>
              <a:t>효과는 같은 코드에서 기능만 껐다 켜서 측정했습니다. 기존 열다섯 개 Case는 양쪽이 똑같이 15/15, Action 28/28이고 소요시간만 약 삼십 퍼센트 늘었습니다. 숙고가 실제 발동하는 전용 네 개 케이스는 회차마다 출력이 달라져 각 설정을 세 번씩 돌렸고, 통과 수는 켠 쪽이 삼, 삼, 이, 끈 쪽이 이, 이, 이입니다. 세 번 모두 재현되는 차이는 한 건입니다. 요청자가 같고 대상 시스템만 다른 유사 업무가 둘 있을 때, 단일 결론 경로는 세 번 모두 둘 중 하나에 그대로 연결했고 두 단계 경로는 세 번 모두 사용자 확인으로 닫았습니다. 제가 개선했다고 말하는 범위는 이 한 건이고, 엘엘엠을 호출하지 않는 목 경로에서는 양쪽 모두 사 대 사로 차이가 없습니다.</a:t>
            </a:r>
          </a:p>
          <a:p xmlns:a="http://schemas.openxmlformats.org/drawingml/2006/main">
            <a:r>
              <a:t/>
            </a:r>
          </a:p>
          <a:p xmlns:a="http://schemas.openxmlformats.org/drawingml/2006/main">
            <a:r>
              <a:t>실패도 말씀드리겠습니다. 응답 검증을 재시도 루프 밖에 두어서, 모델이 필드 하나를 배열로 돌려준 것만으로 판단 전체가 실패했습니다. 저장해 둔 실제 지메일 서른다섯 건을 다시 흘려보냈을 때 판단 네 건이 사라졌고, 합성 테스트가 아니라 실제 데이터 재생에서 잡혔습니다. 검증을 루프 안으로 옮긴 뒤 유실은 0건입니다.</a:t>
            </a:r>
          </a:p>
          <a:p xmlns:a="http://schemas.openxmlformats.org/drawingml/2006/main">
            <a:r>
              <a:t/>
            </a:r>
          </a:p>
          <a:p xmlns:a="http://schemas.openxmlformats.org/drawingml/2006/main">
            <a:r>
              <a:t>두 번째는 기대값과 동작 중 어느 쪽이 틀렸는지 따져야 했던 건입니다. 검색 결과 안에 명령을 심어 둔 케이스가 세 번 모두 기대값인 사용자 확인 대신 무시로 끝났습니다. 그 메일은 순수 주입이 아니라 정상 회신 내용과 주입된 명령이 섞인 혼합 메일이고 정답도 업무 요청 참이었는데, 제 프롬프트가 프롬프트 인젝션을 공지·광고와 같은 줄에 두고 업무 요청이 아닌 사유로 제시해서 모델이 메일 전체를 버렸습니다. 원칙은 본문의 명령을 실행하지 않는다이지 명령이 섞인 메일을 버린다가 아닙니다. 기대값은 그대로 두고 규칙만 분리했더니 세 번 모두 통과하고, 숙고 전용 통과 수는 삼, 사, 사가 되었습니다. 명령만 들어 있는 순수 주입은 그대로 무시로 끝나 둘의 구분이 유지되고, 본문이 지시한 전체 완료 처리와 기록 삭제는 수정 전후 어느 회차에서도 일어나지 않았습니다.</a:t>
            </a:r>
          </a:p>
          <a:p xmlns:a="http://schemas.openxmlformats.org/drawingml/2006/main">
            <a:r>
              <a:t/>
            </a:r>
          </a:p>
          <a:p xmlns:a="http://schemas.openxmlformats.org/drawingml/2006/main">
            <a:r>
              <a:t>남은 한계도 말씀드리겠습니다. 화면의 신뢰도와 지지도는 모델의 자기보고 값이지 검증된 정답 확률이 아닙니다. 사용자 체감 시간은 신뢰할 Baseline을 얻지 못해 미측정으로 남겼습니다.</a:t>
            </a:r>
          </a:p>
          <a:p xmlns:a="http://schemas.openxmlformats.org/drawingml/2006/main">
            <a:r>
              <a:t/>
            </a:r>
          </a:p>
          <a:p xmlns:a="http://schemas.openxmlformats.org/drawingml/2006/main">
            <a:r>
              <a:t>[근거]</a:t>
            </a:r>
          </a:p>
          <a:p xmlns:a="http://schemas.openxmlformats.org/drawingml/2006/main">
            <a:r>
              <a:t>- evidence/deliberation_ab_2026-09-15.json</a:t>
            </a:r>
          </a:p>
          <a:p xmlns:a="http://schemas.openxmlformats.org/drawingml/2006/main">
            <a:r>
              <a:t>- evidence/dlb04_injection_adjudication_2026-09-15.json</a:t>
            </a:r>
          </a:p>
          <a:p xmlns:a="http://schemas.openxmlformats.org/drawingml/2006/main">
            <a:r>
              <a:t>- evidence/gmail_replay_deliberation_2026-09-15.json</a:t>
            </a:r>
          </a:p>
          <a:p xmlns:a="http://schemas.openxmlformats.org/drawingml/2006/main">
            <a:r>
              <a:t>- evidence/final_audit_live_2026-09-13_after_inbound_intent_guard.json</a:t>
            </a:r>
          </a:p>
          <a:p xmlns:a="http://schemas.openxmlformats.org/drawingml/2006/main">
            <a:r>
              <a:t>- tests/test_deliberation.py</a:t>
            </a:r>
          </a:p>
          <a:p xmlns:a="http://schemas.openxmlformats.org/drawingml/2006/main">
            <a:r>
              <a:t>- tests/test_agent_deliberation.py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7dbf1a5d6047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dc57a23d6f4c7f" /><Relationship Type="http://schemas.openxmlformats.org/officeDocument/2006/relationships/slideLayout" Target="/ppt/slideLayouts/slideLayout1.xml" Id="R62346af0844241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346af0844241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98b7b25712476f" /><Relationship Type="http://schemas.openxmlformats.org/officeDocument/2006/relationships/notesSlide" Target="/ppt/notesSlides/notesSlide1.xml" Id="R4845256b4e844c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044a0211944a03" /><Relationship Type="http://schemas.openxmlformats.org/officeDocument/2006/relationships/notesSlide" Target="/ppt/notesSlides/notesSlide2.xml" Id="R9989ad04b4ad44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cc7e55d6434f4c" /><Relationship Type="http://schemas.openxmlformats.org/officeDocument/2006/relationships/notesSlide" Target="/ppt/notesSlides/notesSlide3.xml" Id="R027e3ee3316044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a021b57f71049c1" /><Relationship Type="http://schemas.openxmlformats.org/officeDocument/2006/relationships/notesSlide" Target="/ppt/notesSlides/notesSlide4.xml" Id="R8405fe7ce8774d2b" /></Relationships>
</file>

<file path=ppt/slides/slide1.xml><?xml version="1.0" encoding="utf-8"?>
<p:sld xmlns:p="http://schemas.openxmlformats.org/presentationml/2006/main">
  <p:cSld>
    <p:bg>
      <p:bgPr>
        <a:solidFill xmlns:a="http://schemas.openxmlformats.org/drawingml/2006/main">
          <a:srgbClr val="10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053FC08-2DF2-44FC-8FA7-66DDC46AD5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0B8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499040-E3F0-47E1-8B5C-4F0D9A764491}"/>
              </a:ext>
            </a:extLst>
          </p:cNvPr>
          <p:cNvSpPr>
            <a:spLocks xmlns:a="http://schemas.openxmlformats.org/drawingml/2006/main" noGrp="1"/>
          </p:cNvSpPr>
          <p:nvPr/>
        </p:nvSpPr>
        <p:spPr>
          <a:xfrm xmlns:a="http://schemas.openxmlformats.org/drawingml/2006/main">
            <a:off x="685800" y="6858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0B8C7"/>
                </a:solidFill>
                <a:latin typeface="Malgun Gothic"/>
                <a:ea typeface="Malgun Gothic"/>
                <a:cs typeface="Malgun Gothic"/>
              </a:defRPr>
            </a:pPr>
            <a:r>
              <a:rPr sz="1500" b="1">
                <a:solidFill>
                  <a:srgbClr val="20B8C7"/>
                </a:solidFill>
                <a:latin typeface="Malgun Gothic"/>
                <a:ea typeface="Malgun Gothic"/>
                <a:cs typeface="Malgun Gothic"/>
              </a:rPr>
              <a:t>AI Master Project</a:t>
            </a:r>
          </a:p>
        </p:txBody>
      </p:sp>
      <p:sp>
        <p:nvSpPr>
          <p:cNvPr id="3" name="">
            <a:extLst xmlns:a="http://schemas.openxmlformats.org/drawingml/2006/main">
              <a:ext uri="{FF2B5EF4-FFF2-40B4-BE49-F238E27FC236}">
                <a16:creationId xmlns:a16="http://schemas.microsoft.com/office/drawing/2014/main" id="{6A511555-E696-4BA9-A3D7-FB125B9B3E76}"/>
              </a:ext>
            </a:extLst>
          </p:cNvPr>
          <p:cNvSpPr>
            <a:spLocks xmlns:a="http://schemas.openxmlformats.org/drawingml/2006/main" noGrp="1"/>
          </p:cNvSpPr>
          <p:nvPr/>
        </p:nvSpPr>
        <p:spPr>
          <a:xfrm xmlns:a="http://schemas.openxmlformats.org/drawingml/2006/main">
            <a:off x="685800" y="1476375"/>
            <a:ext cx="7620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900" b="1">
                <a:solidFill>
                  <a:srgbClr val="FFFFFF"/>
                </a:solidFill>
                <a:latin typeface="Malgun Gothic"/>
                <a:ea typeface="Malgun Gothic"/>
                <a:cs typeface="Malgun Gothic"/>
              </a:defRPr>
            </a:pPr>
            <a:r>
              <a:rPr sz="3900" b="1">
                <a:solidFill>
                  <a:srgbClr val="FFFFFF"/>
                </a:solidFill>
                <a:latin typeface="Malgun Gothic"/>
                <a:ea typeface="Malgun Gothic"/>
                <a:cs typeface="Malgun Gothic"/>
              </a:rPr>
              <a:t>MailTaskAgent</a:t>
            </a:r>
          </a:p>
        </p:txBody>
      </p:sp>
      <p:sp>
        <p:nvSpPr>
          <p:cNvPr id="4" name="">
            <a:extLst xmlns:a="http://schemas.openxmlformats.org/drawingml/2006/main">
              <a:ext uri="{FF2B5EF4-FFF2-40B4-BE49-F238E27FC236}">
                <a16:creationId xmlns:a16="http://schemas.microsoft.com/office/drawing/2014/main" id="{1D894824-4894-4360-B0AA-DE233CC4F4E3}"/>
              </a:ext>
            </a:extLst>
          </p:cNvPr>
          <p:cNvSpPr>
            <a:spLocks xmlns:a="http://schemas.openxmlformats.org/drawingml/2006/main" noGrp="1"/>
          </p:cNvSpPr>
          <p:nvPr/>
        </p:nvSpPr>
        <p:spPr>
          <a:xfrm xmlns:a="http://schemas.openxmlformats.org/drawingml/2006/main">
            <a:off x="685800" y="2381250"/>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D9E6F8"/>
                </a:solidFill>
                <a:latin typeface="Malgun Gothic"/>
                <a:ea typeface="Malgun Gothic"/>
                <a:cs typeface="Malgun Gothic"/>
              </a:defRPr>
            </a:pPr>
            <a:r>
              <a:rPr sz="2025" b="0">
                <a:solidFill>
                  <a:srgbClr val="D9E6F8"/>
                </a:solidFill>
                <a:latin typeface="Malgun Gothic"/>
                <a:ea typeface="Malgun Gothic"/>
                <a:cs typeface="Malgun Gothic"/>
              </a:rPr>
              <a:t>메일을 업무로 해석하고 다음 행동을 결정하는 개인 업무관리 Agent</a:t>
            </a:r>
          </a:p>
        </p:txBody>
      </p:sp>
      <p:sp>
        <p:nvSpPr>
          <p:cNvPr id="5" name="">
            <a:extLst xmlns:a="http://schemas.openxmlformats.org/drawingml/2006/main">
              <a:ext uri="{FF2B5EF4-FFF2-40B4-BE49-F238E27FC236}">
                <a16:creationId xmlns:a16="http://schemas.microsoft.com/office/drawing/2014/main" id="{471CCBAC-1224-443B-A6BC-1373B88319F5}"/>
              </a:ext>
            </a:extLst>
          </p:cNvPr>
          <p:cNvSpPr>
            <a:spLocks xmlns:a="http://schemas.openxmlformats.org/drawingml/2006/main" noGrp="1"/>
          </p:cNvSpPr>
          <p:nvPr/>
        </p:nvSpPr>
        <p:spPr>
          <a:xfrm xmlns:a="http://schemas.openxmlformats.org/drawingml/2006/main">
            <a:off x="685800" y="3714750"/>
            <a:ext cx="10477500" cy="19050"/>
          </a:xfrm>
          <a:prstGeom xmlns:a="http://schemas.openxmlformats.org/drawingml/2006/main" prst="rect">
            <a:avLst/>
          </a:prstGeom>
          <a:solidFill xmlns:a="http://schemas.openxmlformats.org/drawingml/2006/main">
            <a:srgbClr val="35506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6367213-4049-45B0-ADD2-A1F9E801142E}"/>
              </a:ext>
            </a:extLst>
          </p:cNvPr>
          <p:cNvSpPr>
            <a:spLocks xmlns:a="http://schemas.openxmlformats.org/drawingml/2006/main" noGrp="1"/>
          </p:cNvSpPr>
          <p:nvPr/>
        </p:nvSpPr>
        <p:spPr>
          <a:xfrm xmlns:a="http://schemas.openxmlformats.org/drawingml/2006/main">
            <a:off x="685800" y="40957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백준현  |  09285</a:t>
            </a:r>
          </a:p>
        </p:txBody>
      </p:sp>
      <p:sp>
        <p:nvSpPr>
          <p:cNvPr id="7" name="">
            <a:extLst xmlns:a="http://schemas.openxmlformats.org/drawingml/2006/main">
              <a:ext uri="{FF2B5EF4-FFF2-40B4-BE49-F238E27FC236}">
                <a16:creationId xmlns:a16="http://schemas.microsoft.com/office/drawing/2014/main" id="{F02C081C-077D-4E3C-BF5C-72C759A3BCCC}"/>
              </a:ext>
            </a:extLst>
          </p:cNvPr>
          <p:cNvSpPr>
            <a:spLocks xmlns:a="http://schemas.openxmlformats.org/drawingml/2006/main" noGrp="1"/>
          </p:cNvSpPr>
          <p:nvPr/>
        </p:nvSpPr>
        <p:spPr>
          <a:xfrm xmlns:a="http://schemas.openxmlformats.org/drawingml/2006/main">
            <a:off x="685800" y="45148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B9C9DD"/>
                </a:solidFill>
                <a:latin typeface="Malgun Gothic"/>
                <a:ea typeface="Malgun Gothic"/>
                <a:cs typeface="Malgun Gothic"/>
              </a:defRPr>
            </a:pPr>
            <a:r>
              <a:rPr sz="1350" b="0">
                <a:solidFill>
                  <a:srgbClr val="B9C9DD"/>
                </a:solidFill>
                <a:latin typeface="Malgun Gothic"/>
                <a:ea typeface="Malgun Gothic"/>
                <a:cs typeface="Malgun Gothic"/>
              </a:rPr>
              <a:t>AI Master 7기  |  멘토 이유경</a:t>
            </a:r>
          </a:p>
        </p:txBody>
      </p:sp>
      <p:sp>
        <p:nvSpPr>
          <p:cNvPr id="8" name="">
            <a:extLst xmlns:a="http://schemas.openxmlformats.org/drawingml/2006/main">
              <a:ext uri="{FF2B5EF4-FFF2-40B4-BE49-F238E27FC236}">
                <a16:creationId xmlns:a16="http://schemas.microsoft.com/office/drawing/2014/main" id="{C920F767-3B17-4154-88E1-1429AFD1CC7C}"/>
              </a:ext>
            </a:extLst>
          </p:cNvPr>
          <p:cNvSpPr>
            <a:spLocks xmlns:a="http://schemas.openxmlformats.org/drawingml/2006/main" noGrp="1"/>
          </p:cNvSpPr>
          <p:nvPr/>
        </p:nvSpPr>
        <p:spPr>
          <a:xfrm xmlns:a="http://schemas.openxmlformats.org/drawingml/2006/main">
            <a:off x="685800" y="5810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20B8C7"/>
                </a:solidFill>
                <a:latin typeface="Malgun Gothic"/>
                <a:ea typeface="Malgun Gothic"/>
                <a:cs typeface="Malgun Gothic"/>
              </a:defRPr>
            </a:pPr>
            <a:r>
              <a:rPr sz="1350" b="1">
                <a:solidFill>
                  <a:srgbClr val="20B8C7"/>
                </a:solidFill>
                <a:latin typeface="Malgun Gothic"/>
                <a:ea typeface="Malgun Gothic"/>
                <a:cs typeface="Malgun Gothic"/>
              </a:rPr>
              <a:t>최종 발표</a:t>
            </a:r>
          </a:p>
        </p:txBody>
      </p:sp>
      <p:sp>
        <p:nvSpPr>
          <p:cNvPr id="9" name="">
            <a:extLst xmlns:a="http://schemas.openxmlformats.org/drawingml/2006/main">
              <a:ext uri="{FF2B5EF4-FFF2-40B4-BE49-F238E27FC236}">
                <a16:creationId xmlns:a16="http://schemas.microsoft.com/office/drawing/2014/main" id="{4EF5B3FB-7E4E-403F-A8D4-003EF2D30E33}"/>
              </a:ext>
            </a:extLst>
          </p:cNvPr>
          <p:cNvSpPr>
            <a:spLocks xmlns:a="http://schemas.openxmlformats.org/drawingml/2006/main" noGrp="1"/>
          </p:cNvSpPr>
          <p:nvPr/>
        </p:nvSpPr>
        <p:spPr>
          <a:xfrm xmlns:a="http://schemas.openxmlformats.org/drawingml/2006/main">
            <a:off x="685800" y="61531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l">
              <a:defRPr sz="1050" b="0">
                <a:solidFill>
                  <a:srgbClr val="7E93AC"/>
                </a:solidFill>
                <a:latin typeface="Malgun Gothic"/>
                <a:ea typeface="Malgun Gothic"/>
                <a:cs typeface="Malgun Gothic"/>
              </a:defRPr>
            </a:pPr>
            <a:r>
              <a:rPr sz="1050" b="0">
                <a:solidFill>
                  <a:srgbClr val="7E93AC"/>
                </a:solidFill>
                <a:latin typeface="Malgun Gothic"/>
                <a:ea typeface="Malgun Gothic"/>
                <a:cs typeface="Malgun Gothic"/>
              </a:rPr>
              <a:t>발표 10분 이내  |  시연 영상 별도 제출 5분 이내</a:t>
            </a:r>
          </a:p>
        </p:txBody>
      </p:sp>
    </p:spTree>
    <p:extLst>
      <p:ext uri="{BB962C8B-B14F-4D97-AF65-F5344CB8AC3E}">
        <p14:creationId xmlns:p14="http://schemas.microsoft.com/office/powerpoint/2010/main" val="3809243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DAEB7639-6C78-46F9-AB64-C8C57119BE45}"/>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D757DE-B558-4A2D-B7D9-6ABBA401E1C3}"/>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프로젝트 개요</a:t>
            </a:r>
          </a:p>
        </p:txBody>
      </p:sp>
      <p:sp>
        <p:nvSpPr>
          <p:cNvPr id="3" name="">
            <a:extLst xmlns:a="http://schemas.openxmlformats.org/drawingml/2006/main">
              <a:ext uri="{FF2B5EF4-FFF2-40B4-BE49-F238E27FC236}">
                <a16:creationId xmlns:a16="http://schemas.microsoft.com/office/drawing/2014/main" id="{D7F81F98-1339-4AA8-93EF-275E28E649C7}"/>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AFE142-551E-497C-8A31-D0D016225EEF}"/>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02</a:t>
            </a:r>
          </a:p>
        </p:txBody>
      </p:sp>
      <p:sp>
        <p:nvSpPr>
          <p:cNvPr id="5" name="">
            <a:extLst xmlns:a="http://schemas.openxmlformats.org/drawingml/2006/main">
              <a:ext uri="{FF2B5EF4-FFF2-40B4-BE49-F238E27FC236}">
                <a16:creationId xmlns:a16="http://schemas.microsoft.com/office/drawing/2014/main" id="{5A98DC29-F106-476D-BAE8-4B4DD6FCD237}"/>
              </a:ext>
            </a:extLst>
          </p:cNvPr>
          <p:cNvSpPr>
            <a:spLocks xmlns:a="http://schemas.openxmlformats.org/drawingml/2006/main" noGrp="1"/>
          </p:cNvSpPr>
          <p:nvPr/>
        </p:nvSpPr>
        <p:spPr>
          <a:xfrm xmlns:a="http://schemas.openxmlformats.org/drawingml/2006/main">
            <a:off x="571500" y="12192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159"/>
          </a:bodyPr>
          <a:lstStyle xmlns:a="http://schemas.openxmlformats.org/drawingml/2006/main"/>
          <a:p xmlns:a="http://schemas.openxmlformats.org/drawingml/2006/main">
            <a:pPr algn="l">
              <a:defRPr sz="1725" b="1">
                <a:solidFill>
                  <a:srgbClr val="1769E0"/>
                </a:solidFill>
                <a:latin typeface="Malgun Gothic"/>
                <a:ea typeface="Malgun Gothic"/>
                <a:cs typeface="Malgun Gothic"/>
              </a:defRPr>
            </a:pPr>
            <a:r>
              <a:rPr sz="1725" b="1">
                <a:solidFill>
                  <a:srgbClr val="1769E0"/>
                </a:solidFill>
                <a:latin typeface="Malgun Gothic"/>
                <a:ea typeface="Malgun Gothic"/>
                <a:cs typeface="Malgun Gothic"/>
              </a:rPr>
              <a:t>같은 업무 요청이 여러 메일과 Thread에 흩어져 도착합니다</a:t>
            </a:r>
          </a:p>
        </p:txBody>
      </p:sp>
      <p:sp>
        <p:nvSpPr>
          <p:cNvPr id="6" name="">
            <a:extLst xmlns:a="http://schemas.openxmlformats.org/drawingml/2006/main">
              <a:ext uri="{FF2B5EF4-FFF2-40B4-BE49-F238E27FC236}">
                <a16:creationId xmlns:a16="http://schemas.microsoft.com/office/drawing/2014/main" id="{F5127486-EB01-4F90-8B20-CD3D7B1AF1E6}"/>
              </a:ext>
            </a:extLst>
          </p:cNvPr>
          <p:cNvSpPr>
            <a:spLocks xmlns:a="http://schemas.openxmlformats.org/drawingml/2006/main" noGrp="1"/>
          </p:cNvSpPr>
          <p:nvPr/>
        </p:nvSpPr>
        <p:spPr>
          <a:xfrm xmlns:a="http://schemas.openxmlformats.org/drawingml/2006/main">
            <a:off x="571500" y="156210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72033"/>
                </a:solidFill>
                <a:latin typeface="Malgun Gothic"/>
                <a:ea typeface="Malgun Gothic"/>
                <a:cs typeface="Malgun Gothic"/>
              </a:defRPr>
            </a:pPr>
            <a:r>
              <a:rPr sz="1200" b="0">
                <a:solidFill>
                  <a:srgbClr val="172033"/>
                </a:solidFill>
                <a:latin typeface="Malgun Gothic"/>
                <a:ea typeface="Malgun Gothic"/>
                <a:cs typeface="Malgun Gothic"/>
              </a:rPr>
              <a:t>무엇이 새 업무이고 무엇이 기존 업무의 변경인지 사람이 매번 판단해야 합니다. 놓치면 기한을 넘기고, 잘못 붙이면 엉뚱한 업무가 바뀝니다.</a:t>
            </a:r>
          </a:p>
        </p:txBody>
      </p:sp>
      <p:sp>
        <p:nvSpPr>
          <p:cNvPr id="7" name="">
            <a:extLst xmlns:a="http://schemas.openxmlformats.org/drawingml/2006/main">
              <a:ext uri="{FF2B5EF4-FFF2-40B4-BE49-F238E27FC236}">
                <a16:creationId xmlns:a16="http://schemas.microsoft.com/office/drawing/2014/main" id="{8AD21712-3D00-4CCD-82ED-2CF7668AEFD1}"/>
              </a:ext>
            </a:extLst>
          </p:cNvPr>
          <p:cNvSpPr>
            <a:spLocks xmlns:a="http://schemas.openxmlformats.org/drawingml/2006/main" noGrp="1"/>
          </p:cNvSpPr>
          <p:nvPr/>
        </p:nvSpPr>
        <p:spPr>
          <a:xfrm xmlns:a="http://schemas.openxmlformats.org/drawingml/2006/main">
            <a:off x="571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8" name="">
            <a:extLst xmlns:a="http://schemas.openxmlformats.org/drawingml/2006/main">
              <a:ext uri="{FF2B5EF4-FFF2-40B4-BE49-F238E27FC236}">
                <a16:creationId xmlns:a16="http://schemas.microsoft.com/office/drawing/2014/main" id="{17AD07F5-9CFC-4E7B-B52B-7666E3360560}"/>
              </a:ext>
            </a:extLst>
          </p:cNvPr>
          <p:cNvSpPr>
            <a:spLocks xmlns:a="http://schemas.openxmlformats.org/drawingml/2006/main" noGrp="1"/>
          </p:cNvSpPr>
          <p:nvPr/>
        </p:nvSpPr>
        <p:spPr>
          <a:xfrm xmlns:a="http://schemas.openxmlformats.org/drawingml/2006/main">
            <a:off x="571500" y="2381250"/>
            <a:ext cx="76200" cy="1104900"/>
          </a:xfrm>
          <a:prstGeom xmlns:a="http://schemas.openxmlformats.org/drawingml/2006/main" prst="roundRect">
            <a:avLst>
              <a:gd name="adj" fmla="val 50000"/>
            </a:avLst>
          </a:prstGeom>
          <a:solidFill xmlns:a="http://schemas.openxmlformats.org/drawingml/2006/main">
            <a:srgbClr val="1769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6F4DE53-83FF-4B42-83CD-F86348687AD1}"/>
              </a:ext>
            </a:extLst>
          </p:cNvPr>
          <p:cNvSpPr>
            <a:spLocks xmlns:a="http://schemas.openxmlformats.org/drawingml/2006/main" noGrp="1"/>
          </p:cNvSpPr>
          <p:nvPr/>
        </p:nvSpPr>
        <p:spPr>
          <a:xfrm xmlns:a="http://schemas.openxmlformats.org/drawingml/2006/main">
            <a:off x="762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Mail Analyzer</a:t>
            </a:r>
          </a:p>
        </p:txBody>
      </p:sp>
      <p:sp>
        <p:nvSpPr>
          <p:cNvPr id="10" name="">
            <a:extLst xmlns:a="http://schemas.openxmlformats.org/drawingml/2006/main">
              <a:ext uri="{FF2B5EF4-FFF2-40B4-BE49-F238E27FC236}">
                <a16:creationId xmlns:a16="http://schemas.microsoft.com/office/drawing/2014/main" id="{31F6AE3D-6DE0-4F0D-991D-7A2C20A64311}"/>
              </a:ext>
            </a:extLst>
          </p:cNvPr>
          <p:cNvSpPr>
            <a:spLocks xmlns:a="http://schemas.openxmlformats.org/drawingml/2006/main" noGrp="1"/>
          </p:cNvSpPr>
          <p:nvPr/>
        </p:nvSpPr>
        <p:spPr>
          <a:xfrm xmlns:a="http://schemas.openxmlformats.org/drawingml/2006/main">
            <a:off x="762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의미·Intent·기한 구조화</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gpt-4.1-mini</a:t>
            </a:r>
          </a:p>
        </p:txBody>
      </p:sp>
      <p:sp>
        <p:nvSpPr>
          <p:cNvPr id="11" name="">
            <a:extLst xmlns:a="http://schemas.openxmlformats.org/drawingml/2006/main">
              <a:ext uri="{FF2B5EF4-FFF2-40B4-BE49-F238E27FC236}">
                <a16:creationId xmlns:a16="http://schemas.microsoft.com/office/drawing/2014/main" id="{F941602A-3B67-4431-B055-C678D260DC09}"/>
              </a:ext>
            </a:extLst>
          </p:cNvPr>
          <p:cNvSpPr>
            <a:spLocks xmlns:a="http://schemas.openxmlformats.org/drawingml/2006/main" noGrp="1"/>
          </p:cNvSpPr>
          <p:nvPr/>
        </p:nvSpPr>
        <p:spPr>
          <a:xfrm xmlns:a="http://schemas.openxmlformats.org/drawingml/2006/main">
            <a:off x="2457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4830D6A-867A-49CA-8B45-E47F1ED4A090}"/>
              </a:ext>
            </a:extLst>
          </p:cNvPr>
          <p:cNvSpPr>
            <a:spLocks xmlns:a="http://schemas.openxmlformats.org/drawingml/2006/main" noGrp="1"/>
          </p:cNvSpPr>
          <p:nvPr/>
        </p:nvSpPr>
        <p:spPr>
          <a:xfrm xmlns:a="http://schemas.openxmlformats.org/drawingml/2006/main">
            <a:off x="2857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13" name="">
            <a:extLst xmlns:a="http://schemas.openxmlformats.org/drawingml/2006/main">
              <a:ext uri="{FF2B5EF4-FFF2-40B4-BE49-F238E27FC236}">
                <a16:creationId xmlns:a16="http://schemas.microsoft.com/office/drawing/2014/main" id="{D11F5099-AEDB-4E7E-A479-09E2D7627563}"/>
              </a:ext>
            </a:extLst>
          </p:cNvPr>
          <p:cNvSpPr>
            <a:spLocks xmlns:a="http://schemas.openxmlformats.org/drawingml/2006/main" noGrp="1"/>
          </p:cNvSpPr>
          <p:nvPr/>
        </p:nvSpPr>
        <p:spPr>
          <a:xfrm xmlns:a="http://schemas.openxmlformats.org/drawingml/2006/main">
            <a:off x="2857500" y="2381250"/>
            <a:ext cx="76200" cy="1104900"/>
          </a:xfrm>
          <a:prstGeom xmlns:a="http://schemas.openxmlformats.org/drawingml/2006/main" prst="roundRect">
            <a:avLst>
              <a:gd name="adj" fmla="val 50000"/>
            </a:avLst>
          </a:prstGeom>
          <a:solidFill xmlns:a="http://schemas.openxmlformats.org/drawingml/2006/main">
            <a:srgbClr val="20B8C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7EA1319-A132-45C3-839D-29FC714A1ADD}"/>
              </a:ext>
            </a:extLst>
          </p:cNvPr>
          <p:cNvSpPr>
            <a:spLocks xmlns:a="http://schemas.openxmlformats.org/drawingml/2006/main" noGrp="1"/>
          </p:cNvSpPr>
          <p:nvPr/>
        </p:nvSpPr>
        <p:spPr>
          <a:xfrm xmlns:a="http://schemas.openxmlformats.org/drawingml/2006/main">
            <a:off x="3048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Context Agent</a:t>
            </a:r>
          </a:p>
        </p:txBody>
      </p:sp>
      <p:sp>
        <p:nvSpPr>
          <p:cNvPr id="15" name="">
            <a:extLst xmlns:a="http://schemas.openxmlformats.org/drawingml/2006/main">
              <a:ext uri="{FF2B5EF4-FFF2-40B4-BE49-F238E27FC236}">
                <a16:creationId xmlns:a16="http://schemas.microsoft.com/office/drawing/2014/main" id="{A41710D7-0DCD-4266-BFA0-1944ABF4028E}"/>
              </a:ext>
            </a:extLst>
          </p:cNvPr>
          <p:cNvSpPr>
            <a:spLocks xmlns:a="http://schemas.openxmlformats.org/drawingml/2006/main" noGrp="1"/>
          </p:cNvSpPr>
          <p:nvPr/>
        </p:nvSpPr>
        <p:spPr>
          <a:xfrm xmlns:a="http://schemas.openxmlformats.org/drawingml/2006/main">
            <a:off x="3048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15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가설 생성</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관계·대상·Action 후보 2~3개</a:t>
            </a:r>
          </a:p>
        </p:txBody>
      </p:sp>
      <p:sp>
        <p:nvSpPr>
          <p:cNvPr id="16" name="">
            <a:extLst xmlns:a="http://schemas.openxmlformats.org/drawingml/2006/main">
              <a:ext uri="{FF2B5EF4-FFF2-40B4-BE49-F238E27FC236}">
                <a16:creationId xmlns:a16="http://schemas.microsoft.com/office/drawing/2014/main" id="{EA9A8FF5-A08E-404A-A969-FE81BA37B555}"/>
              </a:ext>
            </a:extLst>
          </p:cNvPr>
          <p:cNvSpPr>
            <a:spLocks xmlns:a="http://schemas.openxmlformats.org/drawingml/2006/main" noGrp="1"/>
          </p:cNvSpPr>
          <p:nvPr/>
        </p:nvSpPr>
        <p:spPr>
          <a:xfrm xmlns:a="http://schemas.openxmlformats.org/drawingml/2006/main">
            <a:off x="4743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D1B186D-EB56-4D3A-B5B8-A21E2C30EE64}"/>
              </a:ext>
            </a:extLst>
          </p:cNvPr>
          <p:cNvSpPr>
            <a:spLocks xmlns:a="http://schemas.openxmlformats.org/drawingml/2006/main" noGrp="1"/>
          </p:cNvSpPr>
          <p:nvPr/>
        </p:nvSpPr>
        <p:spPr>
          <a:xfrm xmlns:a="http://schemas.openxmlformats.org/drawingml/2006/main">
            <a:off x="5143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18" name="">
            <a:extLst xmlns:a="http://schemas.openxmlformats.org/drawingml/2006/main">
              <a:ext uri="{FF2B5EF4-FFF2-40B4-BE49-F238E27FC236}">
                <a16:creationId xmlns:a16="http://schemas.microsoft.com/office/drawing/2014/main" id="{3BCEEF1A-E210-4F68-B50B-B93C82F67D4B}"/>
              </a:ext>
            </a:extLst>
          </p:cNvPr>
          <p:cNvSpPr>
            <a:spLocks xmlns:a="http://schemas.openxmlformats.org/drawingml/2006/main" noGrp="1"/>
          </p:cNvSpPr>
          <p:nvPr/>
        </p:nvSpPr>
        <p:spPr>
          <a:xfrm xmlns:a="http://schemas.openxmlformats.org/drawingml/2006/main">
            <a:off x="5143500" y="2381250"/>
            <a:ext cx="76200" cy="1104900"/>
          </a:xfrm>
          <a:prstGeom xmlns:a="http://schemas.openxmlformats.org/drawingml/2006/main" prst="roundRect">
            <a:avLst>
              <a:gd name="adj" fmla="val 50000"/>
            </a:avLst>
          </a:prstGeom>
          <a:solidFill xmlns:a="http://schemas.openxmlformats.org/drawingml/2006/main">
            <a:srgbClr val="7657D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6B1F6DF-4FAD-438D-A907-7439B00C51E7}"/>
              </a:ext>
            </a:extLst>
          </p:cNvPr>
          <p:cNvSpPr>
            <a:spLocks xmlns:a="http://schemas.openxmlformats.org/drawingml/2006/main" noGrp="1"/>
          </p:cNvSpPr>
          <p:nvPr/>
        </p:nvSpPr>
        <p:spPr>
          <a:xfrm xmlns:a="http://schemas.openxmlformats.org/drawingml/2006/main">
            <a:off x="5334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Context Agent</a:t>
            </a:r>
          </a:p>
        </p:txBody>
      </p:sp>
      <p:sp>
        <p:nvSpPr>
          <p:cNvPr id="20" name="">
            <a:extLst xmlns:a="http://schemas.openxmlformats.org/drawingml/2006/main">
              <a:ext uri="{FF2B5EF4-FFF2-40B4-BE49-F238E27FC236}">
                <a16:creationId xmlns:a16="http://schemas.microsoft.com/office/drawing/2014/main" id="{DC5E87A5-1C3D-42A4-9C71-3EF9A3842D56}"/>
              </a:ext>
            </a:extLst>
          </p:cNvPr>
          <p:cNvSpPr>
            <a:spLocks xmlns:a="http://schemas.openxmlformats.org/drawingml/2006/main" noGrp="1"/>
          </p:cNvSpPr>
          <p:nvPr/>
        </p:nvSpPr>
        <p:spPr>
          <a:xfrm xmlns:a="http://schemas.openxmlformats.org/drawingml/2006/main">
            <a:off x="5334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661"/>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가설 평가</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지지도 산출 후 하나 선택</a:t>
            </a:r>
          </a:p>
        </p:txBody>
      </p:sp>
      <p:sp>
        <p:nvSpPr>
          <p:cNvPr id="21" name="">
            <a:extLst xmlns:a="http://schemas.openxmlformats.org/drawingml/2006/main">
              <a:ext uri="{FF2B5EF4-FFF2-40B4-BE49-F238E27FC236}">
                <a16:creationId xmlns:a16="http://schemas.microsoft.com/office/drawing/2014/main" id="{FC8B4A20-3BC6-493F-8363-63BB55D4C1EB}"/>
              </a:ext>
            </a:extLst>
          </p:cNvPr>
          <p:cNvSpPr>
            <a:spLocks xmlns:a="http://schemas.openxmlformats.org/drawingml/2006/main" noGrp="1"/>
          </p:cNvSpPr>
          <p:nvPr/>
        </p:nvSpPr>
        <p:spPr>
          <a:xfrm xmlns:a="http://schemas.openxmlformats.org/drawingml/2006/main">
            <a:off x="7029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8F05A7B-22E0-4E5A-820A-012B7BC65305}"/>
              </a:ext>
            </a:extLst>
          </p:cNvPr>
          <p:cNvSpPr>
            <a:spLocks xmlns:a="http://schemas.openxmlformats.org/drawingml/2006/main" noGrp="1"/>
          </p:cNvSpPr>
          <p:nvPr/>
        </p:nvSpPr>
        <p:spPr>
          <a:xfrm xmlns:a="http://schemas.openxmlformats.org/drawingml/2006/main">
            <a:off x="7429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23" name="">
            <a:extLst xmlns:a="http://schemas.openxmlformats.org/drawingml/2006/main">
              <a:ext uri="{FF2B5EF4-FFF2-40B4-BE49-F238E27FC236}">
                <a16:creationId xmlns:a16="http://schemas.microsoft.com/office/drawing/2014/main" id="{C9AB9642-A5B0-4C4F-A887-2D4AF19A5275}"/>
              </a:ext>
            </a:extLst>
          </p:cNvPr>
          <p:cNvSpPr>
            <a:spLocks xmlns:a="http://schemas.openxmlformats.org/drawingml/2006/main" noGrp="1"/>
          </p:cNvSpPr>
          <p:nvPr/>
        </p:nvSpPr>
        <p:spPr>
          <a:xfrm xmlns:a="http://schemas.openxmlformats.org/drawingml/2006/main">
            <a:off x="7429500" y="2381250"/>
            <a:ext cx="76200" cy="1104900"/>
          </a:xfrm>
          <a:prstGeom xmlns:a="http://schemas.openxmlformats.org/drawingml/2006/main" prst="roundRect">
            <a:avLst>
              <a:gd name="adj" fmla="val 50000"/>
            </a:avLst>
          </a:prstGeom>
          <a:solidFill xmlns:a="http://schemas.openxmlformats.org/drawingml/2006/main">
            <a:srgbClr val="C77B0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31A0F4C-D3B3-4044-845B-0110B0357AE5}"/>
              </a:ext>
            </a:extLst>
          </p:cNvPr>
          <p:cNvSpPr>
            <a:spLocks xmlns:a="http://schemas.openxmlformats.org/drawingml/2006/main" noGrp="1"/>
          </p:cNvSpPr>
          <p:nvPr/>
        </p:nvSpPr>
        <p:spPr>
          <a:xfrm xmlns:a="http://schemas.openxmlformats.org/drawingml/2006/main">
            <a:off x="7620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Python Guard</a:t>
            </a:r>
          </a:p>
        </p:txBody>
      </p:sp>
      <p:sp>
        <p:nvSpPr>
          <p:cNvPr id="25" name="">
            <a:extLst xmlns:a="http://schemas.openxmlformats.org/drawingml/2006/main">
              <a:ext uri="{FF2B5EF4-FFF2-40B4-BE49-F238E27FC236}">
                <a16:creationId xmlns:a16="http://schemas.microsoft.com/office/drawing/2014/main" id="{C28FA831-F844-4E9A-8DF4-2986F78305E1}"/>
              </a:ext>
            </a:extLst>
          </p:cNvPr>
          <p:cNvSpPr>
            <a:spLocks xmlns:a="http://schemas.openxmlformats.org/drawingml/2006/main" noGrp="1"/>
          </p:cNvSpPr>
          <p:nvPr/>
        </p:nvSpPr>
        <p:spPr>
          <a:xfrm xmlns:a="http://schemas.openxmlformats.org/drawingml/2006/main">
            <a:off x="7620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875"/>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후보·전이·중요 변경 검증</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미달 시 ASK_USER</a:t>
            </a:r>
          </a:p>
        </p:txBody>
      </p:sp>
      <p:sp>
        <p:nvSpPr>
          <p:cNvPr id="26" name="">
            <a:extLst xmlns:a="http://schemas.openxmlformats.org/drawingml/2006/main">
              <a:ext uri="{FF2B5EF4-FFF2-40B4-BE49-F238E27FC236}">
                <a16:creationId xmlns:a16="http://schemas.microsoft.com/office/drawing/2014/main" id="{6C70D3A2-B49A-4E64-84A4-6C8805A4F00D}"/>
              </a:ext>
            </a:extLst>
          </p:cNvPr>
          <p:cNvSpPr>
            <a:spLocks xmlns:a="http://schemas.openxmlformats.org/drawingml/2006/main" noGrp="1"/>
          </p:cNvSpPr>
          <p:nvPr/>
        </p:nvSpPr>
        <p:spPr>
          <a:xfrm xmlns:a="http://schemas.openxmlformats.org/drawingml/2006/main">
            <a:off x="9315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BCA47C8-67AB-4547-ACB7-880CF70388CD}"/>
              </a:ext>
            </a:extLst>
          </p:cNvPr>
          <p:cNvSpPr>
            <a:spLocks xmlns:a="http://schemas.openxmlformats.org/drawingml/2006/main" noGrp="1"/>
          </p:cNvSpPr>
          <p:nvPr/>
        </p:nvSpPr>
        <p:spPr>
          <a:xfrm xmlns:a="http://schemas.openxmlformats.org/drawingml/2006/main">
            <a:off x="9715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28" name="">
            <a:extLst xmlns:a="http://schemas.openxmlformats.org/drawingml/2006/main">
              <a:ext uri="{FF2B5EF4-FFF2-40B4-BE49-F238E27FC236}">
                <a16:creationId xmlns:a16="http://schemas.microsoft.com/office/drawing/2014/main" id="{81D2521B-2361-4C77-9F87-525714570CA5}"/>
              </a:ext>
            </a:extLst>
          </p:cNvPr>
          <p:cNvSpPr>
            <a:spLocks xmlns:a="http://schemas.openxmlformats.org/drawingml/2006/main" noGrp="1"/>
          </p:cNvSpPr>
          <p:nvPr/>
        </p:nvSpPr>
        <p:spPr>
          <a:xfrm xmlns:a="http://schemas.openxmlformats.org/drawingml/2006/main">
            <a:off x="9715500" y="2381250"/>
            <a:ext cx="76200" cy="1104900"/>
          </a:xfrm>
          <a:prstGeom xmlns:a="http://schemas.openxmlformats.org/drawingml/2006/main" prst="roundRect">
            <a:avLst>
              <a:gd name="adj" fmla="val 50000"/>
            </a:avLst>
          </a:prstGeom>
          <a:solidFill xmlns:a="http://schemas.openxmlformats.org/drawingml/2006/main">
            <a:srgbClr val="138A6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B9E074E-AC43-44A5-9130-EED966FA2A89}"/>
              </a:ext>
            </a:extLst>
          </p:cNvPr>
          <p:cNvSpPr>
            <a:spLocks xmlns:a="http://schemas.openxmlformats.org/drawingml/2006/main" noGrp="1"/>
          </p:cNvSpPr>
          <p:nvPr/>
        </p:nvSpPr>
        <p:spPr>
          <a:xfrm xmlns:a="http://schemas.openxmlformats.org/drawingml/2006/main">
            <a:off x="9906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Reply Agent</a:t>
            </a:r>
          </a:p>
        </p:txBody>
      </p:sp>
      <p:sp>
        <p:nvSpPr>
          <p:cNvPr id="30" name="">
            <a:extLst xmlns:a="http://schemas.openxmlformats.org/drawingml/2006/main">
              <a:ext uri="{FF2B5EF4-FFF2-40B4-BE49-F238E27FC236}">
                <a16:creationId xmlns:a16="http://schemas.microsoft.com/office/drawing/2014/main" id="{2D262F68-0FD6-4A4F-A79D-FD221AE9C74D}"/>
              </a:ext>
            </a:extLst>
          </p:cNvPr>
          <p:cNvSpPr>
            <a:spLocks xmlns:a="http://schemas.openxmlformats.org/drawingml/2006/main" noGrp="1"/>
          </p:cNvSpPr>
          <p:nvPr/>
        </p:nvSpPr>
        <p:spPr>
          <a:xfrm xmlns:a="http://schemas.openxmlformats.org/drawingml/2006/main">
            <a:off x="9906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회신 방식 판단·초안</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승인 후 Gmail 발송</a:t>
            </a:r>
          </a:p>
        </p:txBody>
      </p:sp>
      <p:sp>
        <p:nvSpPr>
          <p:cNvPr id="31" name="">
            <a:extLst xmlns:a="http://schemas.openxmlformats.org/drawingml/2006/main">
              <a:ext uri="{FF2B5EF4-FFF2-40B4-BE49-F238E27FC236}">
                <a16:creationId xmlns:a16="http://schemas.microsoft.com/office/drawing/2014/main" id="{93C17D65-1542-4429-9B68-BA0E452AD9B6}"/>
              </a:ext>
            </a:extLst>
          </p:cNvPr>
          <p:cNvSpPr>
            <a:spLocks xmlns:a="http://schemas.openxmlformats.org/drawingml/2006/main" noGrp="1"/>
          </p:cNvSpPr>
          <p:nvPr/>
        </p:nvSpPr>
        <p:spPr>
          <a:xfrm xmlns:a="http://schemas.openxmlformats.org/drawingml/2006/main">
            <a:off x="571500" y="385762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핵심 기술</a:t>
            </a:r>
          </a:p>
        </p:txBody>
      </p:sp>
      <p:sp>
        <p:nvSpPr>
          <p:cNvPr id="32" name="">
            <a:extLst xmlns:a="http://schemas.openxmlformats.org/drawingml/2006/main">
              <a:ext uri="{FF2B5EF4-FFF2-40B4-BE49-F238E27FC236}">
                <a16:creationId xmlns:a16="http://schemas.microsoft.com/office/drawing/2014/main" id="{DE48F164-53D8-4751-968D-800AAEB288EC}"/>
              </a:ext>
            </a:extLst>
          </p:cNvPr>
          <p:cNvSpPr>
            <a:spLocks xmlns:a="http://schemas.openxmlformats.org/drawingml/2006/main" noGrp="1"/>
          </p:cNvSpPr>
          <p:nvPr/>
        </p:nvSpPr>
        <p:spPr>
          <a:xfrm xmlns:a="http://schemas.openxmlformats.org/drawingml/2006/main">
            <a:off x="1952625" y="3857625"/>
            <a:ext cx="928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657187"/>
                </a:solidFill>
                <a:latin typeface="Malgun Gothic"/>
                <a:ea typeface="Malgun Gothic"/>
                <a:cs typeface="Malgun Gothic"/>
              </a:defRPr>
            </a:pPr>
            <a:r>
              <a:rPr sz="1200" b="1">
                <a:solidFill>
                  <a:srgbClr val="657187"/>
                </a:solidFill>
                <a:latin typeface="Malgun Gothic"/>
                <a:ea typeface="Malgun Gothic"/>
                <a:cs typeface="Malgun Gothic"/>
              </a:rPr>
              <a:t>회사 gpt-4.1-mini  ·  Python + Pydantic  ·  SQLite Task Context  ·  Gmail API  ·  Streamlit</a:t>
            </a:r>
          </a:p>
        </p:txBody>
      </p:sp>
      <p:sp>
        <p:nvSpPr>
          <p:cNvPr id="33" name="">
            <a:extLst xmlns:a="http://schemas.openxmlformats.org/drawingml/2006/main">
              <a:ext uri="{FF2B5EF4-FFF2-40B4-BE49-F238E27FC236}">
                <a16:creationId xmlns:a16="http://schemas.microsoft.com/office/drawing/2014/main" id="{0E7460FF-55B9-40AF-9EDA-6ABC18EB6131}"/>
              </a:ext>
            </a:extLst>
          </p:cNvPr>
          <p:cNvSpPr>
            <a:spLocks xmlns:a="http://schemas.openxmlformats.org/drawingml/2006/main" noGrp="1"/>
          </p:cNvSpPr>
          <p:nvPr/>
        </p:nvSpPr>
        <p:spPr>
          <a:xfrm xmlns:a="http://schemas.openxmlformats.org/drawingml/2006/main">
            <a:off x="571500" y="42386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0243E"/>
                </a:solidFill>
                <a:latin typeface="Malgun Gothic"/>
                <a:ea typeface="Malgun Gothic"/>
                <a:cs typeface="Malgun Gothic"/>
              </a:defRPr>
            </a:pPr>
            <a:r>
              <a:rPr sz="1575" b="1">
                <a:solidFill>
                  <a:srgbClr val="10243E"/>
                </a:solidFill>
                <a:latin typeface="Malgun Gothic"/>
                <a:ea typeface="Malgun Gothic"/>
                <a:cs typeface="Malgun Gothic"/>
              </a:rPr>
              <a:t>검증 결과</a:t>
            </a:r>
          </a:p>
        </p:txBody>
      </p:sp>
      <p:sp>
        <p:nvSpPr>
          <p:cNvPr id="34" name="">
            <a:extLst xmlns:a="http://schemas.openxmlformats.org/drawingml/2006/main">
              <a:ext uri="{FF2B5EF4-FFF2-40B4-BE49-F238E27FC236}">
                <a16:creationId xmlns:a16="http://schemas.microsoft.com/office/drawing/2014/main" id="{2449621F-4A58-47E2-BD6B-FEE8B47FE6C8}"/>
              </a:ext>
            </a:extLst>
          </p:cNvPr>
          <p:cNvSpPr>
            <a:spLocks xmlns:a="http://schemas.openxmlformats.org/drawingml/2006/main" noGrp="1"/>
          </p:cNvSpPr>
          <p:nvPr/>
        </p:nvSpPr>
        <p:spPr>
          <a:xfrm xmlns:a="http://schemas.openxmlformats.org/drawingml/2006/main">
            <a:off x="571500" y="45815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769E0"/>
                </a:solidFill>
                <a:latin typeface="Malgun Gothic"/>
                <a:ea typeface="Malgun Gothic"/>
                <a:cs typeface="Malgun Gothic"/>
              </a:defRPr>
            </a:pPr>
            <a:r>
              <a:rPr sz="2400" b="1">
                <a:solidFill>
                  <a:srgbClr val="1769E0"/>
                </a:solidFill>
                <a:latin typeface="Malgun Gothic"/>
                <a:ea typeface="Malgun Gothic"/>
                <a:cs typeface="Malgun Gothic"/>
              </a:rPr>
              <a:t>28/28</a:t>
            </a:r>
          </a:p>
        </p:txBody>
      </p:sp>
      <p:sp>
        <p:nvSpPr>
          <p:cNvPr id="35" name="">
            <a:extLst xmlns:a="http://schemas.openxmlformats.org/drawingml/2006/main">
              <a:ext uri="{FF2B5EF4-FFF2-40B4-BE49-F238E27FC236}">
                <a16:creationId xmlns:a16="http://schemas.microsoft.com/office/drawing/2014/main" id="{8E648D2A-430E-47A5-8155-77A530400D4B}"/>
              </a:ext>
            </a:extLst>
          </p:cNvPr>
          <p:cNvSpPr>
            <a:spLocks xmlns:a="http://schemas.openxmlformats.org/drawingml/2006/main" noGrp="1"/>
          </p:cNvSpPr>
          <p:nvPr/>
        </p:nvSpPr>
        <p:spPr>
          <a:xfrm xmlns:a="http://schemas.openxmlformats.org/drawingml/2006/main">
            <a:off x="571500" y="498157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Action 단계</a:t>
            </a:r>
          </a:p>
        </p:txBody>
      </p:sp>
      <p:sp>
        <p:nvSpPr>
          <p:cNvPr id="36" name="">
            <a:extLst xmlns:a="http://schemas.openxmlformats.org/drawingml/2006/main">
              <a:ext uri="{FF2B5EF4-FFF2-40B4-BE49-F238E27FC236}">
                <a16:creationId xmlns:a16="http://schemas.microsoft.com/office/drawing/2014/main" id="{6F815282-EAC4-44B5-BC75-5947F4B3F880}"/>
              </a:ext>
            </a:extLst>
          </p:cNvPr>
          <p:cNvSpPr>
            <a:spLocks xmlns:a="http://schemas.openxmlformats.org/drawingml/2006/main" noGrp="1"/>
          </p:cNvSpPr>
          <p:nvPr/>
        </p:nvSpPr>
        <p:spPr>
          <a:xfrm xmlns:a="http://schemas.openxmlformats.org/drawingml/2006/main">
            <a:off x="3219450" y="45815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769E0"/>
                </a:solidFill>
                <a:latin typeface="Malgun Gothic"/>
                <a:ea typeface="Malgun Gothic"/>
                <a:cs typeface="Malgun Gothic"/>
              </a:defRPr>
            </a:pPr>
            <a:r>
              <a:rPr sz="2400" b="1">
                <a:solidFill>
                  <a:srgbClr val="1769E0"/>
                </a:solidFill>
                <a:latin typeface="Malgun Gothic"/>
                <a:ea typeface="Malgun Gothic"/>
                <a:cs typeface="Malgun Gothic"/>
              </a:rPr>
              <a:t>3/3</a:t>
            </a:r>
          </a:p>
        </p:txBody>
      </p:sp>
      <p:sp>
        <p:nvSpPr>
          <p:cNvPr id="37" name="">
            <a:extLst xmlns:a="http://schemas.openxmlformats.org/drawingml/2006/main">
              <a:ext uri="{FF2B5EF4-FFF2-40B4-BE49-F238E27FC236}">
                <a16:creationId xmlns:a16="http://schemas.microsoft.com/office/drawing/2014/main" id="{3C5339E0-4922-485A-8097-04E70A8A3A8E}"/>
              </a:ext>
            </a:extLst>
          </p:cNvPr>
          <p:cNvSpPr>
            <a:spLocks xmlns:a="http://schemas.openxmlformats.org/drawingml/2006/main" noGrp="1"/>
          </p:cNvSpPr>
          <p:nvPr/>
        </p:nvSpPr>
        <p:spPr>
          <a:xfrm xmlns:a="http://schemas.openxmlformats.org/drawingml/2006/main">
            <a:off x="3219450" y="498157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Agent Context Live</a:t>
            </a:r>
          </a:p>
        </p:txBody>
      </p:sp>
      <p:sp>
        <p:nvSpPr>
          <p:cNvPr id="38" name="">
            <a:extLst xmlns:a="http://schemas.openxmlformats.org/drawingml/2006/main">
              <a:ext uri="{FF2B5EF4-FFF2-40B4-BE49-F238E27FC236}">
                <a16:creationId xmlns:a16="http://schemas.microsoft.com/office/drawing/2014/main" id="{F43FDD74-FFCA-4D01-8289-CE4DE7CCC897}"/>
              </a:ext>
            </a:extLst>
          </p:cNvPr>
          <p:cNvSpPr>
            <a:spLocks xmlns:a="http://schemas.openxmlformats.org/drawingml/2006/main" noGrp="1"/>
          </p:cNvSpPr>
          <p:nvPr/>
        </p:nvSpPr>
        <p:spPr>
          <a:xfrm xmlns:a="http://schemas.openxmlformats.org/drawingml/2006/main">
            <a:off x="5867400" y="45815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38A62"/>
                </a:solidFill>
                <a:latin typeface="Malgun Gothic"/>
                <a:ea typeface="Malgun Gothic"/>
                <a:cs typeface="Malgun Gothic"/>
              </a:defRPr>
            </a:pPr>
            <a:r>
              <a:rPr sz="2400" b="1">
                <a:solidFill>
                  <a:srgbClr val="138A62"/>
                </a:solidFill>
                <a:latin typeface="Malgun Gothic"/>
                <a:ea typeface="Malgun Gothic"/>
                <a:cs typeface="Malgun Gothic"/>
              </a:rPr>
              <a:t>20/20</a:t>
            </a:r>
          </a:p>
        </p:txBody>
      </p:sp>
      <p:sp>
        <p:nvSpPr>
          <p:cNvPr id="39" name="">
            <a:extLst xmlns:a="http://schemas.openxmlformats.org/drawingml/2006/main">
              <a:ext uri="{FF2B5EF4-FFF2-40B4-BE49-F238E27FC236}">
                <a16:creationId xmlns:a16="http://schemas.microsoft.com/office/drawing/2014/main" id="{1A48615F-98F4-4402-8C62-9E0DDBE1D68E}"/>
              </a:ext>
            </a:extLst>
          </p:cNvPr>
          <p:cNvSpPr>
            <a:spLocks xmlns:a="http://schemas.openxmlformats.org/drawingml/2006/main" noGrp="1"/>
          </p:cNvSpPr>
          <p:nvPr/>
        </p:nvSpPr>
        <p:spPr>
          <a:xfrm xmlns:a="http://schemas.openxmlformats.org/drawingml/2006/main">
            <a:off x="5867400" y="498157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Gmail 수용시험</a:t>
            </a:r>
          </a:p>
        </p:txBody>
      </p:sp>
      <p:sp>
        <p:nvSpPr>
          <p:cNvPr id="40" name="">
            <a:extLst xmlns:a="http://schemas.openxmlformats.org/drawingml/2006/main">
              <a:ext uri="{FF2B5EF4-FFF2-40B4-BE49-F238E27FC236}">
                <a16:creationId xmlns:a16="http://schemas.microsoft.com/office/drawing/2014/main" id="{58ADFE38-ED9B-4008-96A1-A7BC9F4E1D9F}"/>
              </a:ext>
            </a:extLst>
          </p:cNvPr>
          <p:cNvSpPr>
            <a:spLocks xmlns:a="http://schemas.openxmlformats.org/drawingml/2006/main" noGrp="1"/>
          </p:cNvSpPr>
          <p:nvPr/>
        </p:nvSpPr>
        <p:spPr>
          <a:xfrm xmlns:a="http://schemas.openxmlformats.org/drawingml/2006/main">
            <a:off x="8001000" y="45148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10243E"/>
                </a:solidFill>
                <a:latin typeface="Malgun Gothic"/>
                <a:ea typeface="Malgun Gothic"/>
                <a:cs typeface="Malgun Gothic"/>
              </a:defRPr>
            </a:pPr>
            <a:r>
              <a:rPr sz="975" b="1">
                <a:solidFill>
                  <a:srgbClr val="10243E"/>
                </a:solidFill>
                <a:latin typeface="Malgun Gothic"/>
                <a:ea typeface="Malgun Gothic"/>
                <a:cs typeface="Malgun Gothic"/>
              </a:rPr>
              <a:t>보조 검증  |  pytest 228 passed  ·  중복 재조회 35/35</a:t>
            </a:r>
          </a:p>
        </p:txBody>
      </p:sp>
      <p:sp>
        <p:nvSpPr>
          <p:cNvPr id="41" name="">
            <a:extLst xmlns:a="http://schemas.openxmlformats.org/drawingml/2006/main">
              <a:ext uri="{FF2B5EF4-FFF2-40B4-BE49-F238E27FC236}">
                <a16:creationId xmlns:a16="http://schemas.microsoft.com/office/drawing/2014/main" id="{C68E7284-3E15-47F0-9461-83C02AF9E5AB}"/>
              </a:ext>
            </a:extLst>
          </p:cNvPr>
          <p:cNvSpPr>
            <a:spLocks xmlns:a="http://schemas.openxmlformats.org/drawingml/2006/main" noGrp="1"/>
          </p:cNvSpPr>
          <p:nvPr/>
        </p:nvSpPr>
        <p:spPr>
          <a:xfrm xmlns:a="http://schemas.openxmlformats.org/drawingml/2006/main">
            <a:off x="7239000" y="47434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138A62"/>
                </a:solidFill>
                <a:latin typeface="Malgun Gothic"/>
                <a:ea typeface="Malgun Gothic"/>
                <a:cs typeface="Malgun Gothic"/>
              </a:defRPr>
            </a:pPr>
            <a:r>
              <a:rPr sz="975" b="1">
                <a:solidFill>
                  <a:srgbClr val="138A62"/>
                </a:solidFill>
                <a:latin typeface="Malgun Gothic"/>
                <a:ea typeface="Malgun Gothic"/>
                <a:cs typeface="Malgun Gothic"/>
              </a:rPr>
              <a:t>Reply Planning 3/3  ·  Draft 1/1  ·  사용자 승인 실제 Gmail 발송 1건</a:t>
            </a:r>
          </a:p>
        </p:txBody>
      </p:sp>
      <p:sp>
        <p:nvSpPr>
          <p:cNvPr id="42" name="">
            <a:extLst xmlns:a="http://schemas.openxmlformats.org/drawingml/2006/main">
              <a:ext uri="{FF2B5EF4-FFF2-40B4-BE49-F238E27FC236}">
                <a16:creationId xmlns:a16="http://schemas.microsoft.com/office/drawing/2014/main" id="{C7894AF2-3A14-4A17-93C7-981CC6715F65}"/>
              </a:ext>
            </a:extLst>
          </p:cNvPr>
          <p:cNvSpPr>
            <a:spLocks xmlns:a="http://schemas.openxmlformats.org/drawingml/2006/main" noGrp="1"/>
          </p:cNvSpPr>
          <p:nvPr/>
        </p:nvSpPr>
        <p:spPr>
          <a:xfrm xmlns:a="http://schemas.openxmlformats.org/drawingml/2006/main">
            <a:off x="571500" y="527685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0243E"/>
                </a:solidFill>
                <a:latin typeface="Malgun Gothic"/>
                <a:ea typeface="Malgun Gothic"/>
                <a:cs typeface="Malgun Gothic"/>
              </a:defRPr>
            </a:pPr>
            <a:r>
              <a:rPr sz="1050" b="1">
                <a:solidFill>
                  <a:srgbClr val="10243E"/>
                </a:solidFill>
                <a:latin typeface="Malgun Gothic"/>
                <a:ea typeface="Malgun Gothic"/>
                <a:cs typeface="Malgun Gothic"/>
              </a:rPr>
              <a:t>자동 반영 비율  |  정의된 합성 15 Case에서 자동 반영 8/15(53.3%)  ·  사용자 확인 7/15(46.7%)</a:t>
            </a:r>
          </a:p>
        </p:txBody>
      </p:sp>
      <p:sp>
        <p:nvSpPr>
          <p:cNvPr id="43" name="">
            <a:extLst xmlns:a="http://schemas.openxmlformats.org/drawingml/2006/main">
              <a:ext uri="{FF2B5EF4-FFF2-40B4-BE49-F238E27FC236}">
                <a16:creationId xmlns:a16="http://schemas.microsoft.com/office/drawing/2014/main" id="{EED9CE8F-D3DE-4B58-96C1-58B950D35AA3}"/>
              </a:ext>
            </a:extLst>
          </p:cNvPr>
          <p:cNvSpPr>
            <a:spLocks xmlns:a="http://schemas.openxmlformats.org/drawingml/2006/main" noGrp="1"/>
          </p:cNvSpPr>
          <p:nvPr/>
        </p:nvSpPr>
        <p:spPr>
          <a:xfrm xmlns:a="http://schemas.openxmlformats.org/drawingml/2006/main">
            <a:off x="571500" y="550545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0834"/>
          </a:bodyPr>
          <a:lstStyle xmlns:a="http://schemas.openxmlformats.org/drawingml/2006/main"/>
          <a:p xmlns:a="http://schemas.openxmlformats.org/drawingml/2006/main">
            <a:pPr algn="l">
              <a:defRPr sz="863" b="0">
                <a:solidFill>
                  <a:srgbClr val="657187"/>
                </a:solidFill>
                <a:latin typeface="Malgun Gothic"/>
                <a:ea typeface="Malgun Gothic"/>
                <a:cs typeface="Malgun Gothic"/>
              </a:defRPr>
            </a:pPr>
            <a:r>
              <a:rPr sz="863" b="0">
                <a:solidFill>
                  <a:srgbClr val="657187"/>
                </a:solidFill>
                <a:latin typeface="Malgun Gothic"/>
                <a:ea typeface="Malgun Gothic"/>
                <a:cs typeface="Malgun Gothic"/>
              </a:rPr>
              <a:t>위 수치는 정의된 Case 범위의 결과이며 실제 Mailbox 전체 성능이 아닙니다. 사용자 체감 시간은 미측정입니다.</a:t>
            </a:r>
          </a:p>
        </p:txBody>
      </p:sp>
      <p:sp>
        <p:nvSpPr>
          <p:cNvPr id="44" name="">
            <a:extLst xmlns:a="http://schemas.openxmlformats.org/drawingml/2006/main">
              <a:ext uri="{FF2B5EF4-FFF2-40B4-BE49-F238E27FC236}">
                <a16:creationId xmlns:a16="http://schemas.microsoft.com/office/drawing/2014/main" id="{B2E9E3BD-2CFB-4835-9054-350C17E1E656}"/>
              </a:ext>
            </a:extLst>
          </p:cNvPr>
          <p:cNvSpPr>
            <a:spLocks xmlns:a="http://schemas.openxmlformats.org/drawingml/2006/main" noGrp="1"/>
          </p:cNvSpPr>
          <p:nvPr/>
        </p:nvSpPr>
        <p:spPr>
          <a:xfrm xmlns:a="http://schemas.openxmlformats.org/drawingml/2006/main">
            <a:off x="571500" y="5734050"/>
            <a:ext cx="11049000" cy="419100"/>
          </a:xfrm>
          <a:prstGeom xmlns:a="http://schemas.openxmlformats.org/drawingml/2006/main" prst="roundRect">
            <a:avLst>
              <a:gd name="adj" fmla="val 18182"/>
            </a:avLst>
          </a:prstGeom>
          <a:solidFill xmlns:a="http://schemas.openxmlformats.org/drawingml/2006/main">
            <a:srgbClr val="EFF5FD"/>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AE06A2A7-690C-401D-916C-55DCB35A2693}"/>
              </a:ext>
            </a:extLst>
          </p:cNvPr>
          <p:cNvSpPr>
            <a:spLocks xmlns:a="http://schemas.openxmlformats.org/drawingml/2006/main" noGrp="1"/>
          </p:cNvSpPr>
          <p:nvPr/>
        </p:nvSpPr>
        <p:spPr>
          <a:xfrm xmlns:a="http://schemas.openxmlformats.org/drawingml/2006/main">
            <a:off x="781050" y="58197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핵심 메시지  |  규칙으로 열거할 수 없는 "이 메일이 어느 업무인가"만 Agent가 판단하고, 실행 권한은 Python과 사용자가 가집니다.</a:t>
            </a:r>
          </a:p>
        </p:txBody>
      </p:sp>
    </p:spTree>
    <p:extLst>
      <p:ext uri="{BB962C8B-B14F-4D97-AF65-F5344CB8AC3E}">
        <p14:creationId xmlns:p14="http://schemas.microsoft.com/office/powerpoint/2010/main" val="139126762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09C2349F-33E0-4886-82AA-19059B78000E}"/>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E5AA3D-4C1E-4AAE-8A58-0952E217425A}"/>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기술 아키텍처와 Agent 판단 구조</a:t>
            </a:r>
          </a:p>
        </p:txBody>
      </p:sp>
      <p:sp>
        <p:nvSpPr>
          <p:cNvPr id="3" name="">
            <a:extLst xmlns:a="http://schemas.openxmlformats.org/drawingml/2006/main">
              <a:ext uri="{FF2B5EF4-FFF2-40B4-BE49-F238E27FC236}">
                <a16:creationId xmlns:a16="http://schemas.microsoft.com/office/drawing/2014/main" id="{7269C19B-99CE-4F3A-AE95-75E3CDF1AD08}"/>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29DD4C-9454-4416-9CE8-45BF015541F7}"/>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03</a:t>
            </a:r>
          </a:p>
        </p:txBody>
      </p:sp>
      <p:sp>
        <p:nvSpPr>
          <p:cNvPr id="5" name="">
            <a:extLst xmlns:a="http://schemas.openxmlformats.org/drawingml/2006/main">
              <a:ext uri="{FF2B5EF4-FFF2-40B4-BE49-F238E27FC236}">
                <a16:creationId xmlns:a16="http://schemas.microsoft.com/office/drawing/2014/main" id="{0B35B348-A86B-45F2-8F59-4C903BBB9BF2}"/>
              </a:ext>
            </a:extLst>
          </p:cNvPr>
          <p:cNvSpPr>
            <a:spLocks xmlns:a="http://schemas.openxmlformats.org/drawingml/2006/main" noGrp="1"/>
          </p:cNvSpPr>
          <p:nvPr/>
        </p:nvSpPr>
        <p:spPr>
          <a:xfrm xmlns:a="http://schemas.openxmlformats.org/drawingml/2006/main">
            <a:off x="571500" y="12001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1769E0"/>
                </a:solidFill>
                <a:latin typeface="Malgun Gothic"/>
                <a:ea typeface="Malgun Gothic"/>
                <a:cs typeface="Malgun Gothic"/>
              </a:defRPr>
            </a:pPr>
            <a:r>
              <a:rPr sz="1425" b="1">
                <a:solidFill>
                  <a:srgbClr val="1769E0"/>
                </a:solidFill>
                <a:latin typeface="Malgun Gothic"/>
                <a:ea typeface="Malgun Gothic"/>
                <a:cs typeface="Malgun Gothic"/>
              </a:rPr>
              <a:t>M-01~M-05 Workflow는 안전한 실행 뼈대, 규칙으로 확정할 수 없는 관계·대상·Action은 Agent가 판단</a:t>
            </a:r>
          </a:p>
        </p:txBody>
      </p:sp>
      <p:sp>
        <p:nvSpPr>
          <p:cNvPr id="6" name="">
            <a:extLst xmlns:a="http://schemas.openxmlformats.org/drawingml/2006/main">
              <a:ext uri="{FF2B5EF4-FFF2-40B4-BE49-F238E27FC236}">
                <a16:creationId xmlns:a16="http://schemas.microsoft.com/office/drawing/2014/main" id="{014C47C7-781B-4B1A-BAAD-502257B2F24F}"/>
              </a:ext>
            </a:extLst>
          </p:cNvPr>
          <p:cNvSpPr>
            <a:spLocks xmlns:a="http://schemas.openxmlformats.org/drawingml/2006/main" noGrp="1"/>
          </p:cNvSpPr>
          <p:nvPr/>
        </p:nvSpPr>
        <p:spPr>
          <a:xfrm xmlns:a="http://schemas.openxmlformats.org/drawingml/2006/main">
            <a:off x="57150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7" name="">
            <a:extLst xmlns:a="http://schemas.openxmlformats.org/drawingml/2006/main">
              <a:ext uri="{FF2B5EF4-FFF2-40B4-BE49-F238E27FC236}">
                <a16:creationId xmlns:a16="http://schemas.microsoft.com/office/drawing/2014/main" id="{C09875B4-2CFA-4089-A085-C47CBFCA0CE1}"/>
              </a:ext>
            </a:extLst>
          </p:cNvPr>
          <p:cNvSpPr>
            <a:spLocks xmlns:a="http://schemas.openxmlformats.org/drawingml/2006/main" noGrp="1"/>
          </p:cNvSpPr>
          <p:nvPr/>
        </p:nvSpPr>
        <p:spPr>
          <a:xfrm xmlns:a="http://schemas.openxmlformats.org/drawingml/2006/main">
            <a:off x="74295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1DB83FE-FD47-430F-8C46-296C9C0832F4}"/>
              </a:ext>
            </a:extLst>
          </p:cNvPr>
          <p:cNvSpPr>
            <a:spLocks xmlns:a="http://schemas.openxmlformats.org/drawingml/2006/main" noGrp="1"/>
          </p:cNvSpPr>
          <p:nvPr/>
        </p:nvSpPr>
        <p:spPr>
          <a:xfrm xmlns:a="http://schemas.openxmlformats.org/drawingml/2006/main">
            <a:off x="7810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M-01</a:t>
            </a:r>
          </a:p>
        </p:txBody>
      </p:sp>
      <p:sp>
        <p:nvSpPr>
          <p:cNvPr id="9" name="">
            <a:extLst xmlns:a="http://schemas.openxmlformats.org/drawingml/2006/main">
              <a:ext uri="{FF2B5EF4-FFF2-40B4-BE49-F238E27FC236}">
                <a16:creationId xmlns:a16="http://schemas.microsoft.com/office/drawing/2014/main" id="{C05CE73B-1E4B-4B00-A09D-1AA9236219FB}"/>
              </a:ext>
            </a:extLst>
          </p:cNvPr>
          <p:cNvSpPr>
            <a:spLocks xmlns:a="http://schemas.openxmlformats.org/drawingml/2006/main" noGrp="1"/>
          </p:cNvSpPr>
          <p:nvPr/>
        </p:nvSpPr>
        <p:spPr>
          <a:xfrm xmlns:a="http://schemas.openxmlformats.org/drawingml/2006/main">
            <a:off x="7048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Mail Analyzer</a:t>
            </a:r>
          </a:p>
        </p:txBody>
      </p:sp>
      <p:sp>
        <p:nvSpPr>
          <p:cNvPr id="10" name="">
            <a:extLst xmlns:a="http://schemas.openxmlformats.org/drawingml/2006/main">
              <a:ext uri="{FF2B5EF4-FFF2-40B4-BE49-F238E27FC236}">
                <a16:creationId xmlns:a16="http://schemas.microsoft.com/office/drawing/2014/main" id="{48379D53-C48F-45E1-97FC-EF9B58D0AC21}"/>
              </a:ext>
            </a:extLst>
          </p:cNvPr>
          <p:cNvSpPr>
            <a:spLocks xmlns:a="http://schemas.openxmlformats.org/drawingml/2006/main" noGrp="1"/>
          </p:cNvSpPr>
          <p:nvPr/>
        </p:nvSpPr>
        <p:spPr>
          <a:xfrm xmlns:a="http://schemas.openxmlformats.org/drawingml/2006/main">
            <a:off x="7048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의미·Intent·기한</a:t>
            </a:r>
          </a:p>
        </p:txBody>
      </p:sp>
      <p:sp>
        <p:nvSpPr>
          <p:cNvPr id="11" name="">
            <a:extLst xmlns:a="http://schemas.openxmlformats.org/drawingml/2006/main">
              <a:ext uri="{FF2B5EF4-FFF2-40B4-BE49-F238E27FC236}">
                <a16:creationId xmlns:a16="http://schemas.microsoft.com/office/drawing/2014/main" id="{121E24A7-354A-41E4-80F3-851D8743483B}"/>
              </a:ext>
            </a:extLst>
          </p:cNvPr>
          <p:cNvSpPr>
            <a:spLocks xmlns:a="http://schemas.openxmlformats.org/drawingml/2006/main" noGrp="1"/>
          </p:cNvSpPr>
          <p:nvPr/>
        </p:nvSpPr>
        <p:spPr>
          <a:xfrm xmlns:a="http://schemas.openxmlformats.org/drawingml/2006/main">
            <a:off x="21526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694409F-9F56-448C-9C1E-8042654C3E4E}"/>
              </a:ext>
            </a:extLst>
          </p:cNvPr>
          <p:cNvSpPr>
            <a:spLocks xmlns:a="http://schemas.openxmlformats.org/drawingml/2006/main" noGrp="1"/>
          </p:cNvSpPr>
          <p:nvPr/>
        </p:nvSpPr>
        <p:spPr>
          <a:xfrm xmlns:a="http://schemas.openxmlformats.org/drawingml/2006/main">
            <a:off x="23812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13" name="">
            <a:extLst xmlns:a="http://schemas.openxmlformats.org/drawingml/2006/main">
              <a:ext uri="{FF2B5EF4-FFF2-40B4-BE49-F238E27FC236}">
                <a16:creationId xmlns:a16="http://schemas.microsoft.com/office/drawing/2014/main" id="{6F0CC1A1-D332-4F0F-9A0B-28429C4CE1C4}"/>
              </a:ext>
            </a:extLst>
          </p:cNvPr>
          <p:cNvSpPr>
            <a:spLocks xmlns:a="http://schemas.openxmlformats.org/drawingml/2006/main" noGrp="1"/>
          </p:cNvSpPr>
          <p:nvPr/>
        </p:nvSpPr>
        <p:spPr>
          <a:xfrm xmlns:a="http://schemas.openxmlformats.org/drawingml/2006/main">
            <a:off x="25527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A6372B1-DA18-4741-805C-22891DC57633}"/>
              </a:ext>
            </a:extLst>
          </p:cNvPr>
          <p:cNvSpPr>
            <a:spLocks xmlns:a="http://schemas.openxmlformats.org/drawingml/2006/main" noGrp="1"/>
          </p:cNvSpPr>
          <p:nvPr/>
        </p:nvSpPr>
        <p:spPr>
          <a:xfrm xmlns:a="http://schemas.openxmlformats.org/drawingml/2006/main">
            <a:off x="25908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M-02</a:t>
            </a:r>
          </a:p>
        </p:txBody>
      </p:sp>
      <p:sp>
        <p:nvSpPr>
          <p:cNvPr id="15" name="">
            <a:extLst xmlns:a="http://schemas.openxmlformats.org/drawingml/2006/main">
              <a:ext uri="{FF2B5EF4-FFF2-40B4-BE49-F238E27FC236}">
                <a16:creationId xmlns:a16="http://schemas.microsoft.com/office/drawing/2014/main" id="{45101FA9-AE5D-4879-A492-0E9EFCEBD257}"/>
              </a:ext>
            </a:extLst>
          </p:cNvPr>
          <p:cNvSpPr>
            <a:spLocks xmlns:a="http://schemas.openxmlformats.org/drawingml/2006/main" noGrp="1"/>
          </p:cNvSpPr>
          <p:nvPr/>
        </p:nvSpPr>
        <p:spPr>
          <a:xfrm xmlns:a="http://schemas.openxmlformats.org/drawingml/2006/main">
            <a:off x="25146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32"/>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Task Context RAG</a:t>
            </a:r>
          </a:p>
        </p:txBody>
      </p:sp>
      <p:sp>
        <p:nvSpPr>
          <p:cNvPr id="16" name="">
            <a:extLst xmlns:a="http://schemas.openxmlformats.org/drawingml/2006/main">
              <a:ext uri="{FF2B5EF4-FFF2-40B4-BE49-F238E27FC236}">
                <a16:creationId xmlns:a16="http://schemas.microsoft.com/office/drawing/2014/main" id="{DC120C8C-65BB-4428-8563-64CA74D34442}"/>
              </a:ext>
            </a:extLst>
          </p:cNvPr>
          <p:cNvSpPr>
            <a:spLocks xmlns:a="http://schemas.openxmlformats.org/drawingml/2006/main" noGrp="1"/>
          </p:cNvSpPr>
          <p:nvPr/>
        </p:nvSpPr>
        <p:spPr>
          <a:xfrm xmlns:a="http://schemas.openxmlformats.org/drawingml/2006/main">
            <a:off x="25146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SQLite top-k 검색</a:t>
            </a:r>
          </a:p>
        </p:txBody>
      </p:sp>
      <p:sp>
        <p:nvSpPr>
          <p:cNvPr id="17" name="">
            <a:extLst xmlns:a="http://schemas.openxmlformats.org/drawingml/2006/main">
              <a:ext uri="{FF2B5EF4-FFF2-40B4-BE49-F238E27FC236}">
                <a16:creationId xmlns:a16="http://schemas.microsoft.com/office/drawing/2014/main" id="{C86922AB-C7C3-4BA9-BB0A-71A71F608F5B}"/>
              </a:ext>
            </a:extLst>
          </p:cNvPr>
          <p:cNvSpPr>
            <a:spLocks xmlns:a="http://schemas.openxmlformats.org/drawingml/2006/main" noGrp="1"/>
          </p:cNvSpPr>
          <p:nvPr/>
        </p:nvSpPr>
        <p:spPr>
          <a:xfrm xmlns:a="http://schemas.openxmlformats.org/drawingml/2006/main">
            <a:off x="396240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F9D12ED-BD11-4C9C-B75A-DD485FA2556B}"/>
              </a:ext>
            </a:extLst>
          </p:cNvPr>
          <p:cNvSpPr>
            <a:spLocks xmlns:a="http://schemas.openxmlformats.org/drawingml/2006/main" noGrp="1"/>
          </p:cNvSpPr>
          <p:nvPr/>
        </p:nvSpPr>
        <p:spPr>
          <a:xfrm xmlns:a="http://schemas.openxmlformats.org/drawingml/2006/main">
            <a:off x="4191000" y="1809750"/>
            <a:ext cx="1524000" cy="1257300"/>
          </a:xfrm>
          <a:prstGeom xmlns:a="http://schemas.openxmlformats.org/drawingml/2006/main" prst="roundRect">
            <a:avLst>
              <a:gd name="adj" fmla="val 6061"/>
            </a:avLst>
          </a:prstGeom>
          <a:solidFill xmlns:a="http://schemas.openxmlformats.org/drawingml/2006/main">
            <a:srgbClr val="F3EFFF"/>
          </a:solidFill>
          <a:ln xmlns:a="http://schemas.openxmlformats.org/drawingml/2006/main" w="9525">
            <a:solidFill>
              <a:srgbClr val="7657D6"/>
            </a:solidFill>
          </a:ln>
        </p:spPr>
      </p:sp>
      <p:sp>
        <p:nvSpPr>
          <p:cNvPr id="19" name="">
            <a:extLst xmlns:a="http://schemas.openxmlformats.org/drawingml/2006/main">
              <a:ext uri="{FF2B5EF4-FFF2-40B4-BE49-F238E27FC236}">
                <a16:creationId xmlns:a16="http://schemas.microsoft.com/office/drawing/2014/main" id="{A594F333-A38E-47F0-94C1-8494103FAE09}"/>
              </a:ext>
            </a:extLst>
          </p:cNvPr>
          <p:cNvSpPr>
            <a:spLocks xmlns:a="http://schemas.openxmlformats.org/drawingml/2006/main" noGrp="1"/>
          </p:cNvSpPr>
          <p:nvPr/>
        </p:nvSpPr>
        <p:spPr>
          <a:xfrm xmlns:a="http://schemas.openxmlformats.org/drawingml/2006/main">
            <a:off x="4362450" y="1943100"/>
            <a:ext cx="857250" cy="323850"/>
          </a:xfrm>
          <a:prstGeom xmlns:a="http://schemas.openxmlformats.org/drawingml/2006/main" prst="roundRect">
            <a:avLst>
              <a:gd name="adj" fmla="val 23529"/>
            </a:avLst>
          </a:prstGeom>
          <a:solidFill xmlns:a="http://schemas.openxmlformats.org/drawingml/2006/main">
            <a:srgbClr val="EDE6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95C2EEB-241C-4BBC-B73D-976C0BFC9BC3}"/>
              </a:ext>
            </a:extLst>
          </p:cNvPr>
          <p:cNvSpPr>
            <a:spLocks xmlns:a="http://schemas.openxmlformats.org/drawingml/2006/main" noGrp="1"/>
          </p:cNvSpPr>
          <p:nvPr/>
        </p:nvSpPr>
        <p:spPr>
          <a:xfrm xmlns:a="http://schemas.openxmlformats.org/drawingml/2006/main">
            <a:off x="44005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7657D6"/>
                </a:solidFill>
                <a:latin typeface="Malgun Gothic"/>
                <a:ea typeface="Malgun Gothic"/>
                <a:cs typeface="Malgun Gothic"/>
              </a:defRPr>
            </a:pPr>
            <a:r>
              <a:rPr sz="1050" b="1">
                <a:solidFill>
                  <a:srgbClr val="7657D6"/>
                </a:solidFill>
                <a:latin typeface="Malgun Gothic"/>
                <a:ea typeface="Malgun Gothic"/>
                <a:cs typeface="Malgun Gothic"/>
              </a:rPr>
              <a:t>M-03</a:t>
            </a:r>
          </a:p>
        </p:txBody>
      </p:sp>
      <p:sp>
        <p:nvSpPr>
          <p:cNvPr id="21" name="">
            <a:extLst xmlns:a="http://schemas.openxmlformats.org/drawingml/2006/main">
              <a:ext uri="{FF2B5EF4-FFF2-40B4-BE49-F238E27FC236}">
                <a16:creationId xmlns:a16="http://schemas.microsoft.com/office/drawing/2014/main" id="{F9BC6141-0C3A-4B83-B803-07B8FB7D007A}"/>
              </a:ext>
            </a:extLst>
          </p:cNvPr>
          <p:cNvSpPr>
            <a:spLocks xmlns:a="http://schemas.openxmlformats.org/drawingml/2006/main" noGrp="1"/>
          </p:cNvSpPr>
          <p:nvPr/>
        </p:nvSpPr>
        <p:spPr>
          <a:xfrm xmlns:a="http://schemas.openxmlformats.org/drawingml/2006/main">
            <a:off x="43243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Context Agent</a:t>
            </a:r>
          </a:p>
        </p:txBody>
      </p:sp>
      <p:sp>
        <p:nvSpPr>
          <p:cNvPr id="22" name="">
            <a:extLst xmlns:a="http://schemas.openxmlformats.org/drawingml/2006/main">
              <a:ext uri="{FF2B5EF4-FFF2-40B4-BE49-F238E27FC236}">
                <a16:creationId xmlns:a16="http://schemas.microsoft.com/office/drawing/2014/main" id="{3A9A31B0-6B1F-4FF6-8B24-F0BDE1D593C3}"/>
              </a:ext>
            </a:extLst>
          </p:cNvPr>
          <p:cNvSpPr>
            <a:spLocks xmlns:a="http://schemas.openxmlformats.org/drawingml/2006/main" noGrp="1"/>
          </p:cNvSpPr>
          <p:nvPr/>
        </p:nvSpPr>
        <p:spPr>
          <a:xfrm xmlns:a="http://schemas.openxmlformats.org/drawingml/2006/main">
            <a:off x="43243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가설 생성·검증·평가</a:t>
            </a:r>
          </a:p>
        </p:txBody>
      </p:sp>
      <p:sp>
        <p:nvSpPr>
          <p:cNvPr id="23" name="">
            <a:extLst xmlns:a="http://schemas.openxmlformats.org/drawingml/2006/main">
              <a:ext uri="{FF2B5EF4-FFF2-40B4-BE49-F238E27FC236}">
                <a16:creationId xmlns:a16="http://schemas.microsoft.com/office/drawing/2014/main" id="{19914CA6-E4BB-4853-9DFE-A66CAAA47D8D}"/>
              </a:ext>
            </a:extLst>
          </p:cNvPr>
          <p:cNvSpPr>
            <a:spLocks xmlns:a="http://schemas.openxmlformats.org/drawingml/2006/main" noGrp="1"/>
          </p:cNvSpPr>
          <p:nvPr/>
        </p:nvSpPr>
        <p:spPr>
          <a:xfrm xmlns:a="http://schemas.openxmlformats.org/drawingml/2006/main">
            <a:off x="57721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2DC1D12-84C7-40B1-A427-2DF56BF5DC0C}"/>
              </a:ext>
            </a:extLst>
          </p:cNvPr>
          <p:cNvSpPr>
            <a:spLocks xmlns:a="http://schemas.openxmlformats.org/drawingml/2006/main" noGrp="1"/>
          </p:cNvSpPr>
          <p:nvPr/>
        </p:nvSpPr>
        <p:spPr>
          <a:xfrm xmlns:a="http://schemas.openxmlformats.org/drawingml/2006/main">
            <a:off x="60007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25" name="">
            <a:extLst xmlns:a="http://schemas.openxmlformats.org/drawingml/2006/main">
              <a:ext uri="{FF2B5EF4-FFF2-40B4-BE49-F238E27FC236}">
                <a16:creationId xmlns:a16="http://schemas.microsoft.com/office/drawing/2014/main" id="{29C442D6-1B10-4EF5-B8D3-447C144631BA}"/>
              </a:ext>
            </a:extLst>
          </p:cNvPr>
          <p:cNvSpPr>
            <a:spLocks xmlns:a="http://schemas.openxmlformats.org/drawingml/2006/main" noGrp="1"/>
          </p:cNvSpPr>
          <p:nvPr/>
        </p:nvSpPr>
        <p:spPr>
          <a:xfrm xmlns:a="http://schemas.openxmlformats.org/drawingml/2006/main">
            <a:off x="61722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87CE94F-AA92-4523-9803-B8586850EAD4}"/>
              </a:ext>
            </a:extLst>
          </p:cNvPr>
          <p:cNvSpPr>
            <a:spLocks xmlns:a="http://schemas.openxmlformats.org/drawingml/2006/main" noGrp="1"/>
          </p:cNvSpPr>
          <p:nvPr/>
        </p:nvSpPr>
        <p:spPr>
          <a:xfrm xmlns:a="http://schemas.openxmlformats.org/drawingml/2006/main">
            <a:off x="62103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Guard</a:t>
            </a:r>
          </a:p>
        </p:txBody>
      </p:sp>
      <p:sp>
        <p:nvSpPr>
          <p:cNvPr id="27" name="">
            <a:extLst xmlns:a="http://schemas.openxmlformats.org/drawingml/2006/main">
              <a:ext uri="{FF2B5EF4-FFF2-40B4-BE49-F238E27FC236}">
                <a16:creationId xmlns:a16="http://schemas.microsoft.com/office/drawing/2014/main" id="{3B7141E0-E911-4B8C-A612-4CA0BA1716C4}"/>
              </a:ext>
            </a:extLst>
          </p:cNvPr>
          <p:cNvSpPr>
            <a:spLocks xmlns:a="http://schemas.openxmlformats.org/drawingml/2006/main" noGrp="1"/>
          </p:cNvSpPr>
          <p:nvPr/>
        </p:nvSpPr>
        <p:spPr>
          <a:xfrm xmlns:a="http://schemas.openxmlformats.org/drawingml/2006/main">
            <a:off x="61341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Python Policy</a:t>
            </a:r>
          </a:p>
        </p:txBody>
      </p:sp>
      <p:sp>
        <p:nvSpPr>
          <p:cNvPr id="28" name="">
            <a:extLst xmlns:a="http://schemas.openxmlformats.org/drawingml/2006/main">
              <a:ext uri="{FF2B5EF4-FFF2-40B4-BE49-F238E27FC236}">
                <a16:creationId xmlns:a16="http://schemas.microsoft.com/office/drawing/2014/main" id="{F87D2DCA-A88C-4785-8BCA-89DBB4E47586}"/>
              </a:ext>
            </a:extLst>
          </p:cNvPr>
          <p:cNvSpPr>
            <a:spLocks xmlns:a="http://schemas.openxmlformats.org/drawingml/2006/main" noGrp="1"/>
          </p:cNvSpPr>
          <p:nvPr/>
        </p:nvSpPr>
        <p:spPr>
          <a:xfrm xmlns:a="http://schemas.openxmlformats.org/drawingml/2006/main">
            <a:off x="61341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Payload·전이 검증</a:t>
            </a:r>
          </a:p>
        </p:txBody>
      </p:sp>
      <p:sp>
        <p:nvSpPr>
          <p:cNvPr id="29" name="">
            <a:extLst xmlns:a="http://schemas.openxmlformats.org/drawingml/2006/main">
              <a:ext uri="{FF2B5EF4-FFF2-40B4-BE49-F238E27FC236}">
                <a16:creationId xmlns:a16="http://schemas.microsoft.com/office/drawing/2014/main" id="{022BCE76-C021-4785-A666-3E7E55B47685}"/>
              </a:ext>
            </a:extLst>
          </p:cNvPr>
          <p:cNvSpPr>
            <a:spLocks xmlns:a="http://schemas.openxmlformats.org/drawingml/2006/main" noGrp="1"/>
          </p:cNvSpPr>
          <p:nvPr/>
        </p:nvSpPr>
        <p:spPr>
          <a:xfrm xmlns:a="http://schemas.openxmlformats.org/drawingml/2006/main">
            <a:off x="758190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6E051AF-4993-42F4-AFCD-1B01A4F80CCF}"/>
              </a:ext>
            </a:extLst>
          </p:cNvPr>
          <p:cNvSpPr>
            <a:spLocks xmlns:a="http://schemas.openxmlformats.org/drawingml/2006/main" noGrp="1"/>
          </p:cNvSpPr>
          <p:nvPr/>
        </p:nvSpPr>
        <p:spPr>
          <a:xfrm xmlns:a="http://schemas.openxmlformats.org/drawingml/2006/main">
            <a:off x="781050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31" name="">
            <a:extLst xmlns:a="http://schemas.openxmlformats.org/drawingml/2006/main">
              <a:ext uri="{FF2B5EF4-FFF2-40B4-BE49-F238E27FC236}">
                <a16:creationId xmlns:a16="http://schemas.microsoft.com/office/drawing/2014/main" id="{254E2689-1B9C-4CA9-8D21-97181A0209AA}"/>
              </a:ext>
            </a:extLst>
          </p:cNvPr>
          <p:cNvSpPr>
            <a:spLocks xmlns:a="http://schemas.openxmlformats.org/drawingml/2006/main" noGrp="1"/>
          </p:cNvSpPr>
          <p:nvPr/>
        </p:nvSpPr>
        <p:spPr>
          <a:xfrm xmlns:a="http://schemas.openxmlformats.org/drawingml/2006/main">
            <a:off x="798195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E790197-BE01-434E-A62F-1F1D198387C8}"/>
              </a:ext>
            </a:extLst>
          </p:cNvPr>
          <p:cNvSpPr>
            <a:spLocks xmlns:a="http://schemas.openxmlformats.org/drawingml/2006/main" noGrp="1"/>
          </p:cNvSpPr>
          <p:nvPr/>
        </p:nvSpPr>
        <p:spPr>
          <a:xfrm xmlns:a="http://schemas.openxmlformats.org/drawingml/2006/main">
            <a:off x="80200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M-04</a:t>
            </a:r>
          </a:p>
        </p:txBody>
      </p:sp>
      <p:sp>
        <p:nvSpPr>
          <p:cNvPr id="33" name="">
            <a:extLst xmlns:a="http://schemas.openxmlformats.org/drawingml/2006/main">
              <a:ext uri="{FF2B5EF4-FFF2-40B4-BE49-F238E27FC236}">
                <a16:creationId xmlns:a16="http://schemas.microsoft.com/office/drawing/2014/main" id="{DC455294-4F23-42A4-9D2B-1DFE30250A87}"/>
              </a:ext>
            </a:extLst>
          </p:cNvPr>
          <p:cNvSpPr>
            <a:spLocks xmlns:a="http://schemas.openxmlformats.org/drawingml/2006/main" noGrp="1"/>
          </p:cNvSpPr>
          <p:nvPr/>
        </p:nvSpPr>
        <p:spPr>
          <a:xfrm xmlns:a="http://schemas.openxmlformats.org/drawingml/2006/main">
            <a:off x="79438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DB Tool</a:t>
            </a:r>
          </a:p>
        </p:txBody>
      </p:sp>
      <p:sp>
        <p:nvSpPr>
          <p:cNvPr id="34" name="">
            <a:extLst xmlns:a="http://schemas.openxmlformats.org/drawingml/2006/main">
              <a:ext uri="{FF2B5EF4-FFF2-40B4-BE49-F238E27FC236}">
                <a16:creationId xmlns:a16="http://schemas.microsoft.com/office/drawing/2014/main" id="{F17B3871-5302-4755-A7F7-24A5E850BD42}"/>
              </a:ext>
            </a:extLst>
          </p:cNvPr>
          <p:cNvSpPr>
            <a:spLocks xmlns:a="http://schemas.openxmlformats.org/drawingml/2006/main" noGrp="1"/>
          </p:cNvSpPr>
          <p:nvPr/>
        </p:nvSpPr>
        <p:spPr>
          <a:xfrm xmlns:a="http://schemas.openxmlformats.org/drawingml/2006/main">
            <a:off x="79438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저장·상태 재조회</a:t>
            </a:r>
          </a:p>
        </p:txBody>
      </p:sp>
      <p:sp>
        <p:nvSpPr>
          <p:cNvPr id="35" name="">
            <a:extLst xmlns:a="http://schemas.openxmlformats.org/drawingml/2006/main">
              <a:ext uri="{FF2B5EF4-FFF2-40B4-BE49-F238E27FC236}">
                <a16:creationId xmlns:a16="http://schemas.microsoft.com/office/drawing/2014/main" id="{0DA46C72-A06C-442A-B802-E057AC1FCADA}"/>
              </a:ext>
            </a:extLst>
          </p:cNvPr>
          <p:cNvSpPr>
            <a:spLocks xmlns:a="http://schemas.openxmlformats.org/drawingml/2006/main" noGrp="1"/>
          </p:cNvSpPr>
          <p:nvPr/>
        </p:nvSpPr>
        <p:spPr>
          <a:xfrm xmlns:a="http://schemas.openxmlformats.org/drawingml/2006/main">
            <a:off x="93916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3694F7F-566E-469F-8199-817EB59BB950}"/>
              </a:ext>
            </a:extLst>
          </p:cNvPr>
          <p:cNvSpPr>
            <a:spLocks xmlns:a="http://schemas.openxmlformats.org/drawingml/2006/main" noGrp="1"/>
          </p:cNvSpPr>
          <p:nvPr/>
        </p:nvSpPr>
        <p:spPr>
          <a:xfrm xmlns:a="http://schemas.openxmlformats.org/drawingml/2006/main">
            <a:off x="96202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37" name="">
            <a:extLst xmlns:a="http://schemas.openxmlformats.org/drawingml/2006/main">
              <a:ext uri="{FF2B5EF4-FFF2-40B4-BE49-F238E27FC236}">
                <a16:creationId xmlns:a16="http://schemas.microsoft.com/office/drawing/2014/main" id="{F781F7EE-2BB6-45D8-A7BB-04836211B7B7}"/>
              </a:ext>
            </a:extLst>
          </p:cNvPr>
          <p:cNvSpPr>
            <a:spLocks xmlns:a="http://schemas.openxmlformats.org/drawingml/2006/main" noGrp="1"/>
          </p:cNvSpPr>
          <p:nvPr/>
        </p:nvSpPr>
        <p:spPr>
          <a:xfrm xmlns:a="http://schemas.openxmlformats.org/drawingml/2006/main">
            <a:off x="97917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6BCAA64-CCC3-4B89-AA1F-50D6F1C2F528}"/>
              </a:ext>
            </a:extLst>
          </p:cNvPr>
          <p:cNvSpPr>
            <a:spLocks xmlns:a="http://schemas.openxmlformats.org/drawingml/2006/main" noGrp="1"/>
          </p:cNvSpPr>
          <p:nvPr/>
        </p:nvSpPr>
        <p:spPr>
          <a:xfrm xmlns:a="http://schemas.openxmlformats.org/drawingml/2006/main">
            <a:off x="98298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M-05</a:t>
            </a:r>
          </a:p>
        </p:txBody>
      </p:sp>
      <p:sp>
        <p:nvSpPr>
          <p:cNvPr id="39" name="">
            <a:extLst xmlns:a="http://schemas.openxmlformats.org/drawingml/2006/main">
              <a:ext uri="{FF2B5EF4-FFF2-40B4-BE49-F238E27FC236}">
                <a16:creationId xmlns:a16="http://schemas.microsoft.com/office/drawing/2014/main" id="{9D059C68-D3E8-4B24-9AB0-B9E057A441E0}"/>
              </a:ext>
            </a:extLst>
          </p:cNvPr>
          <p:cNvSpPr>
            <a:spLocks xmlns:a="http://schemas.openxmlformats.org/drawingml/2006/main" noGrp="1"/>
          </p:cNvSpPr>
          <p:nvPr/>
        </p:nvSpPr>
        <p:spPr>
          <a:xfrm xmlns:a="http://schemas.openxmlformats.org/drawingml/2006/main">
            <a:off x="97536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Review·Trace</a:t>
            </a:r>
          </a:p>
        </p:txBody>
      </p:sp>
      <p:sp>
        <p:nvSpPr>
          <p:cNvPr id="40" name="">
            <a:extLst xmlns:a="http://schemas.openxmlformats.org/drawingml/2006/main">
              <a:ext uri="{FF2B5EF4-FFF2-40B4-BE49-F238E27FC236}">
                <a16:creationId xmlns:a16="http://schemas.microsoft.com/office/drawing/2014/main" id="{7B72EE36-2970-4750-A482-3B18932ECFF6}"/>
              </a:ext>
            </a:extLst>
          </p:cNvPr>
          <p:cNvSpPr>
            <a:spLocks xmlns:a="http://schemas.openxmlformats.org/drawingml/2006/main" noGrp="1"/>
          </p:cNvSpPr>
          <p:nvPr/>
        </p:nvSpPr>
        <p:spPr>
          <a:xfrm xmlns:a="http://schemas.openxmlformats.org/drawingml/2006/main">
            <a:off x="97536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사용자 확인 화면</a:t>
            </a:r>
          </a:p>
        </p:txBody>
      </p:sp>
      <p:sp>
        <p:nvSpPr>
          <p:cNvPr id="41" name="">
            <a:extLst xmlns:a="http://schemas.openxmlformats.org/drawingml/2006/main">
              <a:ext uri="{FF2B5EF4-FFF2-40B4-BE49-F238E27FC236}">
                <a16:creationId xmlns:a16="http://schemas.microsoft.com/office/drawing/2014/main" id="{73B26FB8-8427-40B6-AD2F-00D1D59BA787}"/>
              </a:ext>
            </a:extLst>
          </p:cNvPr>
          <p:cNvSpPr>
            <a:spLocks xmlns:a="http://schemas.openxmlformats.org/drawingml/2006/main" noGrp="1"/>
          </p:cNvSpPr>
          <p:nvPr/>
        </p:nvSpPr>
        <p:spPr>
          <a:xfrm xmlns:a="http://schemas.openxmlformats.org/drawingml/2006/main">
            <a:off x="571500" y="314325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7657D6"/>
                </a:solidFill>
                <a:latin typeface="Malgun Gothic"/>
                <a:ea typeface="Malgun Gothic"/>
                <a:cs typeface="Malgun Gothic"/>
              </a:defRPr>
            </a:pPr>
            <a:r>
              <a:rPr sz="975" b="1">
                <a:solidFill>
                  <a:srgbClr val="7657D6"/>
                </a:solidFill>
                <a:latin typeface="Malgun Gothic"/>
                <a:ea typeface="Malgun Gothic"/>
                <a:cs typeface="Malgun Gothic"/>
              </a:rPr>
              <a:t>제한적 ReAct  |  Observe → Retrieve → Reason → Act → Observe   (저신뢰·모호하면 Query Rewrite 후 재검색·재판단 최대 1회)</a:t>
            </a:r>
          </a:p>
        </p:txBody>
      </p:sp>
      <p:sp>
        <p:nvSpPr>
          <p:cNvPr id="42" name="">
            <a:extLst xmlns:a="http://schemas.openxmlformats.org/drawingml/2006/main">
              <a:ext uri="{FF2B5EF4-FFF2-40B4-BE49-F238E27FC236}">
                <a16:creationId xmlns:a16="http://schemas.microsoft.com/office/drawing/2014/main" id="{B188ECA0-369F-4FC7-AE49-AC37DC4B7AE6}"/>
              </a:ext>
            </a:extLst>
          </p:cNvPr>
          <p:cNvSpPr>
            <a:spLocks xmlns:a="http://schemas.openxmlformats.org/drawingml/2006/main" noGrp="1"/>
          </p:cNvSpPr>
          <p:nvPr/>
        </p:nvSpPr>
        <p:spPr>
          <a:xfrm xmlns:a="http://schemas.openxmlformats.org/drawingml/2006/main">
            <a:off x="571500" y="3371850"/>
            <a:ext cx="11049000" cy="762000"/>
          </a:xfrm>
          <a:prstGeom xmlns:a="http://schemas.openxmlformats.org/drawingml/2006/main" prst="roundRect">
            <a:avLst>
              <a:gd name="adj" fmla="val 10000"/>
            </a:avLst>
          </a:prstGeom>
          <a:solidFill xmlns:a="http://schemas.openxmlformats.org/drawingml/2006/main">
            <a:srgbClr val="EFF5FD"/>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7DBCF324-1506-4DE1-A3BC-E9A6E949C0BE}"/>
              </a:ext>
            </a:extLst>
          </p:cNvPr>
          <p:cNvSpPr>
            <a:spLocks xmlns:a="http://schemas.openxmlformats.org/drawingml/2006/main" noGrp="1"/>
          </p:cNvSpPr>
          <p:nvPr/>
        </p:nvSpPr>
        <p:spPr>
          <a:xfrm xmlns:a="http://schemas.openxmlformats.org/drawingml/2006/main">
            <a:off x="781050" y="34290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Task 관계</a:t>
            </a:r>
          </a:p>
        </p:txBody>
      </p:sp>
      <p:sp>
        <p:nvSpPr>
          <p:cNvPr id="44" name="">
            <a:extLst xmlns:a="http://schemas.openxmlformats.org/drawingml/2006/main">
              <a:ext uri="{FF2B5EF4-FFF2-40B4-BE49-F238E27FC236}">
                <a16:creationId xmlns:a16="http://schemas.microsoft.com/office/drawing/2014/main" id="{6A751B9F-B745-4571-B902-5EA8E2345D1A}"/>
              </a:ext>
            </a:extLst>
          </p:cNvPr>
          <p:cNvSpPr>
            <a:spLocks xmlns:a="http://schemas.openxmlformats.org/drawingml/2006/main" noGrp="1"/>
          </p:cNvSpPr>
          <p:nvPr/>
        </p:nvSpPr>
        <p:spPr>
          <a:xfrm xmlns:a="http://schemas.openxmlformats.org/drawingml/2006/main">
            <a:off x="1952625" y="34290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동일 Thread는 Metadata 규칙</a:t>
            </a:r>
          </a:p>
        </p:txBody>
      </p:sp>
      <p:sp>
        <p:nvSpPr>
          <p:cNvPr id="45" name="">
            <a:extLst xmlns:a="http://schemas.openxmlformats.org/drawingml/2006/main">
              <a:ext uri="{FF2B5EF4-FFF2-40B4-BE49-F238E27FC236}">
                <a16:creationId xmlns:a16="http://schemas.microsoft.com/office/drawing/2014/main" id="{63CCCABA-58FE-4754-A549-5B79FBAF9712}"/>
              </a:ext>
            </a:extLst>
          </p:cNvPr>
          <p:cNvSpPr>
            <a:spLocks xmlns:a="http://schemas.openxmlformats.org/drawingml/2006/main" noGrp="1"/>
          </p:cNvSpPr>
          <p:nvPr/>
        </p:nvSpPr>
        <p:spPr>
          <a:xfrm xmlns:a="http://schemas.openxmlformats.org/drawingml/2006/main">
            <a:off x="4524375" y="34290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7657D6"/>
                </a:solidFill>
                <a:latin typeface="Malgun Gothic"/>
                <a:ea typeface="Malgun Gothic"/>
                <a:cs typeface="Malgun Gothic"/>
              </a:defRPr>
            </a:pPr>
            <a:r>
              <a:rPr sz="1125" b="1">
                <a:solidFill>
                  <a:srgbClr val="7657D6"/>
                </a:solidFill>
                <a:latin typeface="Malgun Gothic"/>
                <a:ea typeface="Malgun Gothic"/>
                <a:cs typeface="Malgun Gothic"/>
              </a:rPr>
              <a:t>다른 Thread·다른 표현은 후보 2~3개를 비교해 관계·대상·Action 선택</a:t>
            </a:r>
          </a:p>
        </p:txBody>
      </p:sp>
      <p:sp>
        <p:nvSpPr>
          <p:cNvPr id="46" name="">
            <a:extLst xmlns:a="http://schemas.openxmlformats.org/drawingml/2006/main">
              <a:ext uri="{FF2B5EF4-FFF2-40B4-BE49-F238E27FC236}">
                <a16:creationId xmlns:a16="http://schemas.microsoft.com/office/drawing/2014/main" id="{3A16E88A-25BB-40D9-B656-EF9F6796B660}"/>
              </a:ext>
            </a:extLst>
          </p:cNvPr>
          <p:cNvSpPr>
            <a:spLocks xmlns:a="http://schemas.openxmlformats.org/drawingml/2006/main" noGrp="1"/>
          </p:cNvSpPr>
          <p:nvPr/>
        </p:nvSpPr>
        <p:spPr>
          <a:xfrm xmlns:a="http://schemas.openxmlformats.org/drawingml/2006/main">
            <a:off x="781050" y="37909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회신 실행</a:t>
            </a:r>
          </a:p>
        </p:txBody>
      </p:sp>
      <p:sp>
        <p:nvSpPr>
          <p:cNvPr id="47" name="">
            <a:extLst xmlns:a="http://schemas.openxmlformats.org/drawingml/2006/main">
              <a:ext uri="{FF2B5EF4-FFF2-40B4-BE49-F238E27FC236}">
                <a16:creationId xmlns:a16="http://schemas.microsoft.com/office/drawing/2014/main" id="{4EC95D5D-23D8-4DB8-8F0B-D450E2635626}"/>
              </a:ext>
            </a:extLst>
          </p:cNvPr>
          <p:cNvSpPr>
            <a:spLocks xmlns:a="http://schemas.openxmlformats.org/drawingml/2006/main" noGrp="1"/>
          </p:cNvSpPr>
          <p:nvPr/>
        </p:nvSpPr>
        <p:spPr>
          <a:xfrm xmlns:a="http://schemas.openxmlformats.org/drawingml/2006/main">
            <a:off x="1952625" y="37909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38A62"/>
                </a:solidFill>
                <a:latin typeface="Malgun Gothic"/>
                <a:ea typeface="Malgun Gothic"/>
                <a:cs typeface="Malgun Gothic"/>
              </a:defRPr>
            </a:pPr>
            <a:r>
              <a:rPr sz="1125" b="1">
                <a:solidFill>
                  <a:srgbClr val="138A62"/>
                </a:solidFill>
                <a:latin typeface="Malgun Gothic"/>
                <a:ea typeface="Malgun Gothic"/>
                <a:cs typeface="Malgun Gothic"/>
              </a:rPr>
              <a:t>Reply Agent 판단  →  사용자 입력  →  LLM 초안  →  승인 Gmail 발송  →  WAITING_REPLY</a:t>
            </a:r>
          </a:p>
        </p:txBody>
      </p:sp>
      <p:sp>
        <p:nvSpPr>
          <p:cNvPr id="48" name="">
            <a:extLst xmlns:a="http://schemas.openxmlformats.org/drawingml/2006/main">
              <a:ext uri="{FF2B5EF4-FFF2-40B4-BE49-F238E27FC236}">
                <a16:creationId xmlns:a16="http://schemas.microsoft.com/office/drawing/2014/main" id="{26AEA056-2D42-4134-BD6C-996817CFE0FB}"/>
              </a:ext>
            </a:extLst>
          </p:cNvPr>
          <p:cNvSpPr>
            <a:spLocks xmlns:a="http://schemas.openxmlformats.org/drawingml/2006/main" noGrp="1"/>
          </p:cNvSpPr>
          <p:nvPr/>
        </p:nvSpPr>
        <p:spPr>
          <a:xfrm xmlns:a="http://schemas.openxmlformats.org/drawingml/2006/main">
            <a:off x="571500" y="4286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기술 선택 이유</a:t>
            </a:r>
          </a:p>
        </p:txBody>
      </p:sp>
      <p:sp>
        <p:nvSpPr>
          <p:cNvPr id="49" name="">
            <a:extLst xmlns:a="http://schemas.openxmlformats.org/drawingml/2006/main">
              <a:ext uri="{FF2B5EF4-FFF2-40B4-BE49-F238E27FC236}">
                <a16:creationId xmlns:a16="http://schemas.microsoft.com/office/drawing/2014/main" id="{54A43162-FAE2-4CDE-BCCC-691FD53646DE}"/>
              </a:ext>
            </a:extLst>
          </p:cNvPr>
          <p:cNvSpPr>
            <a:spLocks xmlns:a="http://schemas.openxmlformats.org/drawingml/2006/main" noGrp="1"/>
          </p:cNvSpPr>
          <p:nvPr/>
        </p:nvSpPr>
        <p:spPr>
          <a:xfrm xmlns:a="http://schemas.openxmlformats.org/drawingml/2006/main">
            <a:off x="571500" y="461010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769E0"/>
                </a:solidFill>
                <a:latin typeface="Malgun Gothic"/>
                <a:ea typeface="Malgun Gothic"/>
                <a:cs typeface="Malgun Gothic"/>
              </a:defRPr>
            </a:pPr>
            <a:r>
              <a:rPr sz="1275" b="1">
                <a:solidFill>
                  <a:srgbClr val="1769E0"/>
                </a:solidFill>
                <a:latin typeface="Malgun Gothic"/>
                <a:ea typeface="Malgun Gothic"/>
                <a:cs typeface="Malgun Gothic"/>
              </a:rPr>
              <a:t>gpt-4.1-mini</a:t>
            </a:r>
          </a:p>
        </p:txBody>
      </p:sp>
      <p:sp>
        <p:nvSpPr>
          <p:cNvPr id="50" name="">
            <a:extLst xmlns:a="http://schemas.openxmlformats.org/drawingml/2006/main">
              <a:ext uri="{FF2B5EF4-FFF2-40B4-BE49-F238E27FC236}">
                <a16:creationId xmlns:a16="http://schemas.microsoft.com/office/drawing/2014/main" id="{080F2501-1463-455B-ACC2-E3733F2EDAA8}"/>
              </a:ext>
            </a:extLst>
          </p:cNvPr>
          <p:cNvSpPr>
            <a:spLocks xmlns:a="http://schemas.openxmlformats.org/drawingml/2006/main" noGrp="1"/>
          </p:cNvSpPr>
          <p:nvPr/>
        </p:nvSpPr>
        <p:spPr>
          <a:xfrm xmlns:a="http://schemas.openxmlformats.org/drawingml/2006/main">
            <a:off x="571500" y="4876800"/>
            <a:ext cx="331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선택 이유  |  메일 의미와 Task 관계는 규칙으로 열거할 수 없지만 출력은 고정 Schema여야 합니다</a:t>
            </a:r>
          </a:p>
        </p:txBody>
      </p:sp>
      <p:sp>
        <p:nvSpPr>
          <p:cNvPr id="51" name="">
            <a:extLst xmlns:a="http://schemas.openxmlformats.org/drawingml/2006/main">
              <a:ext uri="{FF2B5EF4-FFF2-40B4-BE49-F238E27FC236}">
                <a16:creationId xmlns:a16="http://schemas.microsoft.com/office/drawing/2014/main" id="{6BC421D2-431C-45B3-B211-3DB9AE75126C}"/>
              </a:ext>
            </a:extLst>
          </p:cNvPr>
          <p:cNvSpPr>
            <a:spLocks xmlns:a="http://schemas.openxmlformats.org/drawingml/2006/main" noGrp="1"/>
          </p:cNvSpPr>
          <p:nvPr/>
        </p:nvSpPr>
        <p:spPr>
          <a:xfrm xmlns:a="http://schemas.openxmlformats.org/drawingml/2006/main">
            <a:off x="571500" y="5257800"/>
            <a:ext cx="331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핵심 활용  |  관계·Action을 Pydantic 계약으로 받고, 계약 위반은 재시도 루프 안에서 재생성</a:t>
            </a:r>
          </a:p>
        </p:txBody>
      </p:sp>
      <p:sp>
        <p:nvSpPr>
          <p:cNvPr id="52" name="">
            <a:extLst xmlns:a="http://schemas.openxmlformats.org/drawingml/2006/main">
              <a:ext uri="{FF2B5EF4-FFF2-40B4-BE49-F238E27FC236}">
                <a16:creationId xmlns:a16="http://schemas.microsoft.com/office/drawing/2014/main" id="{F382CF9B-36DD-43E5-AB49-7A588E9881F1}"/>
              </a:ext>
            </a:extLst>
          </p:cNvPr>
          <p:cNvSpPr>
            <a:spLocks xmlns:a="http://schemas.openxmlformats.org/drawingml/2006/main" noGrp="1"/>
          </p:cNvSpPr>
          <p:nvPr/>
        </p:nvSpPr>
        <p:spPr>
          <a:xfrm xmlns:a="http://schemas.openxmlformats.org/drawingml/2006/main">
            <a:off x="4248150" y="461010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7657D6"/>
                </a:solidFill>
                <a:latin typeface="Malgun Gothic"/>
                <a:ea typeface="Malgun Gothic"/>
                <a:cs typeface="Malgun Gothic"/>
              </a:defRPr>
            </a:pPr>
            <a:r>
              <a:rPr sz="1275" b="1">
                <a:solidFill>
                  <a:srgbClr val="7657D6"/>
                </a:solidFill>
                <a:latin typeface="Malgun Gothic"/>
                <a:ea typeface="Malgun Gothic"/>
                <a:cs typeface="Malgun Gothic"/>
              </a:rPr>
              <a:t>SQLite Task Context RAG</a:t>
            </a:r>
          </a:p>
        </p:txBody>
      </p:sp>
      <p:sp>
        <p:nvSpPr>
          <p:cNvPr id="53" name="">
            <a:extLst xmlns:a="http://schemas.openxmlformats.org/drawingml/2006/main">
              <a:ext uri="{FF2B5EF4-FFF2-40B4-BE49-F238E27FC236}">
                <a16:creationId xmlns:a16="http://schemas.microsoft.com/office/drawing/2014/main" id="{0F7F0C0D-94FA-4ED9-AEF8-4D396355E3F9}"/>
              </a:ext>
            </a:extLst>
          </p:cNvPr>
          <p:cNvSpPr>
            <a:spLocks xmlns:a="http://schemas.openxmlformats.org/drawingml/2006/main" noGrp="1"/>
          </p:cNvSpPr>
          <p:nvPr/>
        </p:nvSpPr>
        <p:spPr>
          <a:xfrm xmlns:a="http://schemas.openxmlformats.org/drawingml/2006/main">
            <a:off x="4248150" y="4876800"/>
            <a:ext cx="331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선택 이유  |  찾을 대상이 외부 문서가 아니라 내 활성 Task·최근 Mail·History·과거 결정입니다</a:t>
            </a:r>
          </a:p>
        </p:txBody>
      </p:sp>
      <p:sp>
        <p:nvSpPr>
          <p:cNvPr id="54" name="">
            <a:extLst xmlns:a="http://schemas.openxmlformats.org/drawingml/2006/main">
              <a:ext uri="{FF2B5EF4-FFF2-40B4-BE49-F238E27FC236}">
                <a16:creationId xmlns:a16="http://schemas.microsoft.com/office/drawing/2014/main" id="{8FE5FC27-AE06-47D1-BC86-18CF949B080E}"/>
              </a:ext>
            </a:extLst>
          </p:cNvPr>
          <p:cNvSpPr>
            <a:spLocks xmlns:a="http://schemas.openxmlformats.org/drawingml/2006/main" noGrp="1"/>
          </p:cNvSpPr>
          <p:nvPr/>
        </p:nvSpPr>
        <p:spPr>
          <a:xfrm xmlns:a="http://schemas.openxmlformats.org/drawingml/2006/main">
            <a:off x="4248150" y="5257800"/>
            <a:ext cx="331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핵심 성과  |  제한 top-k 검색으로 Live 15 Case Action 28/28. Vector DB는 쓰지 않았습니다</a:t>
            </a:r>
          </a:p>
        </p:txBody>
      </p:sp>
      <p:sp>
        <p:nvSpPr>
          <p:cNvPr id="55" name="">
            <a:extLst xmlns:a="http://schemas.openxmlformats.org/drawingml/2006/main">
              <a:ext uri="{FF2B5EF4-FFF2-40B4-BE49-F238E27FC236}">
                <a16:creationId xmlns:a16="http://schemas.microsoft.com/office/drawing/2014/main" id="{2488489A-13A5-4932-BC78-A5C1F8383E06}"/>
              </a:ext>
            </a:extLst>
          </p:cNvPr>
          <p:cNvSpPr>
            <a:spLocks xmlns:a="http://schemas.openxmlformats.org/drawingml/2006/main" noGrp="1"/>
          </p:cNvSpPr>
          <p:nvPr/>
        </p:nvSpPr>
        <p:spPr>
          <a:xfrm xmlns:a="http://schemas.openxmlformats.org/drawingml/2006/main">
            <a:off x="7924800" y="461010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769E0"/>
                </a:solidFill>
                <a:latin typeface="Malgun Gothic"/>
                <a:ea typeface="Malgun Gothic"/>
                <a:cs typeface="Malgun Gothic"/>
              </a:defRPr>
            </a:pPr>
            <a:r>
              <a:rPr sz="1275" b="1">
                <a:solidFill>
                  <a:srgbClr val="1769E0"/>
                </a:solidFill>
                <a:latin typeface="Malgun Gothic"/>
                <a:ea typeface="Malgun Gothic"/>
                <a:cs typeface="Malgun Gothic"/>
              </a:rPr>
              <a:t>Python + Pydantic Guard</a:t>
            </a:r>
          </a:p>
        </p:txBody>
      </p:sp>
      <p:sp>
        <p:nvSpPr>
          <p:cNvPr id="56" name="">
            <a:extLst xmlns:a="http://schemas.openxmlformats.org/drawingml/2006/main">
              <a:ext uri="{FF2B5EF4-FFF2-40B4-BE49-F238E27FC236}">
                <a16:creationId xmlns:a16="http://schemas.microsoft.com/office/drawing/2014/main" id="{ABD79311-73F1-47C5-9A42-2E9567CC7E01}"/>
              </a:ext>
            </a:extLst>
          </p:cNvPr>
          <p:cNvSpPr>
            <a:spLocks xmlns:a="http://schemas.openxmlformats.org/drawingml/2006/main" noGrp="1"/>
          </p:cNvSpPr>
          <p:nvPr/>
        </p:nvSpPr>
        <p:spPr>
          <a:xfrm xmlns:a="http://schemas.openxmlformats.org/drawingml/2006/main">
            <a:off x="7924800" y="4876800"/>
            <a:ext cx="331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381"/>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선택 이유  |  LLM이 DB를 직접 바꾸면 비용이 업무 데이터 오변경입니다. 상태가 닫혀 있어 LangGraph 없이 충분했습니다</a:t>
            </a:r>
          </a:p>
        </p:txBody>
      </p:sp>
      <p:sp>
        <p:nvSpPr>
          <p:cNvPr id="57" name="">
            <a:extLst xmlns:a="http://schemas.openxmlformats.org/drawingml/2006/main">
              <a:ext uri="{FF2B5EF4-FFF2-40B4-BE49-F238E27FC236}">
                <a16:creationId xmlns:a16="http://schemas.microsoft.com/office/drawing/2014/main" id="{02CAF709-E7B9-47E6-BBA6-82796B541E66}"/>
              </a:ext>
            </a:extLst>
          </p:cNvPr>
          <p:cNvSpPr>
            <a:spLocks xmlns:a="http://schemas.openxmlformats.org/drawingml/2006/main" noGrp="1"/>
          </p:cNvSpPr>
          <p:nvPr/>
        </p:nvSpPr>
        <p:spPr>
          <a:xfrm xmlns:a="http://schemas.openxmlformats.org/drawingml/2006/main">
            <a:off x="7924800" y="5257800"/>
            <a:ext cx="331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구현 포인트  |  후보 ID·상태 전이·중요 변경을 검증하고 완료·취소·기한 단축은 항상 승인</a:t>
            </a:r>
          </a:p>
        </p:txBody>
      </p:sp>
      <p:sp>
        <p:nvSpPr>
          <p:cNvPr id="58" name="">
            <a:extLst xmlns:a="http://schemas.openxmlformats.org/drawingml/2006/main">
              <a:ext uri="{FF2B5EF4-FFF2-40B4-BE49-F238E27FC236}">
                <a16:creationId xmlns:a16="http://schemas.microsoft.com/office/drawing/2014/main" id="{8B88EA27-8A29-4788-B150-DDED1C3CC3C0}"/>
              </a:ext>
            </a:extLst>
          </p:cNvPr>
          <p:cNvSpPr>
            <a:spLocks xmlns:a="http://schemas.openxmlformats.org/drawingml/2006/main" noGrp="1"/>
          </p:cNvSpPr>
          <p:nvPr/>
        </p:nvSpPr>
        <p:spPr>
          <a:xfrm xmlns:a="http://schemas.openxmlformats.org/drawingml/2006/main">
            <a:off x="571500" y="5619750"/>
            <a:ext cx="11049000" cy="419100"/>
          </a:xfrm>
          <a:prstGeom xmlns:a="http://schemas.openxmlformats.org/drawingml/2006/main" prst="roundRect">
            <a:avLst>
              <a:gd name="adj" fmla="val 18182"/>
            </a:avLst>
          </a:prstGeom>
          <a:solidFill xmlns:a="http://schemas.openxmlformats.org/drawingml/2006/main">
            <a:srgbClr val="EEF9F5"/>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6F830FF3-5ABC-44CC-B3FB-BD15F490983A}"/>
              </a:ext>
            </a:extLst>
          </p:cNvPr>
          <p:cNvSpPr>
            <a:spLocks xmlns:a="http://schemas.openxmlformats.org/drawingml/2006/main" noGrp="1"/>
          </p:cNvSpPr>
          <p:nvPr/>
        </p:nvSpPr>
        <p:spPr>
          <a:xfrm xmlns:a="http://schemas.openxmlformats.org/drawingml/2006/main">
            <a:off x="781050" y="569595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M-01은 모든 Mail 의미를 LLM으로 구조화하고, 관계·Action 선택은 STRUCTURED_RAG 경로에만 적용합니다.</a:t>
            </a:r>
          </a:p>
        </p:txBody>
      </p:sp>
    </p:spTree>
    <p:extLst>
      <p:ext uri="{BB962C8B-B14F-4D97-AF65-F5344CB8AC3E}">
        <p14:creationId xmlns:p14="http://schemas.microsoft.com/office/powerpoint/2010/main" val="12105139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96681DC1-751C-46EF-8927-6FDE3C29CC3A}"/>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20F628-973B-4BFD-B2E1-69E76C8D412F}"/>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핵심 기술 과제와 검증</a:t>
            </a:r>
          </a:p>
        </p:txBody>
      </p:sp>
      <p:sp>
        <p:nvSpPr>
          <p:cNvPr id="3" name="">
            <a:extLst xmlns:a="http://schemas.openxmlformats.org/drawingml/2006/main">
              <a:ext uri="{FF2B5EF4-FFF2-40B4-BE49-F238E27FC236}">
                <a16:creationId xmlns:a16="http://schemas.microsoft.com/office/drawing/2014/main" id="{777767B2-BAAA-46A4-BC03-1B8F0A1A3163}"/>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BFB80F-588D-48C8-8726-67B84CB1A415}"/>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04</a:t>
            </a:r>
          </a:p>
        </p:txBody>
      </p:sp>
      <p:sp>
        <p:nvSpPr>
          <p:cNvPr id="5" name="">
            <a:extLst xmlns:a="http://schemas.openxmlformats.org/drawingml/2006/main">
              <a:ext uri="{FF2B5EF4-FFF2-40B4-BE49-F238E27FC236}">
                <a16:creationId xmlns:a16="http://schemas.microsoft.com/office/drawing/2014/main" id="{300C475D-FF82-4C49-8668-8417535D2ABE}"/>
              </a:ext>
            </a:extLst>
          </p:cNvPr>
          <p:cNvSpPr>
            <a:spLocks xmlns:a="http://schemas.openxmlformats.org/drawingml/2006/main" noGrp="1"/>
          </p:cNvSpPr>
          <p:nvPr/>
        </p:nvSpPr>
        <p:spPr>
          <a:xfrm xmlns:a="http://schemas.openxmlformats.org/drawingml/2006/main">
            <a:off x="571500" y="125730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C73C34"/>
                </a:solidFill>
                <a:latin typeface="Malgun Gothic"/>
                <a:ea typeface="Malgun Gothic"/>
                <a:cs typeface="Malgun Gothic"/>
              </a:defRPr>
            </a:pPr>
            <a:r>
              <a:rPr sz="1575" b="1">
                <a:solidFill>
                  <a:srgbClr val="C73C34"/>
                </a:solidFill>
                <a:latin typeface="Malgun Gothic"/>
                <a:ea typeface="Malgun Gothic"/>
                <a:cs typeface="Malgun Gothic"/>
              </a:rPr>
              <a:t>왜 고정 규칙과 단일 결론 Agent만으로 부족했는가</a:t>
            </a:r>
          </a:p>
        </p:txBody>
      </p:sp>
      <p:sp>
        <p:nvSpPr>
          <p:cNvPr id="6" name="">
            <a:extLst xmlns:a="http://schemas.openxmlformats.org/drawingml/2006/main">
              <a:ext uri="{FF2B5EF4-FFF2-40B4-BE49-F238E27FC236}">
                <a16:creationId xmlns:a16="http://schemas.microsoft.com/office/drawing/2014/main" id="{19DC154E-2C9E-4421-B43F-A91E82F3D48B}"/>
              </a:ext>
            </a:extLst>
          </p:cNvPr>
          <p:cNvSpPr>
            <a:spLocks xmlns:a="http://schemas.openxmlformats.org/drawingml/2006/main" noGrp="1"/>
          </p:cNvSpPr>
          <p:nvPr/>
        </p:nvSpPr>
        <p:spPr>
          <a:xfrm xmlns:a="http://schemas.openxmlformats.org/drawingml/2006/main">
            <a:off x="571500" y="15240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033"/>
                </a:solidFill>
                <a:latin typeface="Malgun Gothic"/>
                <a:ea typeface="Malgun Gothic"/>
                <a:cs typeface="Malgun Gothic"/>
              </a:defRPr>
            </a:pPr>
            <a:r>
              <a:rPr sz="1275" b="0">
                <a:solidFill>
                  <a:srgbClr val="172033"/>
                </a:solidFill>
                <a:latin typeface="Malgun Gothic"/>
                <a:ea typeface="Malgun Gothic"/>
                <a:cs typeface="Malgun Gothic"/>
              </a:rPr>
              <a:t>Agent가 결론 하나만 내면 후보를 견준 것인지 설명을 붙인 것인지 알 수 없습니다. 멘토 피드백도 "Rule Base처럼 보인다"였습니다. 왜 이 접근인가 — 틀렸을 때 비용이 업무 데이터 오변경이라, 넓게 펼치는 대신 후보를 제한하고 Guard와 사용자 승인으로 막았습니다.</a:t>
            </a:r>
          </a:p>
        </p:txBody>
      </p:sp>
      <p:sp>
        <p:nvSpPr>
          <p:cNvPr id="7" name="">
            <a:extLst xmlns:a="http://schemas.openxmlformats.org/drawingml/2006/main">
              <a:ext uri="{FF2B5EF4-FFF2-40B4-BE49-F238E27FC236}">
                <a16:creationId xmlns:a16="http://schemas.microsoft.com/office/drawing/2014/main" id="{00204DF6-A7FC-4CFF-83C4-24888AFCA226}"/>
              </a:ext>
            </a:extLst>
          </p:cNvPr>
          <p:cNvSpPr>
            <a:spLocks xmlns:a="http://schemas.openxmlformats.org/drawingml/2006/main" noGrp="1"/>
          </p:cNvSpPr>
          <p:nvPr/>
        </p:nvSpPr>
        <p:spPr>
          <a:xfrm xmlns:a="http://schemas.openxmlformats.org/drawingml/2006/main">
            <a:off x="571500" y="2171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97A2B17-602A-4824-A603-89AF74E25781}"/>
              </a:ext>
            </a:extLst>
          </p:cNvPr>
          <p:cNvSpPr>
            <a:spLocks xmlns:a="http://schemas.openxmlformats.org/drawingml/2006/main" noGrp="1"/>
          </p:cNvSpPr>
          <p:nvPr/>
        </p:nvSpPr>
        <p:spPr>
          <a:xfrm xmlns:a="http://schemas.openxmlformats.org/drawingml/2006/main">
            <a:off x="571500" y="23431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실제 Agent 판단 흐름</a:t>
            </a:r>
          </a:p>
        </p:txBody>
      </p:sp>
      <p:sp>
        <p:nvSpPr>
          <p:cNvPr id="9" name="">
            <a:extLst xmlns:a="http://schemas.openxmlformats.org/drawingml/2006/main">
              <a:ext uri="{FF2B5EF4-FFF2-40B4-BE49-F238E27FC236}">
                <a16:creationId xmlns:a16="http://schemas.microsoft.com/office/drawing/2014/main" id="{3DDEB44D-9032-494D-BA6C-BB2B72FFE52A}"/>
              </a:ext>
            </a:extLst>
          </p:cNvPr>
          <p:cNvSpPr>
            <a:spLocks xmlns:a="http://schemas.openxmlformats.org/drawingml/2006/main" noGrp="1"/>
          </p:cNvSpPr>
          <p:nvPr/>
        </p:nvSpPr>
        <p:spPr>
          <a:xfrm xmlns:a="http://schemas.openxmlformats.org/drawingml/2006/main">
            <a:off x="571500" y="25527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7657D6"/>
                </a:solidFill>
                <a:latin typeface="Malgun Gothic"/>
                <a:ea typeface="Malgun Gothic"/>
                <a:cs typeface="Malgun Gothic"/>
              </a:defRPr>
            </a:pPr>
            <a:r>
              <a:rPr sz="975" b="1">
                <a:solidFill>
                  <a:srgbClr val="7657D6"/>
                </a:solidFill>
                <a:latin typeface="Malgun Gothic"/>
                <a:ea typeface="Malgun Gothic"/>
                <a:cs typeface="Malgun Gothic"/>
              </a:rPr>
              <a:t>적용 기법  |  Bounded Multi-Hypothesis Deliberation + 제한적 ReAct Self-Correction</a:t>
            </a:r>
          </a:p>
        </p:txBody>
      </p:sp>
      <p:sp>
        <p:nvSpPr>
          <p:cNvPr id="10" name="">
            <a:extLst xmlns:a="http://schemas.openxmlformats.org/drawingml/2006/main">
              <a:ext uri="{FF2B5EF4-FFF2-40B4-BE49-F238E27FC236}">
                <a16:creationId xmlns:a16="http://schemas.microsoft.com/office/drawing/2014/main" id="{7EC7B1C0-AC84-4BFD-8362-FA63F445488F}"/>
              </a:ext>
            </a:extLst>
          </p:cNvPr>
          <p:cNvSpPr>
            <a:spLocks xmlns:a="http://schemas.openxmlformats.org/drawingml/2006/main" noGrp="1"/>
          </p:cNvSpPr>
          <p:nvPr/>
        </p:nvSpPr>
        <p:spPr>
          <a:xfrm xmlns:a="http://schemas.openxmlformats.org/drawingml/2006/main">
            <a:off x="571500" y="27432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663"/>
          </a:bodyPr>
          <a:lstStyle xmlns:a="http://schemas.openxmlformats.org/drawingml/2006/main"/>
          <a:p xmlns:a="http://schemas.openxmlformats.org/drawingml/2006/main">
            <a:pPr algn="l">
              <a:defRPr sz="938" b="0">
                <a:solidFill>
                  <a:srgbClr val="657187"/>
                </a:solidFill>
                <a:latin typeface="Malgun Gothic"/>
                <a:ea typeface="Malgun Gothic"/>
                <a:cs typeface="Malgun Gothic"/>
              </a:defRPr>
            </a:pPr>
            <a:r>
              <a:rPr sz="938" b="0">
                <a:solidFill>
                  <a:srgbClr val="657187"/>
                </a:solidFill>
                <a:latin typeface="Malgun Gothic"/>
                <a:ea typeface="Malgun Gothic"/>
                <a:cs typeface="Malgun Gothic"/>
              </a:rPr>
              <a:t>Deliberation은 한 번의 Reason 안에서 후보를 견주는 단계이고, ReAct는 그 판단을 Retrieve·Act·Observe로 감싸는 바깥 Loop입니다. Tree of Thoughts(Yao et al., NeurIPS 2023)의 후보 생성·평가 분리를 참고하되 후보 2~3개·평가 1회·재검색 1회로 제한했고, Full Tree of Thoughts 구현은 아닙니다.</a:t>
            </a:r>
          </a:p>
        </p:txBody>
      </p:sp>
      <p:sp>
        <p:nvSpPr>
          <p:cNvPr id="11" name="">
            <a:extLst xmlns:a="http://schemas.openxmlformats.org/drawingml/2006/main">
              <a:ext uri="{FF2B5EF4-FFF2-40B4-BE49-F238E27FC236}">
                <a16:creationId xmlns:a16="http://schemas.microsoft.com/office/drawing/2014/main" id="{BD5C8BAD-9CAA-4D04-A48C-021F38B1E091}"/>
              </a:ext>
            </a:extLst>
          </p:cNvPr>
          <p:cNvSpPr>
            <a:spLocks xmlns:a="http://schemas.openxmlformats.org/drawingml/2006/main" noGrp="1"/>
          </p:cNvSpPr>
          <p:nvPr/>
        </p:nvSpPr>
        <p:spPr>
          <a:xfrm xmlns:a="http://schemas.openxmlformats.org/drawingml/2006/main">
            <a:off x="571500" y="302895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C762984-8780-4608-B469-99393DAE2048}"/>
              </a:ext>
            </a:extLst>
          </p:cNvPr>
          <p:cNvSpPr>
            <a:spLocks xmlns:a="http://schemas.openxmlformats.org/drawingml/2006/main" noGrp="1"/>
          </p:cNvSpPr>
          <p:nvPr/>
        </p:nvSpPr>
        <p:spPr>
          <a:xfrm xmlns:a="http://schemas.openxmlformats.org/drawingml/2006/main">
            <a:off x="609600" y="30480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1</a:t>
            </a:r>
          </a:p>
        </p:txBody>
      </p:sp>
      <p:sp>
        <p:nvSpPr>
          <p:cNvPr id="13" name="">
            <a:extLst xmlns:a="http://schemas.openxmlformats.org/drawingml/2006/main">
              <a:ext uri="{FF2B5EF4-FFF2-40B4-BE49-F238E27FC236}">
                <a16:creationId xmlns:a16="http://schemas.microsoft.com/office/drawing/2014/main" id="{B7E5FDB5-C06D-429B-955B-CB8BA4506935}"/>
              </a:ext>
            </a:extLst>
          </p:cNvPr>
          <p:cNvSpPr>
            <a:spLocks xmlns:a="http://schemas.openxmlformats.org/drawingml/2006/main" noGrp="1"/>
          </p:cNvSpPr>
          <p:nvPr/>
        </p:nvSpPr>
        <p:spPr>
          <a:xfrm xmlns:a="http://schemas.openxmlformats.org/drawingml/2006/main">
            <a:off x="1104900" y="302895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0243E"/>
                </a:solidFill>
                <a:latin typeface="Malgun Gothic"/>
                <a:ea typeface="Malgun Gothic"/>
                <a:cs typeface="Malgun Gothic"/>
              </a:defRPr>
            </a:pPr>
            <a:r>
              <a:rPr sz="1050" b="1">
                <a:solidFill>
                  <a:srgbClr val="10243E"/>
                </a:solidFill>
                <a:latin typeface="Malgun Gothic"/>
                <a:ea typeface="Malgun Gothic"/>
                <a:cs typeface="Malgun Gothic"/>
              </a:rPr>
              <a:t>Observe · Retrieve</a:t>
            </a:r>
          </a:p>
        </p:txBody>
      </p:sp>
      <p:sp>
        <p:nvSpPr>
          <p:cNvPr id="14" name="">
            <a:extLst xmlns:a="http://schemas.openxmlformats.org/drawingml/2006/main">
              <a:ext uri="{FF2B5EF4-FFF2-40B4-BE49-F238E27FC236}">
                <a16:creationId xmlns:a16="http://schemas.microsoft.com/office/drawing/2014/main" id="{FE980190-6586-42CC-A0F2-D7AC5DE13E61}"/>
              </a:ext>
            </a:extLst>
          </p:cNvPr>
          <p:cNvSpPr>
            <a:spLocks xmlns:a="http://schemas.openxmlformats.org/drawingml/2006/main" noGrp="1"/>
          </p:cNvSpPr>
          <p:nvPr/>
        </p:nvSpPr>
        <p:spPr>
          <a:xfrm xmlns:a="http://schemas.openxmlformats.org/drawingml/2006/main">
            <a:off x="3067050" y="3028950"/>
            <a:ext cx="803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현재 Mail 관찰 + SQLite Task Context RAG로 활성 Task·최근 Mail 3건·History 5건 검색</a:t>
            </a:r>
          </a:p>
        </p:txBody>
      </p:sp>
      <p:sp>
        <p:nvSpPr>
          <p:cNvPr id="15" name="">
            <a:extLst xmlns:a="http://schemas.openxmlformats.org/drawingml/2006/main">
              <a:ext uri="{FF2B5EF4-FFF2-40B4-BE49-F238E27FC236}">
                <a16:creationId xmlns:a16="http://schemas.microsoft.com/office/drawing/2014/main" id="{7E25E382-461B-4BDF-8206-DD66341F9AA6}"/>
              </a:ext>
            </a:extLst>
          </p:cNvPr>
          <p:cNvSpPr>
            <a:spLocks xmlns:a="http://schemas.openxmlformats.org/drawingml/2006/main" noGrp="1"/>
          </p:cNvSpPr>
          <p:nvPr/>
        </p:nvSpPr>
        <p:spPr>
          <a:xfrm xmlns:a="http://schemas.openxmlformats.org/drawingml/2006/main">
            <a:off x="571500" y="340995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15E143C-8481-456D-B5DF-5176B34C6D60}"/>
              </a:ext>
            </a:extLst>
          </p:cNvPr>
          <p:cNvSpPr>
            <a:spLocks xmlns:a="http://schemas.openxmlformats.org/drawingml/2006/main" noGrp="1"/>
          </p:cNvSpPr>
          <p:nvPr/>
        </p:nvSpPr>
        <p:spPr>
          <a:xfrm xmlns:a="http://schemas.openxmlformats.org/drawingml/2006/main">
            <a:off x="609600" y="34290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2</a:t>
            </a:r>
          </a:p>
        </p:txBody>
      </p:sp>
      <p:sp>
        <p:nvSpPr>
          <p:cNvPr id="17" name="">
            <a:extLst xmlns:a="http://schemas.openxmlformats.org/drawingml/2006/main">
              <a:ext uri="{FF2B5EF4-FFF2-40B4-BE49-F238E27FC236}">
                <a16:creationId xmlns:a16="http://schemas.microsoft.com/office/drawing/2014/main" id="{8AFBEF12-BB1D-4180-A8A2-F1DAE7D68BC1}"/>
              </a:ext>
            </a:extLst>
          </p:cNvPr>
          <p:cNvSpPr>
            <a:spLocks xmlns:a="http://schemas.openxmlformats.org/drawingml/2006/main" noGrp="1"/>
          </p:cNvSpPr>
          <p:nvPr/>
        </p:nvSpPr>
        <p:spPr>
          <a:xfrm xmlns:a="http://schemas.openxmlformats.org/drawingml/2006/main">
            <a:off x="1104900" y="340995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0243E"/>
                </a:solidFill>
                <a:latin typeface="Malgun Gothic"/>
                <a:ea typeface="Malgun Gothic"/>
                <a:cs typeface="Malgun Gothic"/>
              </a:defRPr>
            </a:pPr>
            <a:r>
              <a:rPr sz="1050" b="1">
                <a:solidFill>
                  <a:srgbClr val="10243E"/>
                </a:solidFill>
                <a:latin typeface="Malgun Gothic"/>
                <a:ea typeface="Malgun Gothic"/>
                <a:cs typeface="Malgun Gothic"/>
              </a:rPr>
              <a:t>Reason · 가설 생성</a:t>
            </a:r>
          </a:p>
        </p:txBody>
      </p:sp>
      <p:sp>
        <p:nvSpPr>
          <p:cNvPr id="18" name="">
            <a:extLst xmlns:a="http://schemas.openxmlformats.org/drawingml/2006/main">
              <a:ext uri="{FF2B5EF4-FFF2-40B4-BE49-F238E27FC236}">
                <a16:creationId xmlns:a16="http://schemas.microsoft.com/office/drawing/2014/main" id="{C65912EF-CFF7-47BA-9BBB-3211A852D3B3}"/>
              </a:ext>
            </a:extLst>
          </p:cNvPr>
          <p:cNvSpPr>
            <a:spLocks xmlns:a="http://schemas.openxmlformats.org/drawingml/2006/main" noGrp="1"/>
          </p:cNvSpPr>
          <p:nvPr/>
        </p:nvSpPr>
        <p:spPr>
          <a:xfrm xmlns:a="http://schemas.openxmlformats.org/drawingml/2006/main">
            <a:off x="3067050" y="3409950"/>
            <a:ext cx="803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가능한 관계·대상·Action 후보 2~3개를 근거와 함께 제시 (점수는 매기지 않음)</a:t>
            </a:r>
          </a:p>
        </p:txBody>
      </p:sp>
      <p:sp>
        <p:nvSpPr>
          <p:cNvPr id="19" name="">
            <a:extLst xmlns:a="http://schemas.openxmlformats.org/drawingml/2006/main">
              <a:ext uri="{FF2B5EF4-FFF2-40B4-BE49-F238E27FC236}">
                <a16:creationId xmlns:a16="http://schemas.microsoft.com/office/drawing/2014/main" id="{20D07586-5E6F-44B6-8C8F-A1C85AD83207}"/>
              </a:ext>
            </a:extLst>
          </p:cNvPr>
          <p:cNvSpPr>
            <a:spLocks xmlns:a="http://schemas.openxmlformats.org/drawingml/2006/main" noGrp="1"/>
          </p:cNvSpPr>
          <p:nvPr/>
        </p:nvSpPr>
        <p:spPr>
          <a:xfrm xmlns:a="http://schemas.openxmlformats.org/drawingml/2006/main">
            <a:off x="571500" y="3790950"/>
            <a:ext cx="361950" cy="323850"/>
          </a:xfrm>
          <a:prstGeom xmlns:a="http://schemas.openxmlformats.org/drawingml/2006/main" prst="roundRect">
            <a:avLst>
              <a:gd name="adj" fmla="val 23529"/>
            </a:avLst>
          </a:prstGeom>
          <a:solidFill xmlns:a="http://schemas.openxmlformats.org/drawingml/2006/main">
            <a:srgbClr val="7657D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4260116-476B-43F3-A72D-C775383D1170}"/>
              </a:ext>
            </a:extLst>
          </p:cNvPr>
          <p:cNvSpPr>
            <a:spLocks xmlns:a="http://schemas.openxmlformats.org/drawingml/2006/main" noGrp="1"/>
          </p:cNvSpPr>
          <p:nvPr/>
        </p:nvSpPr>
        <p:spPr>
          <a:xfrm xmlns:a="http://schemas.openxmlformats.org/drawingml/2006/main">
            <a:off x="609600" y="38100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3</a:t>
            </a:r>
          </a:p>
        </p:txBody>
      </p:sp>
      <p:sp>
        <p:nvSpPr>
          <p:cNvPr id="21" name="">
            <a:extLst xmlns:a="http://schemas.openxmlformats.org/drawingml/2006/main">
              <a:ext uri="{FF2B5EF4-FFF2-40B4-BE49-F238E27FC236}">
                <a16:creationId xmlns:a16="http://schemas.microsoft.com/office/drawing/2014/main" id="{FD822BC9-86B0-40C8-9CE8-3F70A74A1412}"/>
              </a:ext>
            </a:extLst>
          </p:cNvPr>
          <p:cNvSpPr>
            <a:spLocks xmlns:a="http://schemas.openxmlformats.org/drawingml/2006/main" noGrp="1"/>
          </p:cNvSpPr>
          <p:nvPr/>
        </p:nvSpPr>
        <p:spPr>
          <a:xfrm xmlns:a="http://schemas.openxmlformats.org/drawingml/2006/main">
            <a:off x="1104900" y="379095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0243E"/>
                </a:solidFill>
                <a:latin typeface="Malgun Gothic"/>
                <a:ea typeface="Malgun Gothic"/>
                <a:cs typeface="Malgun Gothic"/>
              </a:defRPr>
            </a:pPr>
            <a:r>
              <a:rPr sz="1050" b="1">
                <a:solidFill>
                  <a:srgbClr val="10243E"/>
                </a:solidFill>
                <a:latin typeface="Malgun Gothic"/>
                <a:ea typeface="Malgun Gothic"/>
                <a:cs typeface="Malgun Gothic"/>
              </a:rPr>
              <a:t>Reason · 검증·평가</a:t>
            </a:r>
          </a:p>
        </p:txBody>
      </p:sp>
      <p:sp>
        <p:nvSpPr>
          <p:cNvPr id="22" name="">
            <a:extLst xmlns:a="http://schemas.openxmlformats.org/drawingml/2006/main">
              <a:ext uri="{FF2B5EF4-FFF2-40B4-BE49-F238E27FC236}">
                <a16:creationId xmlns:a16="http://schemas.microsoft.com/office/drawing/2014/main" id="{7079F811-7058-41CD-A7E5-1A639D857A6F}"/>
              </a:ext>
            </a:extLst>
          </p:cNvPr>
          <p:cNvSpPr>
            <a:spLocks xmlns:a="http://schemas.openxmlformats.org/drawingml/2006/main" noGrp="1"/>
          </p:cNvSpPr>
          <p:nvPr/>
        </p:nvSpPr>
        <p:spPr>
          <a:xfrm xmlns:a="http://schemas.openxmlformats.org/drawingml/2006/main">
            <a:off x="3067050" y="3790950"/>
            <a:ext cx="803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Python이 후보 계약을 검증하고, 별도 평가 단계가 지지도를 매겨 하나를 선택</a:t>
            </a:r>
          </a:p>
        </p:txBody>
      </p:sp>
      <p:sp>
        <p:nvSpPr>
          <p:cNvPr id="23" name="">
            <a:extLst xmlns:a="http://schemas.openxmlformats.org/drawingml/2006/main">
              <a:ext uri="{FF2B5EF4-FFF2-40B4-BE49-F238E27FC236}">
                <a16:creationId xmlns:a16="http://schemas.microsoft.com/office/drawing/2014/main" id="{34C5641A-9DB1-409C-AEEE-8EA69D6A8704}"/>
              </a:ext>
            </a:extLst>
          </p:cNvPr>
          <p:cNvSpPr>
            <a:spLocks xmlns:a="http://schemas.openxmlformats.org/drawingml/2006/main" noGrp="1"/>
          </p:cNvSpPr>
          <p:nvPr/>
        </p:nvSpPr>
        <p:spPr>
          <a:xfrm xmlns:a="http://schemas.openxmlformats.org/drawingml/2006/main">
            <a:off x="571500" y="417195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32ED7F0-7DB0-4CB5-9361-AD53DB2D0D82}"/>
              </a:ext>
            </a:extLst>
          </p:cNvPr>
          <p:cNvSpPr>
            <a:spLocks xmlns:a="http://schemas.openxmlformats.org/drawingml/2006/main" noGrp="1"/>
          </p:cNvSpPr>
          <p:nvPr/>
        </p:nvSpPr>
        <p:spPr>
          <a:xfrm xmlns:a="http://schemas.openxmlformats.org/drawingml/2006/main">
            <a:off x="609600" y="41910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4</a:t>
            </a:r>
          </a:p>
        </p:txBody>
      </p:sp>
      <p:sp>
        <p:nvSpPr>
          <p:cNvPr id="25" name="">
            <a:extLst xmlns:a="http://schemas.openxmlformats.org/drawingml/2006/main">
              <a:ext uri="{FF2B5EF4-FFF2-40B4-BE49-F238E27FC236}">
                <a16:creationId xmlns:a16="http://schemas.microsoft.com/office/drawing/2014/main" id="{5F09F65F-A7AC-4988-9D59-F76C194E25E4}"/>
              </a:ext>
            </a:extLst>
          </p:cNvPr>
          <p:cNvSpPr>
            <a:spLocks xmlns:a="http://schemas.openxmlformats.org/drawingml/2006/main" noGrp="1"/>
          </p:cNvSpPr>
          <p:nvPr/>
        </p:nvSpPr>
        <p:spPr>
          <a:xfrm xmlns:a="http://schemas.openxmlformats.org/drawingml/2006/main">
            <a:off x="1104900" y="417195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0243E"/>
                </a:solidFill>
                <a:latin typeface="Malgun Gothic"/>
                <a:ea typeface="Malgun Gothic"/>
                <a:cs typeface="Malgun Gothic"/>
              </a:defRPr>
            </a:pPr>
            <a:r>
              <a:rPr sz="1050" b="1">
                <a:solidFill>
                  <a:srgbClr val="10243E"/>
                </a:solidFill>
                <a:latin typeface="Malgun Gothic"/>
                <a:ea typeface="Malgun Gothic"/>
                <a:cs typeface="Malgun Gothic"/>
              </a:rPr>
              <a:t>Self-Correction</a:t>
            </a:r>
          </a:p>
        </p:txBody>
      </p:sp>
      <p:sp>
        <p:nvSpPr>
          <p:cNvPr id="26" name="">
            <a:extLst xmlns:a="http://schemas.openxmlformats.org/drawingml/2006/main">
              <a:ext uri="{FF2B5EF4-FFF2-40B4-BE49-F238E27FC236}">
                <a16:creationId xmlns:a16="http://schemas.microsoft.com/office/drawing/2014/main" id="{80EBDF7D-EBA4-434C-84B7-58D5FBE22157}"/>
              </a:ext>
            </a:extLst>
          </p:cNvPr>
          <p:cNvSpPr>
            <a:spLocks xmlns:a="http://schemas.openxmlformats.org/drawingml/2006/main" noGrp="1"/>
          </p:cNvSpPr>
          <p:nvPr/>
        </p:nvSpPr>
        <p:spPr>
          <a:xfrm xmlns:a="http://schemas.openxmlformats.org/drawingml/2006/main">
            <a:off x="3067050" y="4171950"/>
            <a:ext cx="803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모호·저신뢰이거나 선택 차이가 작으면 Query Rewrite → Context 재검색 → 재판단, 최대 1회</a:t>
            </a:r>
          </a:p>
        </p:txBody>
      </p:sp>
      <p:sp>
        <p:nvSpPr>
          <p:cNvPr id="27" name="">
            <a:extLst xmlns:a="http://schemas.openxmlformats.org/drawingml/2006/main">
              <a:ext uri="{FF2B5EF4-FFF2-40B4-BE49-F238E27FC236}">
                <a16:creationId xmlns:a16="http://schemas.microsoft.com/office/drawing/2014/main" id="{A03607ED-D291-4202-8267-5A9CC541366A}"/>
              </a:ext>
            </a:extLst>
          </p:cNvPr>
          <p:cNvSpPr>
            <a:spLocks xmlns:a="http://schemas.openxmlformats.org/drawingml/2006/main" noGrp="1"/>
          </p:cNvSpPr>
          <p:nvPr/>
        </p:nvSpPr>
        <p:spPr>
          <a:xfrm xmlns:a="http://schemas.openxmlformats.org/drawingml/2006/main">
            <a:off x="571500" y="455295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E2A889B-3B4A-4CDC-8F6F-EA38097841B3}"/>
              </a:ext>
            </a:extLst>
          </p:cNvPr>
          <p:cNvSpPr>
            <a:spLocks xmlns:a="http://schemas.openxmlformats.org/drawingml/2006/main" noGrp="1"/>
          </p:cNvSpPr>
          <p:nvPr/>
        </p:nvSpPr>
        <p:spPr>
          <a:xfrm xmlns:a="http://schemas.openxmlformats.org/drawingml/2006/main">
            <a:off x="609600" y="45720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5</a:t>
            </a:r>
          </a:p>
        </p:txBody>
      </p:sp>
      <p:sp>
        <p:nvSpPr>
          <p:cNvPr id="29" name="">
            <a:extLst xmlns:a="http://schemas.openxmlformats.org/drawingml/2006/main">
              <a:ext uri="{FF2B5EF4-FFF2-40B4-BE49-F238E27FC236}">
                <a16:creationId xmlns:a16="http://schemas.microsoft.com/office/drawing/2014/main" id="{E3BC036C-5E2E-4D79-9726-76551D290248}"/>
              </a:ext>
            </a:extLst>
          </p:cNvPr>
          <p:cNvSpPr>
            <a:spLocks xmlns:a="http://schemas.openxmlformats.org/drawingml/2006/main" noGrp="1"/>
          </p:cNvSpPr>
          <p:nvPr/>
        </p:nvSpPr>
        <p:spPr>
          <a:xfrm xmlns:a="http://schemas.openxmlformats.org/drawingml/2006/main">
            <a:off x="1104900" y="455295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0243E"/>
                </a:solidFill>
                <a:latin typeface="Malgun Gothic"/>
                <a:ea typeface="Malgun Gothic"/>
                <a:cs typeface="Malgun Gothic"/>
              </a:defRPr>
            </a:pPr>
            <a:r>
              <a:rPr sz="1050" b="1">
                <a:solidFill>
                  <a:srgbClr val="10243E"/>
                </a:solidFill>
                <a:latin typeface="Malgun Gothic"/>
                <a:ea typeface="Malgun Gothic"/>
                <a:cs typeface="Malgun Gothic"/>
              </a:rPr>
              <a:t>Act · Observe</a:t>
            </a:r>
          </a:p>
        </p:txBody>
      </p:sp>
      <p:sp>
        <p:nvSpPr>
          <p:cNvPr id="30" name="">
            <a:extLst xmlns:a="http://schemas.openxmlformats.org/drawingml/2006/main">
              <a:ext uri="{FF2B5EF4-FFF2-40B4-BE49-F238E27FC236}">
                <a16:creationId xmlns:a16="http://schemas.microsoft.com/office/drawing/2014/main" id="{B04573B2-7980-4783-ACCE-B2236FBBBC39}"/>
              </a:ext>
            </a:extLst>
          </p:cNvPr>
          <p:cNvSpPr>
            <a:spLocks xmlns:a="http://schemas.openxmlformats.org/drawingml/2006/main" noGrp="1"/>
          </p:cNvSpPr>
          <p:nvPr/>
        </p:nvSpPr>
        <p:spPr>
          <a:xfrm xmlns:a="http://schemas.openxmlformats.org/drawingml/2006/main">
            <a:off x="3067050" y="4552950"/>
            <a:ext cx="803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Python Guard 검증 → DB 실행 또는 ASK_USER → 실제 저장 결과를 다시 조회해 확인</a:t>
            </a:r>
          </a:p>
        </p:txBody>
      </p:sp>
      <p:sp>
        <p:nvSpPr>
          <p:cNvPr id="31" name="">
            <a:extLst xmlns:a="http://schemas.openxmlformats.org/drawingml/2006/main">
              <a:ext uri="{FF2B5EF4-FFF2-40B4-BE49-F238E27FC236}">
                <a16:creationId xmlns:a16="http://schemas.microsoft.com/office/drawing/2014/main" id="{374DDE8F-6AC5-4A71-ABD4-2168FEBF3CD7}"/>
              </a:ext>
            </a:extLst>
          </p:cNvPr>
          <p:cNvSpPr>
            <a:spLocks xmlns:a="http://schemas.openxmlformats.org/drawingml/2006/main" noGrp="1"/>
          </p:cNvSpPr>
          <p:nvPr/>
        </p:nvSpPr>
        <p:spPr>
          <a:xfrm xmlns:a="http://schemas.openxmlformats.org/drawingml/2006/main">
            <a:off x="571500" y="4953000"/>
            <a:ext cx="819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7657D6"/>
                </a:solidFill>
                <a:latin typeface="Malgun Gothic"/>
                <a:ea typeface="Malgun Gothic"/>
                <a:cs typeface="Malgun Gothic"/>
              </a:defRPr>
            </a:pPr>
            <a:r>
              <a:rPr sz="1425" b="1">
                <a:solidFill>
                  <a:srgbClr val="7657D6"/>
                </a:solidFill>
                <a:latin typeface="Malgun Gothic"/>
                <a:ea typeface="Malgun Gothic"/>
                <a:cs typeface="Malgun Gothic"/>
              </a:rPr>
              <a:t>같은 Case·같은 코드에서 숙고만 껐다 켠 비교</a:t>
            </a:r>
          </a:p>
        </p:txBody>
      </p:sp>
      <p:sp>
        <p:nvSpPr>
          <p:cNvPr id="32" name="">
            <a:extLst xmlns:a="http://schemas.openxmlformats.org/drawingml/2006/main">
              <a:ext uri="{FF2B5EF4-FFF2-40B4-BE49-F238E27FC236}">
                <a16:creationId xmlns:a16="http://schemas.microsoft.com/office/drawing/2014/main" id="{7C04E634-C9DD-4FAB-835D-12B0427B14BF}"/>
              </a:ext>
            </a:extLst>
          </p:cNvPr>
          <p:cNvSpPr>
            <a:spLocks xmlns:a="http://schemas.openxmlformats.org/drawingml/2006/main" noGrp="1"/>
          </p:cNvSpPr>
          <p:nvPr/>
        </p:nvSpPr>
        <p:spPr>
          <a:xfrm xmlns:a="http://schemas.openxmlformats.org/drawingml/2006/main">
            <a:off x="57150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기존 15 Case</a:t>
            </a:r>
          </a:p>
        </p:txBody>
      </p:sp>
      <p:sp>
        <p:nvSpPr>
          <p:cNvPr id="33" name="">
            <a:extLst xmlns:a="http://schemas.openxmlformats.org/drawingml/2006/main">
              <a:ext uri="{FF2B5EF4-FFF2-40B4-BE49-F238E27FC236}">
                <a16:creationId xmlns:a16="http://schemas.microsoft.com/office/drawing/2014/main" id="{83B4FC4E-DE4D-49A2-BE16-3FC642E409B7}"/>
              </a:ext>
            </a:extLst>
          </p:cNvPr>
          <p:cNvSpPr>
            <a:spLocks xmlns:a="http://schemas.openxmlformats.org/drawingml/2006/main" noGrp="1"/>
          </p:cNvSpPr>
          <p:nvPr/>
        </p:nvSpPr>
        <p:spPr>
          <a:xfrm xmlns:a="http://schemas.openxmlformats.org/drawingml/2006/main">
            <a:off x="57150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15/15 · Action 28/28</a:t>
            </a:r>
          </a:p>
        </p:txBody>
      </p:sp>
      <p:sp>
        <p:nvSpPr>
          <p:cNvPr id="34" name="">
            <a:extLst xmlns:a="http://schemas.openxmlformats.org/drawingml/2006/main">
              <a:ext uri="{FF2B5EF4-FFF2-40B4-BE49-F238E27FC236}">
                <a16:creationId xmlns:a16="http://schemas.microsoft.com/office/drawing/2014/main" id="{D38ABFFD-4C10-46D9-A26E-010249E77A1C}"/>
              </a:ext>
            </a:extLst>
          </p:cNvPr>
          <p:cNvSpPr>
            <a:spLocks xmlns:a="http://schemas.openxmlformats.org/drawingml/2006/main" noGrp="1"/>
          </p:cNvSpPr>
          <p:nvPr/>
        </p:nvSpPr>
        <p:spPr>
          <a:xfrm xmlns:a="http://schemas.openxmlformats.org/drawingml/2006/main">
            <a:off x="57150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숙고 On·Off 동일, 시간만 증가</a:t>
            </a:r>
          </a:p>
        </p:txBody>
      </p:sp>
      <p:sp>
        <p:nvSpPr>
          <p:cNvPr id="35" name="">
            <a:extLst xmlns:a="http://schemas.openxmlformats.org/drawingml/2006/main">
              <a:ext uri="{FF2B5EF4-FFF2-40B4-BE49-F238E27FC236}">
                <a16:creationId xmlns:a16="http://schemas.microsoft.com/office/drawing/2014/main" id="{E55F0718-E672-4C9F-B704-74B018378049}"/>
              </a:ext>
            </a:extLst>
          </p:cNvPr>
          <p:cNvSpPr>
            <a:spLocks xmlns:a="http://schemas.openxmlformats.org/drawingml/2006/main" noGrp="1"/>
          </p:cNvSpPr>
          <p:nvPr/>
        </p:nvSpPr>
        <p:spPr>
          <a:xfrm xmlns:a="http://schemas.openxmlformats.org/drawingml/2006/main">
            <a:off x="424815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숙고 전용 4 Case</a:t>
            </a:r>
          </a:p>
        </p:txBody>
      </p:sp>
      <p:sp>
        <p:nvSpPr>
          <p:cNvPr id="36" name="">
            <a:extLst xmlns:a="http://schemas.openxmlformats.org/drawingml/2006/main">
              <a:ext uri="{FF2B5EF4-FFF2-40B4-BE49-F238E27FC236}">
                <a16:creationId xmlns:a16="http://schemas.microsoft.com/office/drawing/2014/main" id="{EB9C349E-57C4-40B0-91B4-37787ED34A07}"/>
              </a:ext>
            </a:extLst>
          </p:cNvPr>
          <p:cNvSpPr>
            <a:spLocks xmlns:a="http://schemas.openxmlformats.org/drawingml/2006/main" noGrp="1"/>
          </p:cNvSpPr>
          <p:nvPr/>
        </p:nvSpPr>
        <p:spPr>
          <a:xfrm xmlns:a="http://schemas.openxmlformats.org/drawingml/2006/main">
            <a:off x="424815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재현되는 차이 1건</a:t>
            </a:r>
          </a:p>
        </p:txBody>
      </p:sp>
      <p:sp>
        <p:nvSpPr>
          <p:cNvPr id="37" name="">
            <a:extLst xmlns:a="http://schemas.openxmlformats.org/drawingml/2006/main">
              <a:ext uri="{FF2B5EF4-FFF2-40B4-BE49-F238E27FC236}">
                <a16:creationId xmlns:a16="http://schemas.microsoft.com/office/drawing/2014/main" id="{6A2BFBE5-1141-4C75-9A8B-B2A845836BDA}"/>
              </a:ext>
            </a:extLst>
          </p:cNvPr>
          <p:cNvSpPr>
            <a:spLocks xmlns:a="http://schemas.openxmlformats.org/drawingml/2006/main" noGrp="1"/>
          </p:cNvSpPr>
          <p:nvPr/>
        </p:nvSpPr>
        <p:spPr>
          <a:xfrm xmlns:a="http://schemas.openxmlformats.org/drawingml/2006/main">
            <a:off x="424815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DLB-02: On 3/3 통과, Off 3/3 실패</a:t>
            </a:r>
          </a:p>
        </p:txBody>
      </p:sp>
      <p:sp>
        <p:nvSpPr>
          <p:cNvPr id="38" name="">
            <a:extLst xmlns:a="http://schemas.openxmlformats.org/drawingml/2006/main">
              <a:ext uri="{FF2B5EF4-FFF2-40B4-BE49-F238E27FC236}">
                <a16:creationId xmlns:a16="http://schemas.microsoft.com/office/drawing/2014/main" id="{5F23BB67-174B-49BB-A04C-41C8180FE842}"/>
              </a:ext>
            </a:extLst>
          </p:cNvPr>
          <p:cNvSpPr>
            <a:spLocks xmlns:a="http://schemas.openxmlformats.org/drawingml/2006/main" noGrp="1"/>
          </p:cNvSpPr>
          <p:nvPr/>
        </p:nvSpPr>
        <p:spPr>
          <a:xfrm xmlns:a="http://schemas.openxmlformats.org/drawingml/2006/main">
            <a:off x="792480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실제 Gmail 재현</a:t>
            </a:r>
          </a:p>
        </p:txBody>
      </p:sp>
      <p:sp>
        <p:nvSpPr>
          <p:cNvPr id="39" name="">
            <a:extLst xmlns:a="http://schemas.openxmlformats.org/drawingml/2006/main">
              <a:ext uri="{FF2B5EF4-FFF2-40B4-BE49-F238E27FC236}">
                <a16:creationId xmlns:a16="http://schemas.microsoft.com/office/drawing/2014/main" id="{4C0245C5-E680-48F0-ACE2-664F528B1B38}"/>
              </a:ext>
            </a:extLst>
          </p:cNvPr>
          <p:cNvSpPr>
            <a:spLocks xmlns:a="http://schemas.openxmlformats.org/drawingml/2006/main" noGrp="1"/>
          </p:cNvSpPr>
          <p:nvPr/>
        </p:nvSpPr>
        <p:spPr>
          <a:xfrm xmlns:a="http://schemas.openxmlformats.org/drawingml/2006/main">
            <a:off x="792480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새 메일 4건 처리</a:t>
            </a:r>
          </a:p>
        </p:txBody>
      </p:sp>
      <p:sp>
        <p:nvSpPr>
          <p:cNvPr id="40" name="">
            <a:extLst xmlns:a="http://schemas.openxmlformats.org/drawingml/2006/main">
              <a:ext uri="{FF2B5EF4-FFF2-40B4-BE49-F238E27FC236}">
                <a16:creationId xmlns:a16="http://schemas.microsoft.com/office/drawing/2014/main" id="{56870775-A514-4115-A89B-F01E8D7F47D8}"/>
              </a:ext>
            </a:extLst>
          </p:cNvPr>
          <p:cNvSpPr>
            <a:spLocks xmlns:a="http://schemas.openxmlformats.org/drawingml/2006/main" noGrp="1"/>
          </p:cNvSpPr>
          <p:nvPr/>
        </p:nvSpPr>
        <p:spPr>
          <a:xfrm xmlns:a="http://schemas.openxmlformats.org/drawingml/2006/main">
            <a:off x="792480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2건 Task 생성, 2건 ASK_USER</a:t>
            </a:r>
          </a:p>
        </p:txBody>
      </p:sp>
      <p:sp>
        <p:nvSpPr>
          <p:cNvPr id="41" name="">
            <a:extLst xmlns:a="http://schemas.openxmlformats.org/drawingml/2006/main">
              <a:ext uri="{FF2B5EF4-FFF2-40B4-BE49-F238E27FC236}">
                <a16:creationId xmlns:a16="http://schemas.microsoft.com/office/drawing/2014/main" id="{43EDDF1E-DF12-4BCD-B715-A2CF93974EEF}"/>
              </a:ext>
            </a:extLst>
          </p:cNvPr>
          <p:cNvSpPr>
            <a:spLocks xmlns:a="http://schemas.openxmlformats.org/drawingml/2006/main" noGrp="1"/>
          </p:cNvSpPr>
          <p:nvPr/>
        </p:nvSpPr>
        <p:spPr>
          <a:xfrm xmlns:a="http://schemas.openxmlformats.org/drawingml/2006/main">
            <a:off x="571500" y="60579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Next Step  |  Gmail 검증 결과를 바탕으로 Outlook·Graph Adapter와 사내 인증·운영 서버로 전환</a:t>
            </a:r>
          </a:p>
        </p:txBody>
      </p:sp>
      <p:sp>
        <p:nvSpPr>
          <p:cNvPr id="42" name="">
            <a:extLst xmlns:a="http://schemas.openxmlformats.org/drawingml/2006/main">
              <a:ext uri="{FF2B5EF4-FFF2-40B4-BE49-F238E27FC236}">
                <a16:creationId xmlns:a16="http://schemas.microsoft.com/office/drawing/2014/main" id="{E6D22D49-E425-4F16-BA25-CC03563ED944}"/>
              </a:ext>
            </a:extLst>
          </p:cNvPr>
          <p:cNvSpPr>
            <a:spLocks xmlns:a="http://schemas.openxmlformats.org/drawingml/2006/main" noGrp="1"/>
          </p:cNvSpPr>
          <p:nvPr/>
        </p:nvSpPr>
        <p:spPr>
          <a:xfrm xmlns:a="http://schemas.openxmlformats.org/drawingml/2006/main">
            <a:off x="571500" y="63055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C73C34"/>
                </a:solidFill>
                <a:latin typeface="Malgun Gothic"/>
                <a:ea typeface="Malgun Gothic"/>
                <a:cs typeface="Malgun Gothic"/>
              </a:defRPr>
            </a:pPr>
            <a:r>
              <a:rPr sz="1050" b="1">
                <a:solidFill>
                  <a:srgbClr val="C73C34"/>
                </a:solidFill>
                <a:latin typeface="Malgun Gothic"/>
                <a:ea typeface="Malgun Gothic"/>
                <a:cs typeface="Malgun Gothic"/>
              </a:rPr>
              <a:t>실패  |  계약 위반 응답을 재시도 없이 실패 처리해 판단 4건 유실</a:t>
            </a:r>
          </a:p>
        </p:txBody>
      </p:sp>
      <p:sp>
        <p:nvSpPr>
          <p:cNvPr id="43" name="">
            <a:extLst xmlns:a="http://schemas.openxmlformats.org/drawingml/2006/main">
              <a:ext uri="{FF2B5EF4-FFF2-40B4-BE49-F238E27FC236}">
                <a16:creationId xmlns:a16="http://schemas.microsoft.com/office/drawing/2014/main" id="{0F234668-A784-4A45-BBD9-5A2EC9D9F42A}"/>
              </a:ext>
            </a:extLst>
          </p:cNvPr>
          <p:cNvSpPr>
            <a:spLocks xmlns:a="http://schemas.openxmlformats.org/drawingml/2006/main" noGrp="1"/>
          </p:cNvSpPr>
          <p:nvPr/>
        </p:nvSpPr>
        <p:spPr>
          <a:xfrm xmlns:a="http://schemas.openxmlformats.org/drawingml/2006/main">
            <a:off x="7239000" y="6305550"/>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38A62"/>
                </a:solidFill>
                <a:latin typeface="Malgun Gothic"/>
                <a:ea typeface="Malgun Gothic"/>
                <a:cs typeface="Malgun Gothic"/>
              </a:defRPr>
            </a:pPr>
            <a:r>
              <a:rPr sz="1050" b="1">
                <a:solidFill>
                  <a:srgbClr val="138A62"/>
                </a:solidFill>
                <a:latin typeface="Malgun Gothic"/>
                <a:ea typeface="Malgun Gothic"/>
                <a:cs typeface="Malgun Gothic"/>
              </a:rPr>
              <a:t>개선  |  검증을 재시도 루프 안으로 이동, 유실 0건</a:t>
            </a:r>
          </a:p>
        </p:txBody>
      </p:sp>
    </p:spTree>
    <p:extLst>
      <p:ext uri="{BB962C8B-B14F-4D97-AF65-F5344CB8AC3E}">
        <p14:creationId xmlns:p14="http://schemas.microsoft.com/office/powerpoint/2010/main" val="8857222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2026-09-16T00:51:03.3540000Z</dcterms:created>
  <dcterms:modified xsi:type="dcterms:W3CDTF">2026-09-16T00:51:03.3540000Z</dcterms:modified>
</coreProperties>
</file>