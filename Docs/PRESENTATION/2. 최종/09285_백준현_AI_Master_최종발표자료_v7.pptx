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8b8b74e55a42d9" /><Relationship Type="http://schemas.openxmlformats.org/officeDocument/2006/relationships/extended-properties" Target="/docProps/app.xml" Id="R8d8478bc4a2d4ddb" /><Relationship Type="http://schemas.openxmlformats.org/officeDocument/2006/relationships/officeDocument" Target="/ppt/presentation.xml" Id="R3199bd63213b4b81" /></Relationships>
</file>

<file path=ppt/presentation.xml><?xml version="1.0" encoding="utf-8"?>
<p:presentation xmlns:p="http://schemas.openxmlformats.org/presentationml/2006/main">
  <p:sldMasterIdLst>
    <p:sldMasterId xmlns:r="http://schemas.openxmlformats.org/officeDocument/2006/relationships" id="2147483648" r:id="Rbb700efe82964092"/>
  </p:sldMasterIdLst>
  <p:notesMasterIdLst>
    <p:notesMasterId xmlns:r="http://schemas.openxmlformats.org/officeDocument/2006/relationships" r:id="Ra2eda374bc514b0c"/>
  </p:notesMasterIdLst>
  <p:sldIdLst>
    <p:sldId xmlns:r="http://schemas.openxmlformats.org/officeDocument/2006/relationships" id="256" r:id="Rfe856f2ea3be4c2d"/>
    <p:sldId xmlns:r="http://schemas.openxmlformats.org/officeDocument/2006/relationships" id="257" r:id="R1d4edf1e80134772"/>
    <p:sldId xmlns:r="http://schemas.openxmlformats.org/officeDocument/2006/relationships" id="258" r:id="R5a67f4b349ec4a3a"/>
    <p:sldId xmlns:r="http://schemas.openxmlformats.org/officeDocument/2006/relationships" id="259" r:id="R8c0369c2e6c245a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d8ecb061bd435d" /><Relationship Type="http://schemas.openxmlformats.org/officeDocument/2006/relationships/slideMaster" Target="/ppt/slideMasters/slideMaster1.xml" Id="Rbb700efe82964092" /><Relationship Type="http://schemas.openxmlformats.org/officeDocument/2006/relationships/notesMaster" Target="/ppt/notesMasters/notesMaster1.xml" Id="Ra2eda374bc514b0c" /><Relationship Type="http://schemas.openxmlformats.org/officeDocument/2006/relationships/presProps" Target="/ppt/presProps.xml" Id="R5af83415c430488a" /><Relationship Type="http://schemas.openxmlformats.org/officeDocument/2006/relationships/tableStyles" Target="/ppt/tableStyles.xml" Id="R63923dc71bb4422a" /><Relationship Type="http://schemas.openxmlformats.org/officeDocument/2006/relationships/slide" Target="/ppt/slides/slide1.xml" Id="Rfe856f2ea3be4c2d" /><Relationship Type="http://schemas.openxmlformats.org/officeDocument/2006/relationships/slide" Target="/ppt/slides/slide2.xml" Id="R1d4edf1e80134772" /><Relationship Type="http://schemas.openxmlformats.org/officeDocument/2006/relationships/slide" Target="/ppt/slides/slide3.xml" Id="R5a67f4b349ec4a3a" /><Relationship Type="http://schemas.openxmlformats.org/officeDocument/2006/relationships/slide" Target="/ppt/slides/slide4.xml" Id="R8c0369c2e6c245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6353d9b52a4f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dd568d0afc493d" /><Relationship Type="http://schemas.openxmlformats.org/officeDocument/2006/relationships/notesMaster" Target="/ppt/notesMasters/notesMaster1.xml" Id="R96115b9656b24d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b753ce0f834afc" /><Relationship Type="http://schemas.openxmlformats.org/officeDocument/2006/relationships/notesMaster" Target="/ppt/notesMasters/notesMaster1.xml" Id="R2df9bc6a26794a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c53b7d174d445f" /><Relationship Type="http://schemas.openxmlformats.org/officeDocument/2006/relationships/notesMaster" Target="/ppt/notesMasters/notesMaster1.xml" Id="Rcaeb9c99f89d43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fe7fd332dd45c9" /><Relationship Type="http://schemas.openxmlformats.org/officeDocument/2006/relationships/notesMaster" Target="/ppt/notesMasters/notesMaster1.xml" Id="R31e723d87a7d4c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MailTaskAgent는 메일을 요약하는 도구가 아닙니다. 새 메일과 기존 업무 상태를 함께 보고 다음 Action을 결정하고, 위험하거나 모호한 결정은 사용자에게 넘기는 Agentic AI 프로젝트입니다.</a:t>
            </a:r>
          </a:p>
          <a:p xmlns:a="http://schemas.openxmlformats.org/drawingml/2006/main">
            <a:r>
              <a:t/>
            </a:r>
          </a:p>
          <a:p xmlns:a="http://schemas.openxmlformats.org/drawingml/2006/main">
            <a:r>
              <a:t>[근거]</a:t>
            </a:r>
          </a:p>
          <a:p xmlns:a="http://schemas.openxmlformats.org/drawingml/2006/main">
            <a:r>
              <a:t>- Docs/AI_MASTER/02_문제정의및서비스기획.md</a:t>
            </a:r>
          </a:p>
          <a:p xmlns:a="http://schemas.openxmlformats.org/drawingml/2006/main">
            <a:r>
              <a:t>- Docs/AI_MASTER/07_E2E서비스개발.md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문제는 메일을 읽는 행위보다, 요청을 Task로 옮기고 후속 변경을 놓치지 않는 데 있습니다. 메일이 들어오면 Agent가 의미를 구조화하고 관련 업무를 찾습니다. 확정하기 어려운 관계에서는 다음 Action을 제안합니다. 회신이 필요하면 별도 Reply Agent가 회신 방식과 필요한 사용자 입력을 정하고 회사 LLM이 초안을 작성합니다. 사용자가 수신자와 본문을 확인한 뒤 승인해야 Gmail에 발송되며, Task는 WAITING_REPLY로 전환됩니다. 오른쪽 수치는 서로 다른 정의된 검증 범위이므로 전체 Mailbox 정확도로 해석하지 않습니다.</a:t>
            </a:r>
          </a:p>
          <a:p xmlns:a="http://schemas.openxmlformats.org/drawingml/2006/main">
            <a:r>
              <a:t/>
            </a:r>
          </a:p>
          <a:p xmlns:a="http://schemas.openxmlformats.org/drawingml/2006/main">
            <a:r>
              <a:t>[근거]</a:t>
            </a:r>
          </a:p>
          <a:p xmlns:a="http://schemas.openxmlformats.org/drawingml/2006/main">
            <a:r>
              <a:t>- Docs/AI_MASTER/02_문제정의및서비스기획.md</a:t>
            </a:r>
          </a:p>
          <a:p xmlns:a="http://schemas.openxmlformats.org/drawingml/2006/main">
            <a:r>
              <a:t>- evidence/final_submission_audit_2026-09-13_after_gmail_e2e.json</a:t>
            </a:r>
          </a:p>
          <a:p xmlns:a="http://schemas.openxmlformats.org/drawingml/2006/main">
            <a:r>
              <a:t>- evidence/gmail_final_e2e_2026-09-13.json</a:t>
            </a:r>
          </a:p>
          <a:p xmlns:a="http://schemas.openxmlformats.org/drawingml/2006/main">
            <a:r>
              <a:t>- evidence/gmail_fresh_auto_create_2026-09-13.json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M-01은 메일의 의미를 구조화합니다. M-02는 현재 SQLite에서 관련 Task, 최근 Mail 3건, History 5건까지 검색합니다. 동일 Thread처럼 확정 가능한 경우에는 규칙 경로를 사용합니다. 다른 Thread와 다른 표현 때문에 관계가 불확실할 때만 M-03 Task Context Agent가 관계, 대상 Task와 Action을 제안합니다. Action은 CREATE_TASK, UPDATE_TASK, LINK_TO_TASK, SET_WAITING, MARK_COMPLETED, ASK_USER, IGNORE의 7개입니다. 저신뢰 판단은 검색어를 한 번만 바꿔 재검색합니다. Python Guard는 Action을 승인하거나 ASK_USER로 올리고, 실행 후 DB를 재조회합니다.</a:t>
            </a:r>
          </a:p>
          <a:p xmlns:a="http://schemas.openxmlformats.org/drawingml/2006/main">
            <a:r>
              <a:t/>
            </a:r>
          </a:p>
          <a:p xmlns:a="http://schemas.openxmlformats.org/drawingml/2006/main">
            <a:r>
              <a:t>[근거]</a:t>
            </a:r>
          </a:p>
          <a:p xmlns:a="http://schemas.openxmlformats.org/drawingml/2006/main">
            <a:r>
              <a:t>- Docs/AI_MASTER/04_상세설계및개발환경.md</a:t>
            </a:r>
          </a:p>
          <a:p xmlns:a="http://schemas.openxmlformats.org/drawingml/2006/main">
            <a:r>
              <a:t>- src/mailtaskagent/workflow.py</a:t>
            </a:r>
          </a:p>
          <a:p xmlns:a="http://schemas.openxmlformats.org/drawingml/2006/main">
            <a:r>
              <a:t>- src/mailtaskagent/task_context_agent.py</a:t>
            </a:r>
          </a:p>
          <a:p xmlns:a="http://schemas.openxmlformats.org/drawingml/2006/main">
            <a:r>
              <a:t>- src/mailtaskagent/decision.py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기능들을 일반 Workflow로 구현하는 것이 불가능한 것은 아닙니다. 설계 이유는 모든 표현과 관계를 규칙으로 열거하기 어렵기 때문입니다. 확정 가능한 연결은 규칙으로 처리하고, 다른 Thread와 다른 표현에서는 현재 Mail과 검색 Context를 관찰해 관계와 Action을 제안하도록 제한했습니다. 낮은 신뢰도에서는 검색어를 다시 만들고 결과를 재관찰하며, 그래도 불확실하면 사람이 결정합니다. Reply Agent도 글만 생성하는 것이 아니라 회신 방식과 필요한 입력을 먼저 고릅니다. 실제 Gmail E2E에서는 DATE_REPLY 0.95 판단, 사용자 날짜 입력, LLM 초안, 수신자와 Thread 검증, 승인 발송, WAITING_REPLY 전환을 확인했습니다. 이는 자유로운 장기 계획 Agent가 아니라 결정론적 안전 경로와 제한된 Agent 판단을 결합한 하이브리드입니다.</a:t>
            </a:r>
          </a:p>
          <a:p xmlns:a="http://schemas.openxmlformats.org/drawingml/2006/main">
            <a:r>
              <a:t/>
            </a:r>
          </a:p>
          <a:p xmlns:a="http://schemas.openxmlformats.org/drawingml/2006/main">
            <a:r>
              <a:t>[근거]</a:t>
            </a:r>
          </a:p>
          <a:p xmlns:a="http://schemas.openxmlformats.org/drawingml/2006/main">
            <a:r>
              <a:t>- 멘토 피드백 2026-09</a:t>
            </a:r>
          </a:p>
          <a:p xmlns:a="http://schemas.openxmlformats.org/drawingml/2006/main">
            <a:r>
              <a:t>- evidence/task_context_rag_evaluation_2026-09-01.json</a:t>
            </a:r>
          </a:p>
          <a:p xmlns:a="http://schemas.openxmlformats.org/drawingml/2006/main">
            <a:r>
              <a:t>- evidence/mail_to_action_draft_evaluation_2026-09-06.json</a:t>
            </a:r>
          </a:p>
          <a:p xmlns:a="http://schemas.openxmlformats.org/drawingml/2006/main">
            <a:r>
              <a:t>- evidence/gmail_final_e2e_2026-09-13.json</a:t>
            </a:r>
          </a:p>
          <a:p xmlns:a="http://schemas.openxmlformats.org/drawingml/2006/main">
            <a:r>
              <a:t>- evidence/gmail_fresh_auto_create_2026-09-13.json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860ddc41bd46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0c1df63ce6424c" /><Relationship Type="http://schemas.openxmlformats.org/officeDocument/2006/relationships/slideLayout" Target="/ppt/slideLayouts/slideLayout1.xml" Id="R1665d483e01440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65d483e01440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1a90ab8c263463f" /><Relationship Type="http://schemas.openxmlformats.org/officeDocument/2006/relationships/notesSlide" Target="/ppt/notesSlides/notesSlide1.xml" Id="R379e6e2448a646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0282aa37c9c4855" /><Relationship Type="http://schemas.openxmlformats.org/officeDocument/2006/relationships/notesSlide" Target="/ppt/notesSlides/notesSlide2.xml" Id="R07854ec4a89f4a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85e84ad23d3462e" /><Relationship Type="http://schemas.openxmlformats.org/officeDocument/2006/relationships/notesSlide" Target="/ppt/notesSlides/notesSlide3.xml" Id="R3b98116e69a242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45b443ba208449d" /><Relationship Type="http://schemas.openxmlformats.org/officeDocument/2006/relationships/notesSlide" Target="/ppt/notesSlides/notesSlide4.xml" Id="R83e327c359e841dc" /></Relationships>
</file>

<file path=ppt/slides/slide1.xml><?xml version="1.0" encoding="utf-8"?>
<p:sld xmlns:p="http://schemas.openxmlformats.org/presentationml/2006/main">
  <p:cSld>
    <p:bg>
      <p:bgPr>
        <a:solidFill xmlns:a="http://schemas.openxmlformats.org/drawingml/2006/main">
          <a:srgbClr val="10243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5ACC5B1-049C-4CDE-AF2D-82062371EC2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0B8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163ABD-9A80-4C3C-AAA2-EF3FA5525E82}"/>
              </a:ext>
            </a:extLst>
          </p:cNvPr>
          <p:cNvSpPr>
            <a:spLocks xmlns:a="http://schemas.openxmlformats.org/drawingml/2006/main" noGrp="1"/>
          </p:cNvSpPr>
          <p:nvPr/>
        </p:nvSpPr>
        <p:spPr>
          <a:xfrm xmlns:a="http://schemas.openxmlformats.org/drawingml/2006/main">
            <a:off x="685800" y="68580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0B8C7"/>
                </a:solidFill>
                <a:latin typeface="Malgun Gothic"/>
                <a:ea typeface="Malgun Gothic"/>
                <a:cs typeface="Malgun Gothic"/>
              </a:defRPr>
            </a:pPr>
            <a:r>
              <a:rPr sz="1500" b="1">
                <a:solidFill>
                  <a:srgbClr val="20B8C7"/>
                </a:solidFill>
                <a:latin typeface="Malgun Gothic"/>
                <a:ea typeface="Malgun Gothic"/>
                <a:cs typeface="Malgun Gothic"/>
              </a:rPr>
              <a:t>AI Master Project</a:t>
            </a:r>
          </a:p>
        </p:txBody>
      </p:sp>
      <p:sp>
        <p:nvSpPr>
          <p:cNvPr id="3" name="">
            <a:extLst xmlns:a="http://schemas.openxmlformats.org/drawingml/2006/main">
              <a:ext uri="{FF2B5EF4-FFF2-40B4-BE49-F238E27FC236}">
                <a16:creationId xmlns:a16="http://schemas.microsoft.com/office/drawing/2014/main" id="{1712826A-E623-48EB-A064-95E679B24B0B}"/>
              </a:ext>
            </a:extLst>
          </p:cNvPr>
          <p:cNvSpPr>
            <a:spLocks xmlns:a="http://schemas.openxmlformats.org/drawingml/2006/main" noGrp="1"/>
          </p:cNvSpPr>
          <p:nvPr/>
        </p:nvSpPr>
        <p:spPr>
          <a:xfrm xmlns:a="http://schemas.openxmlformats.org/drawingml/2006/main">
            <a:off x="685800" y="1476375"/>
            <a:ext cx="7620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900" b="1">
                <a:solidFill>
                  <a:srgbClr val="FFFFFF"/>
                </a:solidFill>
                <a:latin typeface="Malgun Gothic"/>
                <a:ea typeface="Malgun Gothic"/>
                <a:cs typeface="Malgun Gothic"/>
              </a:defRPr>
            </a:pPr>
            <a:r>
              <a:rPr sz="3900" b="1">
                <a:solidFill>
                  <a:srgbClr val="FFFFFF"/>
                </a:solidFill>
                <a:latin typeface="Malgun Gothic"/>
                <a:ea typeface="Malgun Gothic"/>
                <a:cs typeface="Malgun Gothic"/>
              </a:rPr>
              <a:t>MailTaskAgent</a:t>
            </a:r>
          </a:p>
        </p:txBody>
      </p:sp>
      <p:sp>
        <p:nvSpPr>
          <p:cNvPr id="4" name="">
            <a:extLst xmlns:a="http://schemas.openxmlformats.org/drawingml/2006/main">
              <a:ext uri="{FF2B5EF4-FFF2-40B4-BE49-F238E27FC236}">
                <a16:creationId xmlns:a16="http://schemas.microsoft.com/office/drawing/2014/main" id="{CC62F5F2-7D0E-4A07-9DAE-97B4221725B4}"/>
              </a:ext>
            </a:extLst>
          </p:cNvPr>
          <p:cNvSpPr>
            <a:spLocks xmlns:a="http://schemas.openxmlformats.org/drawingml/2006/main" noGrp="1"/>
          </p:cNvSpPr>
          <p:nvPr/>
        </p:nvSpPr>
        <p:spPr>
          <a:xfrm xmlns:a="http://schemas.openxmlformats.org/drawingml/2006/main">
            <a:off x="685800" y="2381250"/>
            <a:ext cx="914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0">
                <a:solidFill>
                  <a:srgbClr val="D9E6F8"/>
                </a:solidFill>
                <a:latin typeface="Malgun Gothic"/>
                <a:ea typeface="Malgun Gothic"/>
                <a:cs typeface="Malgun Gothic"/>
              </a:defRPr>
            </a:pPr>
            <a:r>
              <a:rPr sz="2025" b="0">
                <a:solidFill>
                  <a:srgbClr val="D9E6F8"/>
                </a:solidFill>
                <a:latin typeface="Malgun Gothic"/>
                <a:ea typeface="Malgun Gothic"/>
                <a:cs typeface="Malgun Gothic"/>
              </a:rPr>
              <a:t>메일을 업무로 해석하고 다음 행동을 결정하는 개인 업무관리 Agent</a:t>
            </a:r>
          </a:p>
        </p:txBody>
      </p:sp>
      <p:sp>
        <p:nvSpPr>
          <p:cNvPr id="5" name="">
            <a:extLst xmlns:a="http://schemas.openxmlformats.org/drawingml/2006/main">
              <a:ext uri="{FF2B5EF4-FFF2-40B4-BE49-F238E27FC236}">
                <a16:creationId xmlns:a16="http://schemas.microsoft.com/office/drawing/2014/main" id="{85FA3E33-829C-4D9E-9AED-8382923C4EA2}"/>
              </a:ext>
            </a:extLst>
          </p:cNvPr>
          <p:cNvSpPr>
            <a:spLocks xmlns:a="http://schemas.openxmlformats.org/drawingml/2006/main" noGrp="1"/>
          </p:cNvSpPr>
          <p:nvPr/>
        </p:nvSpPr>
        <p:spPr>
          <a:xfrm xmlns:a="http://schemas.openxmlformats.org/drawingml/2006/main">
            <a:off x="685800" y="3714750"/>
            <a:ext cx="10477500" cy="19050"/>
          </a:xfrm>
          <a:prstGeom xmlns:a="http://schemas.openxmlformats.org/drawingml/2006/main" prst="rect">
            <a:avLst/>
          </a:prstGeom>
          <a:solidFill xmlns:a="http://schemas.openxmlformats.org/drawingml/2006/main">
            <a:srgbClr val="35506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BAD5F14-CE8C-49FC-934E-A61614A04ECA}"/>
              </a:ext>
            </a:extLst>
          </p:cNvPr>
          <p:cNvSpPr>
            <a:spLocks xmlns:a="http://schemas.openxmlformats.org/drawingml/2006/main" noGrp="1"/>
          </p:cNvSpPr>
          <p:nvPr/>
        </p:nvSpPr>
        <p:spPr>
          <a:xfrm xmlns:a="http://schemas.openxmlformats.org/drawingml/2006/main">
            <a:off x="685800" y="409575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백준현  |  09285</a:t>
            </a:r>
          </a:p>
        </p:txBody>
      </p:sp>
      <p:sp>
        <p:nvSpPr>
          <p:cNvPr id="7" name="">
            <a:extLst xmlns:a="http://schemas.openxmlformats.org/drawingml/2006/main">
              <a:ext uri="{FF2B5EF4-FFF2-40B4-BE49-F238E27FC236}">
                <a16:creationId xmlns:a16="http://schemas.microsoft.com/office/drawing/2014/main" id="{AF3402F0-3B94-4983-89CF-AF2C5E060BCD}"/>
              </a:ext>
            </a:extLst>
          </p:cNvPr>
          <p:cNvSpPr>
            <a:spLocks xmlns:a="http://schemas.openxmlformats.org/drawingml/2006/main" noGrp="1"/>
          </p:cNvSpPr>
          <p:nvPr/>
        </p:nvSpPr>
        <p:spPr>
          <a:xfrm xmlns:a="http://schemas.openxmlformats.org/drawingml/2006/main">
            <a:off x="685800" y="45148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B9C9DD"/>
                </a:solidFill>
                <a:latin typeface="Malgun Gothic"/>
                <a:ea typeface="Malgun Gothic"/>
                <a:cs typeface="Malgun Gothic"/>
              </a:defRPr>
            </a:pPr>
            <a:r>
              <a:rPr sz="1350" b="0">
                <a:solidFill>
                  <a:srgbClr val="B9C9DD"/>
                </a:solidFill>
                <a:latin typeface="Malgun Gothic"/>
                <a:ea typeface="Malgun Gothic"/>
                <a:cs typeface="Malgun Gothic"/>
              </a:rPr>
              <a:t>AI Master 7기  |  멘토 이유경</a:t>
            </a:r>
          </a:p>
        </p:txBody>
      </p:sp>
      <p:sp>
        <p:nvSpPr>
          <p:cNvPr id="8" name="">
            <a:extLst xmlns:a="http://schemas.openxmlformats.org/drawingml/2006/main">
              <a:ext uri="{FF2B5EF4-FFF2-40B4-BE49-F238E27FC236}">
                <a16:creationId xmlns:a16="http://schemas.microsoft.com/office/drawing/2014/main" id="{FE73329F-B8E4-4960-8209-C11BAFE99C3C}"/>
              </a:ext>
            </a:extLst>
          </p:cNvPr>
          <p:cNvSpPr>
            <a:spLocks xmlns:a="http://schemas.openxmlformats.org/drawingml/2006/main" noGrp="1"/>
          </p:cNvSpPr>
          <p:nvPr/>
        </p:nvSpPr>
        <p:spPr>
          <a:xfrm xmlns:a="http://schemas.openxmlformats.org/drawingml/2006/main">
            <a:off x="685800" y="58102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20B8C7"/>
                </a:solidFill>
                <a:latin typeface="Malgun Gothic"/>
                <a:ea typeface="Malgun Gothic"/>
                <a:cs typeface="Malgun Gothic"/>
              </a:defRPr>
            </a:pPr>
            <a:r>
              <a:rPr sz="1350" b="1">
                <a:solidFill>
                  <a:srgbClr val="20B8C7"/>
                </a:solidFill>
                <a:latin typeface="Malgun Gothic"/>
                <a:ea typeface="Malgun Gothic"/>
                <a:cs typeface="Malgun Gothic"/>
              </a:rPr>
              <a:t>최종 발표</a:t>
            </a:r>
          </a:p>
        </p:txBody>
      </p:sp>
    </p:spTree>
    <p:extLst>
      <p:ext uri="{BB962C8B-B14F-4D97-AF65-F5344CB8AC3E}">
        <p14:creationId xmlns:p14="http://schemas.microsoft.com/office/powerpoint/2010/main" val="156428944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C2096D2F-F404-4D37-8366-73DA4CB855EB}"/>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769E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ECA95C-9EB1-4964-B6C9-F066DF5BFA12}"/>
              </a:ext>
            </a:extLst>
          </p:cNvPr>
          <p:cNvSpPr>
            <a:spLocks xmlns:a="http://schemas.openxmlformats.org/drawingml/2006/main" noGrp="1"/>
          </p:cNvSpPr>
          <p:nvPr/>
        </p:nvSpPr>
        <p:spPr>
          <a:xfrm xmlns:a="http://schemas.openxmlformats.org/drawingml/2006/main">
            <a:off x="571500" y="4191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0243E"/>
                </a:solidFill>
                <a:latin typeface="Malgun Gothic"/>
                <a:ea typeface="Malgun Gothic"/>
                <a:cs typeface="Malgun Gothic"/>
              </a:defRPr>
            </a:pPr>
            <a:r>
              <a:rPr sz="2325" b="1">
                <a:solidFill>
                  <a:srgbClr val="10243E"/>
                </a:solidFill>
                <a:latin typeface="Malgun Gothic"/>
                <a:ea typeface="Malgun Gothic"/>
                <a:cs typeface="Malgun Gothic"/>
              </a:rPr>
              <a:t>프로젝트 개요</a:t>
            </a:r>
          </a:p>
        </p:txBody>
      </p:sp>
      <p:sp>
        <p:nvSpPr>
          <p:cNvPr id="3" name="">
            <a:extLst xmlns:a="http://schemas.openxmlformats.org/drawingml/2006/main">
              <a:ext uri="{FF2B5EF4-FFF2-40B4-BE49-F238E27FC236}">
                <a16:creationId xmlns:a16="http://schemas.microsoft.com/office/drawing/2014/main" id="{201390CD-9E25-4175-96D5-159E1C8D0398}"/>
              </a:ext>
            </a:extLst>
          </p:cNvPr>
          <p:cNvSpPr>
            <a:spLocks xmlns:a="http://schemas.openxmlformats.org/drawingml/2006/main" noGrp="1"/>
          </p:cNvSpPr>
          <p:nvPr/>
        </p:nvSpPr>
        <p:spPr>
          <a:xfrm xmlns:a="http://schemas.openxmlformats.org/drawingml/2006/main">
            <a:off x="571500" y="1028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E6E2DF3-1A4A-4BA5-8A7A-5B3D213E9CF9}"/>
              </a:ext>
            </a:extLst>
          </p:cNvPr>
          <p:cNvSpPr>
            <a:spLocks xmlns:a="http://schemas.openxmlformats.org/drawingml/2006/main" noGrp="1"/>
          </p:cNvSpPr>
          <p:nvPr/>
        </p:nvSpPr>
        <p:spPr>
          <a:xfrm xmlns:a="http://schemas.openxmlformats.org/drawingml/2006/main">
            <a:off x="11163300" y="6238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657187"/>
                </a:solidFill>
                <a:latin typeface="Malgun Gothic"/>
                <a:ea typeface="Malgun Gothic"/>
                <a:cs typeface="Malgun Gothic"/>
              </a:defRPr>
            </a:pPr>
            <a:r>
              <a:rPr sz="1050" b="1">
                <a:solidFill>
                  <a:srgbClr val="657187"/>
                </a:solidFill>
                <a:latin typeface="Malgun Gothic"/>
                <a:ea typeface="Malgun Gothic"/>
                <a:cs typeface="Malgun Gothic"/>
              </a:rPr>
              <a:t>02</a:t>
            </a:r>
          </a:p>
        </p:txBody>
      </p:sp>
      <p:sp>
        <p:nvSpPr>
          <p:cNvPr id="5" name="">
            <a:extLst xmlns:a="http://schemas.openxmlformats.org/drawingml/2006/main">
              <a:ext uri="{FF2B5EF4-FFF2-40B4-BE49-F238E27FC236}">
                <a16:creationId xmlns:a16="http://schemas.microsoft.com/office/drawing/2014/main" id="{A541B75C-0FC1-49CC-BFD4-C76CC11A047B}"/>
              </a:ext>
            </a:extLst>
          </p:cNvPr>
          <p:cNvSpPr>
            <a:spLocks xmlns:a="http://schemas.openxmlformats.org/drawingml/2006/main" noGrp="1"/>
          </p:cNvSpPr>
          <p:nvPr/>
        </p:nvSpPr>
        <p:spPr>
          <a:xfrm xmlns:a="http://schemas.openxmlformats.org/drawingml/2006/main">
            <a:off x="571500" y="1238250"/>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l">
              <a:defRPr sz="1800" b="1">
                <a:solidFill>
                  <a:srgbClr val="1769E0"/>
                </a:solidFill>
                <a:latin typeface="Malgun Gothic"/>
                <a:ea typeface="Malgun Gothic"/>
                <a:cs typeface="Malgun Gothic"/>
              </a:defRPr>
            </a:pPr>
            <a:r>
              <a:rPr sz="1800" b="1">
                <a:solidFill>
                  <a:srgbClr val="1769E0"/>
                </a:solidFill>
                <a:latin typeface="Malgun Gothic"/>
                <a:ea typeface="Malgun Gothic"/>
                <a:cs typeface="Malgun Gothic"/>
              </a:rPr>
              <a:t>메일함에서 놓치기 쉬운 요청을 Task Lifecycle로 관리</a:t>
            </a:r>
          </a:p>
        </p:txBody>
      </p:sp>
      <p:sp>
        <p:nvSpPr>
          <p:cNvPr id="6" name="">
            <a:extLst xmlns:a="http://schemas.openxmlformats.org/drawingml/2006/main">
              <a:ext uri="{FF2B5EF4-FFF2-40B4-BE49-F238E27FC236}">
                <a16:creationId xmlns:a16="http://schemas.microsoft.com/office/drawing/2014/main" id="{F00D8CCA-422A-4CCF-8CF8-3FC532534EBE}"/>
              </a:ext>
            </a:extLst>
          </p:cNvPr>
          <p:cNvSpPr>
            <a:spLocks xmlns:a="http://schemas.openxmlformats.org/drawingml/2006/main" noGrp="1"/>
          </p:cNvSpPr>
          <p:nvPr/>
        </p:nvSpPr>
        <p:spPr>
          <a:xfrm xmlns:a="http://schemas.openxmlformats.org/drawingml/2006/main">
            <a:off x="571500" y="16002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57187"/>
                </a:solidFill>
                <a:latin typeface="Malgun Gothic"/>
                <a:ea typeface="Malgun Gothic"/>
                <a:cs typeface="Malgun Gothic"/>
              </a:defRPr>
            </a:pPr>
            <a:r>
              <a:rPr sz="1350" b="0">
                <a:solidFill>
                  <a:srgbClr val="657187"/>
                </a:solidFill>
                <a:latin typeface="Malgun Gothic"/>
                <a:ea typeface="Malgun Gothic"/>
                <a:cs typeface="Malgun Gothic"/>
              </a:rPr>
              <a:t>수작업 전환 누락과 후속 메일 추적 부담을 줄이고, 위험한 변경은 사용자 승인 뒤 반영합니다.</a:t>
            </a:r>
          </a:p>
        </p:txBody>
      </p:sp>
      <p:sp>
        <p:nvSpPr>
          <p:cNvPr id="7" name="">
            <a:extLst xmlns:a="http://schemas.openxmlformats.org/drawingml/2006/main">
              <a:ext uri="{FF2B5EF4-FFF2-40B4-BE49-F238E27FC236}">
                <a16:creationId xmlns:a16="http://schemas.microsoft.com/office/drawing/2014/main" id="{31991806-D39E-4D08-9643-31AD1178100E}"/>
              </a:ext>
            </a:extLst>
          </p:cNvPr>
          <p:cNvSpPr>
            <a:spLocks xmlns:a="http://schemas.openxmlformats.org/drawingml/2006/main" noGrp="1"/>
          </p:cNvSpPr>
          <p:nvPr/>
        </p:nvSpPr>
        <p:spPr>
          <a:xfrm xmlns:a="http://schemas.openxmlformats.org/drawingml/2006/main">
            <a:off x="571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8" name="">
            <a:extLst xmlns:a="http://schemas.openxmlformats.org/drawingml/2006/main">
              <a:ext uri="{FF2B5EF4-FFF2-40B4-BE49-F238E27FC236}">
                <a16:creationId xmlns:a16="http://schemas.microsoft.com/office/drawing/2014/main" id="{077764FA-CF22-42C5-B553-00F0C27DB7BB}"/>
              </a:ext>
            </a:extLst>
          </p:cNvPr>
          <p:cNvSpPr>
            <a:spLocks xmlns:a="http://schemas.openxmlformats.org/drawingml/2006/main" noGrp="1"/>
          </p:cNvSpPr>
          <p:nvPr/>
        </p:nvSpPr>
        <p:spPr>
          <a:xfrm xmlns:a="http://schemas.openxmlformats.org/drawingml/2006/main">
            <a:off x="571500" y="2381250"/>
            <a:ext cx="76200" cy="1104900"/>
          </a:xfrm>
          <a:prstGeom xmlns:a="http://schemas.openxmlformats.org/drawingml/2006/main" prst="roundRect">
            <a:avLst>
              <a:gd name="adj" fmla="val 50000"/>
            </a:avLst>
          </a:prstGeom>
          <a:solidFill xmlns:a="http://schemas.openxmlformats.org/drawingml/2006/main">
            <a:srgbClr val="1769E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52C1E24-982D-4DB8-A423-4C7F6559142C}"/>
              </a:ext>
            </a:extLst>
          </p:cNvPr>
          <p:cNvSpPr>
            <a:spLocks xmlns:a="http://schemas.openxmlformats.org/drawingml/2006/main" noGrp="1"/>
          </p:cNvSpPr>
          <p:nvPr/>
        </p:nvSpPr>
        <p:spPr>
          <a:xfrm xmlns:a="http://schemas.openxmlformats.org/drawingml/2006/main">
            <a:off x="800100" y="2543175"/>
            <a:ext cx="1447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10243E"/>
                </a:solidFill>
                <a:latin typeface="Malgun Gothic"/>
                <a:ea typeface="Malgun Gothic"/>
                <a:cs typeface="Malgun Gothic"/>
              </a:defRPr>
            </a:pPr>
            <a:r>
              <a:rPr sz="1500" b="1">
                <a:solidFill>
                  <a:srgbClr val="10243E"/>
                </a:solidFill>
                <a:latin typeface="Malgun Gothic"/>
                <a:ea typeface="Malgun Gothic"/>
                <a:cs typeface="Malgun Gothic"/>
              </a:rPr>
              <a:t>메일 관찰</a:t>
            </a:r>
          </a:p>
        </p:txBody>
      </p:sp>
      <p:sp>
        <p:nvSpPr>
          <p:cNvPr id="10" name="">
            <a:extLst xmlns:a="http://schemas.openxmlformats.org/drawingml/2006/main">
              <a:ext uri="{FF2B5EF4-FFF2-40B4-BE49-F238E27FC236}">
                <a16:creationId xmlns:a16="http://schemas.microsoft.com/office/drawing/2014/main" id="{FD8234B0-205F-4B14-8675-BE771617ED59}"/>
              </a:ext>
            </a:extLst>
          </p:cNvPr>
          <p:cNvSpPr>
            <a:spLocks xmlns:a="http://schemas.openxmlformats.org/drawingml/2006/main" noGrp="1"/>
          </p:cNvSpPr>
          <p:nvPr/>
        </p:nvSpPr>
        <p:spPr>
          <a:xfrm xmlns:a="http://schemas.openxmlformats.org/drawingml/2006/main">
            <a:off x="800100" y="2867025"/>
            <a:ext cx="1447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57187"/>
                </a:solidFill>
                <a:latin typeface="Malgun Gothic"/>
                <a:ea typeface="Malgun Gothic"/>
                <a:cs typeface="Malgun Gothic"/>
              </a:defRPr>
            </a:pPr>
            <a:r>
              <a:rPr sz="1125" b="0">
                <a:solidFill>
                  <a:srgbClr val="657187"/>
                </a:solidFill>
                <a:latin typeface="Malgun Gothic"/>
                <a:ea typeface="Malgun Gothic"/>
                <a:cs typeface="Malgun Gothic"/>
              </a:rPr>
              <a:t>Gmail 수신·발신</a:t>
            </a:r>
          </a:p>
          <a:p xmlns:a="http://schemas.openxmlformats.org/drawingml/2006/main">
            <a:pPr algn="l">
              <a:defRPr sz="1125" b="0">
                <a:solidFill>
                  <a:srgbClr val="657187"/>
                </a:solidFill>
                <a:latin typeface="Malgun Gothic"/>
                <a:ea typeface="Malgun Gothic"/>
                <a:cs typeface="Malgun Gothic"/>
              </a:defRPr>
            </a:pPr>
            <a:r>
              <a:rPr sz="1125" b="0">
                <a:solidFill>
                  <a:srgbClr val="657187"/>
                </a:solidFill>
                <a:latin typeface="Malgun Gothic"/>
                <a:ea typeface="Malgun Gothic"/>
                <a:cs typeface="Malgun Gothic"/>
              </a:rPr>
              <a:t>Thread와 참여자</a:t>
            </a:r>
          </a:p>
        </p:txBody>
      </p:sp>
      <p:sp>
        <p:nvSpPr>
          <p:cNvPr id="11" name="">
            <a:extLst xmlns:a="http://schemas.openxmlformats.org/drawingml/2006/main">
              <a:ext uri="{FF2B5EF4-FFF2-40B4-BE49-F238E27FC236}">
                <a16:creationId xmlns:a16="http://schemas.microsoft.com/office/drawing/2014/main" id="{6B0B2CCC-54C7-4DD4-97B5-BE8FA4F8C112}"/>
              </a:ext>
            </a:extLst>
          </p:cNvPr>
          <p:cNvSpPr>
            <a:spLocks xmlns:a="http://schemas.openxmlformats.org/drawingml/2006/main" noGrp="1"/>
          </p:cNvSpPr>
          <p:nvPr/>
        </p:nvSpPr>
        <p:spPr>
          <a:xfrm xmlns:a="http://schemas.openxmlformats.org/drawingml/2006/main">
            <a:off x="2457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F30768F-AF9E-4163-BB42-E9C036FF7EE9}"/>
              </a:ext>
            </a:extLst>
          </p:cNvPr>
          <p:cNvSpPr>
            <a:spLocks xmlns:a="http://schemas.openxmlformats.org/drawingml/2006/main" noGrp="1"/>
          </p:cNvSpPr>
          <p:nvPr/>
        </p:nvSpPr>
        <p:spPr>
          <a:xfrm xmlns:a="http://schemas.openxmlformats.org/drawingml/2006/main">
            <a:off x="2857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13" name="">
            <a:extLst xmlns:a="http://schemas.openxmlformats.org/drawingml/2006/main">
              <a:ext uri="{FF2B5EF4-FFF2-40B4-BE49-F238E27FC236}">
                <a16:creationId xmlns:a16="http://schemas.microsoft.com/office/drawing/2014/main" id="{F5B8C2A4-6BA3-4B7C-949D-342B03E86321}"/>
              </a:ext>
            </a:extLst>
          </p:cNvPr>
          <p:cNvSpPr>
            <a:spLocks xmlns:a="http://schemas.openxmlformats.org/drawingml/2006/main" noGrp="1"/>
          </p:cNvSpPr>
          <p:nvPr/>
        </p:nvSpPr>
        <p:spPr>
          <a:xfrm xmlns:a="http://schemas.openxmlformats.org/drawingml/2006/main">
            <a:off x="2857500" y="2381250"/>
            <a:ext cx="76200" cy="1104900"/>
          </a:xfrm>
          <a:prstGeom xmlns:a="http://schemas.openxmlformats.org/drawingml/2006/main" prst="roundRect">
            <a:avLst>
              <a:gd name="adj" fmla="val 50000"/>
            </a:avLst>
          </a:prstGeom>
          <a:solidFill xmlns:a="http://schemas.openxmlformats.org/drawingml/2006/main">
            <a:srgbClr val="20B8C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963C67D-E95D-45E3-9B63-0C6082CB216F}"/>
              </a:ext>
            </a:extLst>
          </p:cNvPr>
          <p:cNvSpPr>
            <a:spLocks xmlns:a="http://schemas.openxmlformats.org/drawingml/2006/main" noGrp="1"/>
          </p:cNvSpPr>
          <p:nvPr/>
        </p:nvSpPr>
        <p:spPr>
          <a:xfrm xmlns:a="http://schemas.openxmlformats.org/drawingml/2006/main">
            <a:off x="3086100" y="2543175"/>
            <a:ext cx="1447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10243E"/>
                </a:solidFill>
                <a:latin typeface="Malgun Gothic"/>
                <a:ea typeface="Malgun Gothic"/>
                <a:cs typeface="Malgun Gothic"/>
              </a:defRPr>
            </a:pPr>
            <a:r>
              <a:rPr sz="1500" b="1">
                <a:solidFill>
                  <a:srgbClr val="10243E"/>
                </a:solidFill>
                <a:latin typeface="Malgun Gothic"/>
                <a:ea typeface="Malgun Gothic"/>
                <a:cs typeface="Malgun Gothic"/>
              </a:rPr>
              <a:t>의미 분석</a:t>
            </a:r>
          </a:p>
        </p:txBody>
      </p:sp>
      <p:sp>
        <p:nvSpPr>
          <p:cNvPr id="15" name="">
            <a:extLst xmlns:a="http://schemas.openxmlformats.org/drawingml/2006/main">
              <a:ext uri="{FF2B5EF4-FFF2-40B4-BE49-F238E27FC236}">
                <a16:creationId xmlns:a16="http://schemas.microsoft.com/office/drawing/2014/main" id="{46C7206D-910C-4196-B2E7-0AB9118BD927}"/>
              </a:ext>
            </a:extLst>
          </p:cNvPr>
          <p:cNvSpPr>
            <a:spLocks xmlns:a="http://schemas.openxmlformats.org/drawingml/2006/main" noGrp="1"/>
          </p:cNvSpPr>
          <p:nvPr/>
        </p:nvSpPr>
        <p:spPr>
          <a:xfrm xmlns:a="http://schemas.openxmlformats.org/drawingml/2006/main">
            <a:off x="3086100" y="2867025"/>
            <a:ext cx="1447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57187"/>
                </a:solidFill>
                <a:latin typeface="Malgun Gothic"/>
                <a:ea typeface="Malgun Gothic"/>
                <a:cs typeface="Malgun Gothic"/>
              </a:defRPr>
            </a:pPr>
            <a:r>
              <a:rPr sz="1125" b="0">
                <a:solidFill>
                  <a:srgbClr val="657187"/>
                </a:solidFill>
                <a:latin typeface="Malgun Gothic"/>
                <a:ea typeface="Malgun Gothic"/>
                <a:cs typeface="Malgun Gothic"/>
              </a:rPr>
              <a:t>요청·기한·Intent</a:t>
            </a:r>
          </a:p>
          <a:p xmlns:a="http://schemas.openxmlformats.org/drawingml/2006/main">
            <a:pPr algn="l">
              <a:defRPr sz="1125" b="0">
                <a:solidFill>
                  <a:srgbClr val="657187"/>
                </a:solidFill>
                <a:latin typeface="Malgun Gothic"/>
                <a:ea typeface="Malgun Gothic"/>
                <a:cs typeface="Malgun Gothic"/>
              </a:defRPr>
            </a:pPr>
            <a:r>
              <a:rPr sz="1125" b="0">
                <a:solidFill>
                  <a:srgbClr val="657187"/>
                </a:solidFill>
                <a:latin typeface="Malgun Gothic"/>
                <a:ea typeface="Malgun Gothic"/>
                <a:cs typeface="Malgun Gothic"/>
              </a:rPr>
              <a:t>회사 LLM 구조화</a:t>
            </a:r>
          </a:p>
        </p:txBody>
      </p:sp>
      <p:sp>
        <p:nvSpPr>
          <p:cNvPr id="16" name="">
            <a:extLst xmlns:a="http://schemas.openxmlformats.org/drawingml/2006/main">
              <a:ext uri="{FF2B5EF4-FFF2-40B4-BE49-F238E27FC236}">
                <a16:creationId xmlns:a16="http://schemas.microsoft.com/office/drawing/2014/main" id="{48670380-66EA-44C5-A2FF-F0E3A99C18C2}"/>
              </a:ext>
            </a:extLst>
          </p:cNvPr>
          <p:cNvSpPr>
            <a:spLocks xmlns:a="http://schemas.openxmlformats.org/drawingml/2006/main" noGrp="1"/>
          </p:cNvSpPr>
          <p:nvPr/>
        </p:nvSpPr>
        <p:spPr>
          <a:xfrm xmlns:a="http://schemas.openxmlformats.org/drawingml/2006/main">
            <a:off x="4743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207648B-F033-40B9-83F2-8D075A511610}"/>
              </a:ext>
            </a:extLst>
          </p:cNvPr>
          <p:cNvSpPr>
            <a:spLocks xmlns:a="http://schemas.openxmlformats.org/drawingml/2006/main" noGrp="1"/>
          </p:cNvSpPr>
          <p:nvPr/>
        </p:nvSpPr>
        <p:spPr>
          <a:xfrm xmlns:a="http://schemas.openxmlformats.org/drawingml/2006/main">
            <a:off x="5143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18" name="">
            <a:extLst xmlns:a="http://schemas.openxmlformats.org/drawingml/2006/main">
              <a:ext uri="{FF2B5EF4-FFF2-40B4-BE49-F238E27FC236}">
                <a16:creationId xmlns:a16="http://schemas.microsoft.com/office/drawing/2014/main" id="{7E2CF6F7-14AA-4145-9AF5-27613523CB5F}"/>
              </a:ext>
            </a:extLst>
          </p:cNvPr>
          <p:cNvSpPr>
            <a:spLocks xmlns:a="http://schemas.openxmlformats.org/drawingml/2006/main" noGrp="1"/>
          </p:cNvSpPr>
          <p:nvPr/>
        </p:nvSpPr>
        <p:spPr>
          <a:xfrm xmlns:a="http://schemas.openxmlformats.org/drawingml/2006/main">
            <a:off x="5143500" y="2381250"/>
            <a:ext cx="76200" cy="1104900"/>
          </a:xfrm>
          <a:prstGeom xmlns:a="http://schemas.openxmlformats.org/drawingml/2006/main" prst="roundRect">
            <a:avLst>
              <a:gd name="adj" fmla="val 50000"/>
            </a:avLst>
          </a:prstGeom>
          <a:solidFill xmlns:a="http://schemas.openxmlformats.org/drawingml/2006/main">
            <a:srgbClr val="7657D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1C4DF09-AAE8-447B-A0BE-98AD2ED8B1C3}"/>
              </a:ext>
            </a:extLst>
          </p:cNvPr>
          <p:cNvSpPr>
            <a:spLocks xmlns:a="http://schemas.openxmlformats.org/drawingml/2006/main" noGrp="1"/>
          </p:cNvSpPr>
          <p:nvPr/>
        </p:nvSpPr>
        <p:spPr>
          <a:xfrm xmlns:a="http://schemas.openxmlformats.org/drawingml/2006/main">
            <a:off x="5372100" y="2543175"/>
            <a:ext cx="1447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10243E"/>
                </a:solidFill>
                <a:latin typeface="Malgun Gothic"/>
                <a:ea typeface="Malgun Gothic"/>
                <a:cs typeface="Malgun Gothic"/>
              </a:defRPr>
            </a:pPr>
            <a:r>
              <a:rPr sz="1500" b="1">
                <a:solidFill>
                  <a:srgbClr val="10243E"/>
                </a:solidFill>
                <a:latin typeface="Malgun Gothic"/>
                <a:ea typeface="Malgun Gothic"/>
                <a:cs typeface="Malgun Gothic"/>
              </a:rPr>
              <a:t>관계 판단</a:t>
            </a:r>
          </a:p>
        </p:txBody>
      </p:sp>
      <p:sp>
        <p:nvSpPr>
          <p:cNvPr id="20" name="">
            <a:extLst xmlns:a="http://schemas.openxmlformats.org/drawingml/2006/main">
              <a:ext uri="{FF2B5EF4-FFF2-40B4-BE49-F238E27FC236}">
                <a16:creationId xmlns:a16="http://schemas.microsoft.com/office/drawing/2014/main" id="{053A7535-9A3F-45D7-9CD9-598A48B08FC2}"/>
              </a:ext>
            </a:extLst>
          </p:cNvPr>
          <p:cNvSpPr>
            <a:spLocks xmlns:a="http://schemas.openxmlformats.org/drawingml/2006/main" noGrp="1"/>
          </p:cNvSpPr>
          <p:nvPr/>
        </p:nvSpPr>
        <p:spPr>
          <a:xfrm xmlns:a="http://schemas.openxmlformats.org/drawingml/2006/main">
            <a:off x="5372100" y="2867025"/>
            <a:ext cx="1447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57187"/>
                </a:solidFill>
                <a:latin typeface="Malgun Gothic"/>
                <a:ea typeface="Malgun Gothic"/>
                <a:cs typeface="Malgun Gothic"/>
              </a:defRPr>
            </a:pPr>
            <a:r>
              <a:rPr sz="1125" b="0">
                <a:solidFill>
                  <a:srgbClr val="657187"/>
                </a:solidFill>
                <a:latin typeface="Malgun Gothic"/>
                <a:ea typeface="Malgun Gothic"/>
                <a:cs typeface="Malgun Gothic"/>
              </a:rPr>
              <a:t>Task Context RAG</a:t>
            </a:r>
          </a:p>
          <a:p xmlns:a="http://schemas.openxmlformats.org/drawingml/2006/main">
            <a:pPr algn="l">
              <a:defRPr sz="1125" b="0">
                <a:solidFill>
                  <a:srgbClr val="657187"/>
                </a:solidFill>
                <a:latin typeface="Malgun Gothic"/>
                <a:ea typeface="Malgun Gothic"/>
                <a:cs typeface="Malgun Gothic"/>
              </a:defRPr>
            </a:pPr>
            <a:r>
              <a:rPr sz="1125" b="0">
                <a:solidFill>
                  <a:srgbClr val="657187"/>
                </a:solidFill>
                <a:latin typeface="Malgun Gothic"/>
                <a:ea typeface="Malgun Gothic"/>
                <a:cs typeface="Malgun Gothic"/>
              </a:rPr>
              <a:t>Action Proposal</a:t>
            </a:r>
          </a:p>
        </p:txBody>
      </p:sp>
      <p:sp>
        <p:nvSpPr>
          <p:cNvPr id="21" name="">
            <a:extLst xmlns:a="http://schemas.openxmlformats.org/drawingml/2006/main">
              <a:ext uri="{FF2B5EF4-FFF2-40B4-BE49-F238E27FC236}">
                <a16:creationId xmlns:a16="http://schemas.microsoft.com/office/drawing/2014/main" id="{D6F03F62-02A5-4C2C-A531-8ABBB0E25547}"/>
              </a:ext>
            </a:extLst>
          </p:cNvPr>
          <p:cNvSpPr>
            <a:spLocks xmlns:a="http://schemas.openxmlformats.org/drawingml/2006/main" noGrp="1"/>
          </p:cNvSpPr>
          <p:nvPr/>
        </p:nvSpPr>
        <p:spPr>
          <a:xfrm xmlns:a="http://schemas.openxmlformats.org/drawingml/2006/main">
            <a:off x="7029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6B8090E-FE79-4BAC-A6B7-07D442EB3B39}"/>
              </a:ext>
            </a:extLst>
          </p:cNvPr>
          <p:cNvSpPr>
            <a:spLocks xmlns:a="http://schemas.openxmlformats.org/drawingml/2006/main" noGrp="1"/>
          </p:cNvSpPr>
          <p:nvPr/>
        </p:nvSpPr>
        <p:spPr>
          <a:xfrm xmlns:a="http://schemas.openxmlformats.org/drawingml/2006/main">
            <a:off x="7429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23" name="">
            <a:extLst xmlns:a="http://schemas.openxmlformats.org/drawingml/2006/main">
              <a:ext uri="{FF2B5EF4-FFF2-40B4-BE49-F238E27FC236}">
                <a16:creationId xmlns:a16="http://schemas.microsoft.com/office/drawing/2014/main" id="{9B1CE60E-16AC-431D-956F-4A17B5EE63FB}"/>
              </a:ext>
            </a:extLst>
          </p:cNvPr>
          <p:cNvSpPr>
            <a:spLocks xmlns:a="http://schemas.openxmlformats.org/drawingml/2006/main" noGrp="1"/>
          </p:cNvSpPr>
          <p:nvPr/>
        </p:nvSpPr>
        <p:spPr>
          <a:xfrm xmlns:a="http://schemas.openxmlformats.org/drawingml/2006/main">
            <a:off x="7429500" y="2381250"/>
            <a:ext cx="76200" cy="1104900"/>
          </a:xfrm>
          <a:prstGeom xmlns:a="http://schemas.openxmlformats.org/drawingml/2006/main" prst="roundRect">
            <a:avLst>
              <a:gd name="adj" fmla="val 50000"/>
            </a:avLst>
          </a:prstGeom>
          <a:solidFill xmlns:a="http://schemas.openxmlformats.org/drawingml/2006/main">
            <a:srgbClr val="C77B0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A3E16A5-A243-4A5D-9474-32C64712CBB5}"/>
              </a:ext>
            </a:extLst>
          </p:cNvPr>
          <p:cNvSpPr>
            <a:spLocks xmlns:a="http://schemas.openxmlformats.org/drawingml/2006/main" noGrp="1"/>
          </p:cNvSpPr>
          <p:nvPr/>
        </p:nvSpPr>
        <p:spPr>
          <a:xfrm xmlns:a="http://schemas.openxmlformats.org/drawingml/2006/main">
            <a:off x="7658100" y="2543175"/>
            <a:ext cx="1447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10243E"/>
                </a:solidFill>
                <a:latin typeface="Malgun Gothic"/>
                <a:ea typeface="Malgun Gothic"/>
                <a:cs typeface="Malgun Gothic"/>
              </a:defRPr>
            </a:pPr>
            <a:r>
              <a:rPr sz="1500" b="1">
                <a:solidFill>
                  <a:srgbClr val="10243E"/>
                </a:solidFill>
                <a:latin typeface="Malgun Gothic"/>
                <a:ea typeface="Malgun Gothic"/>
                <a:cs typeface="Malgun Gothic"/>
              </a:rPr>
              <a:t>안전 실행</a:t>
            </a:r>
          </a:p>
        </p:txBody>
      </p:sp>
      <p:sp>
        <p:nvSpPr>
          <p:cNvPr id="25" name="">
            <a:extLst xmlns:a="http://schemas.openxmlformats.org/drawingml/2006/main">
              <a:ext uri="{FF2B5EF4-FFF2-40B4-BE49-F238E27FC236}">
                <a16:creationId xmlns:a16="http://schemas.microsoft.com/office/drawing/2014/main" id="{9691EBA7-75DE-4404-9BA5-D8A9769842E4}"/>
              </a:ext>
            </a:extLst>
          </p:cNvPr>
          <p:cNvSpPr>
            <a:spLocks xmlns:a="http://schemas.openxmlformats.org/drawingml/2006/main" noGrp="1"/>
          </p:cNvSpPr>
          <p:nvPr/>
        </p:nvSpPr>
        <p:spPr>
          <a:xfrm xmlns:a="http://schemas.openxmlformats.org/drawingml/2006/main">
            <a:off x="7658100" y="2867025"/>
            <a:ext cx="1447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57187"/>
                </a:solidFill>
                <a:latin typeface="Malgun Gothic"/>
                <a:ea typeface="Malgun Gothic"/>
                <a:cs typeface="Malgun Gothic"/>
              </a:defRPr>
            </a:pPr>
            <a:r>
              <a:rPr sz="1125" b="0">
                <a:solidFill>
                  <a:srgbClr val="657187"/>
                </a:solidFill>
                <a:latin typeface="Malgun Gothic"/>
                <a:ea typeface="Malgun Gothic"/>
                <a:cs typeface="Malgun Gothic"/>
              </a:rPr>
              <a:t>Python Guard</a:t>
            </a:r>
          </a:p>
          <a:p xmlns:a="http://schemas.openxmlformats.org/drawingml/2006/main">
            <a:pPr algn="l">
              <a:defRPr sz="1125" b="0">
                <a:solidFill>
                  <a:srgbClr val="657187"/>
                </a:solidFill>
                <a:latin typeface="Malgun Gothic"/>
                <a:ea typeface="Malgun Gothic"/>
                <a:cs typeface="Malgun Gothic"/>
              </a:defRPr>
            </a:pPr>
            <a:r>
              <a:rPr sz="1125" b="0">
                <a:solidFill>
                  <a:srgbClr val="657187"/>
                </a:solidFill>
                <a:latin typeface="Malgun Gothic"/>
                <a:ea typeface="Malgun Gothic"/>
                <a:cs typeface="Malgun Gothic"/>
              </a:rPr>
              <a:t>필요 시 회신·승인</a:t>
            </a:r>
          </a:p>
        </p:txBody>
      </p:sp>
      <p:sp>
        <p:nvSpPr>
          <p:cNvPr id="26" name="">
            <a:extLst xmlns:a="http://schemas.openxmlformats.org/drawingml/2006/main">
              <a:ext uri="{FF2B5EF4-FFF2-40B4-BE49-F238E27FC236}">
                <a16:creationId xmlns:a16="http://schemas.microsoft.com/office/drawing/2014/main" id="{B728FA17-DCBE-451F-9E8B-271C8F4931D4}"/>
              </a:ext>
            </a:extLst>
          </p:cNvPr>
          <p:cNvSpPr>
            <a:spLocks xmlns:a="http://schemas.openxmlformats.org/drawingml/2006/main" noGrp="1"/>
          </p:cNvSpPr>
          <p:nvPr/>
        </p:nvSpPr>
        <p:spPr>
          <a:xfrm xmlns:a="http://schemas.openxmlformats.org/drawingml/2006/main">
            <a:off x="9315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225C17E-6422-4865-A511-728A7FA5E121}"/>
              </a:ext>
            </a:extLst>
          </p:cNvPr>
          <p:cNvSpPr>
            <a:spLocks xmlns:a="http://schemas.openxmlformats.org/drawingml/2006/main" noGrp="1"/>
          </p:cNvSpPr>
          <p:nvPr/>
        </p:nvSpPr>
        <p:spPr>
          <a:xfrm xmlns:a="http://schemas.openxmlformats.org/drawingml/2006/main">
            <a:off x="9715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28" name="">
            <a:extLst xmlns:a="http://schemas.openxmlformats.org/drawingml/2006/main">
              <a:ext uri="{FF2B5EF4-FFF2-40B4-BE49-F238E27FC236}">
                <a16:creationId xmlns:a16="http://schemas.microsoft.com/office/drawing/2014/main" id="{0DD2C548-EB4C-4648-A98F-1359768A5403}"/>
              </a:ext>
            </a:extLst>
          </p:cNvPr>
          <p:cNvSpPr>
            <a:spLocks xmlns:a="http://schemas.openxmlformats.org/drawingml/2006/main" noGrp="1"/>
          </p:cNvSpPr>
          <p:nvPr/>
        </p:nvSpPr>
        <p:spPr>
          <a:xfrm xmlns:a="http://schemas.openxmlformats.org/drawingml/2006/main">
            <a:off x="9715500" y="2381250"/>
            <a:ext cx="76200" cy="1104900"/>
          </a:xfrm>
          <a:prstGeom xmlns:a="http://schemas.openxmlformats.org/drawingml/2006/main" prst="roundRect">
            <a:avLst>
              <a:gd name="adj" fmla="val 50000"/>
            </a:avLst>
          </a:prstGeom>
          <a:solidFill xmlns:a="http://schemas.openxmlformats.org/drawingml/2006/main">
            <a:srgbClr val="138A6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0F6C708-C1C3-40D8-A1EE-B9156B52419A}"/>
              </a:ext>
            </a:extLst>
          </p:cNvPr>
          <p:cNvSpPr>
            <a:spLocks xmlns:a="http://schemas.openxmlformats.org/drawingml/2006/main" noGrp="1"/>
          </p:cNvSpPr>
          <p:nvPr/>
        </p:nvSpPr>
        <p:spPr>
          <a:xfrm xmlns:a="http://schemas.openxmlformats.org/drawingml/2006/main">
            <a:off x="9944100" y="2543175"/>
            <a:ext cx="1447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10243E"/>
                </a:solidFill>
                <a:latin typeface="Malgun Gothic"/>
                <a:ea typeface="Malgun Gothic"/>
                <a:cs typeface="Malgun Gothic"/>
              </a:defRPr>
            </a:pPr>
            <a:r>
              <a:rPr sz="1500" b="1">
                <a:solidFill>
                  <a:srgbClr val="10243E"/>
                </a:solidFill>
                <a:latin typeface="Malgun Gothic"/>
                <a:ea typeface="Malgun Gothic"/>
                <a:cs typeface="Malgun Gothic"/>
              </a:rPr>
              <a:t>결과 기억</a:t>
            </a:r>
          </a:p>
        </p:txBody>
      </p:sp>
      <p:sp>
        <p:nvSpPr>
          <p:cNvPr id="30" name="">
            <a:extLst xmlns:a="http://schemas.openxmlformats.org/drawingml/2006/main">
              <a:ext uri="{FF2B5EF4-FFF2-40B4-BE49-F238E27FC236}">
                <a16:creationId xmlns:a16="http://schemas.microsoft.com/office/drawing/2014/main" id="{7A1E5CEC-5571-4C29-8685-B9572366FF74}"/>
              </a:ext>
            </a:extLst>
          </p:cNvPr>
          <p:cNvSpPr>
            <a:spLocks xmlns:a="http://schemas.openxmlformats.org/drawingml/2006/main" noGrp="1"/>
          </p:cNvSpPr>
          <p:nvPr/>
        </p:nvSpPr>
        <p:spPr>
          <a:xfrm xmlns:a="http://schemas.openxmlformats.org/drawingml/2006/main">
            <a:off x="9944100" y="2867025"/>
            <a:ext cx="1447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83"/>
          </a:bodyPr>
          <a:lstStyle xmlns:a="http://schemas.openxmlformats.org/drawingml/2006/main"/>
          <a:p xmlns:a="http://schemas.openxmlformats.org/drawingml/2006/main">
            <a:pPr algn="l">
              <a:defRPr sz="1125" b="0">
                <a:solidFill>
                  <a:srgbClr val="657187"/>
                </a:solidFill>
                <a:latin typeface="Malgun Gothic"/>
                <a:ea typeface="Malgun Gothic"/>
                <a:cs typeface="Malgun Gothic"/>
              </a:defRPr>
            </a:pPr>
            <a:r>
              <a:rPr sz="1125" b="0">
                <a:solidFill>
                  <a:srgbClr val="657187"/>
                </a:solidFill>
                <a:latin typeface="Malgun Gothic"/>
                <a:ea typeface="Malgun Gothic"/>
                <a:cs typeface="Malgun Gothic"/>
              </a:rPr>
              <a:t>Gmail 발송·후속 Mail</a:t>
            </a:r>
          </a:p>
          <a:p xmlns:a="http://schemas.openxmlformats.org/drawingml/2006/main">
            <a:pPr algn="l">
              <a:defRPr sz="1125" b="0">
                <a:solidFill>
                  <a:srgbClr val="657187"/>
                </a:solidFill>
                <a:latin typeface="Malgun Gothic"/>
                <a:ea typeface="Malgun Gothic"/>
                <a:cs typeface="Malgun Gothic"/>
              </a:defRPr>
            </a:pPr>
            <a:r>
              <a:rPr sz="1125" b="0">
                <a:solidFill>
                  <a:srgbClr val="657187"/>
                </a:solidFill>
                <a:latin typeface="Malgun Gothic"/>
                <a:ea typeface="Malgun Gothic"/>
                <a:cs typeface="Malgun Gothic"/>
              </a:rPr>
              <a:t>Task·History·Trace</a:t>
            </a:r>
          </a:p>
        </p:txBody>
      </p:sp>
      <p:sp>
        <p:nvSpPr>
          <p:cNvPr id="31" name="">
            <a:extLst xmlns:a="http://schemas.openxmlformats.org/drawingml/2006/main">
              <a:ext uri="{FF2B5EF4-FFF2-40B4-BE49-F238E27FC236}">
                <a16:creationId xmlns:a16="http://schemas.microsoft.com/office/drawing/2014/main" id="{BC1B44AC-7A59-4770-90B5-61C7A6573584}"/>
              </a:ext>
            </a:extLst>
          </p:cNvPr>
          <p:cNvSpPr>
            <a:spLocks xmlns:a="http://schemas.openxmlformats.org/drawingml/2006/main" noGrp="1"/>
          </p:cNvSpPr>
          <p:nvPr/>
        </p:nvSpPr>
        <p:spPr>
          <a:xfrm xmlns:a="http://schemas.openxmlformats.org/drawingml/2006/main">
            <a:off x="571500" y="385762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0243E"/>
                </a:solidFill>
                <a:latin typeface="Malgun Gothic"/>
                <a:ea typeface="Malgun Gothic"/>
                <a:cs typeface="Malgun Gothic"/>
              </a:defRPr>
            </a:pPr>
            <a:r>
              <a:rPr sz="1500" b="1">
                <a:solidFill>
                  <a:srgbClr val="10243E"/>
                </a:solidFill>
                <a:latin typeface="Malgun Gothic"/>
                <a:ea typeface="Malgun Gothic"/>
                <a:cs typeface="Malgun Gothic"/>
              </a:rPr>
              <a:t>핵심 기술</a:t>
            </a:r>
          </a:p>
        </p:txBody>
      </p:sp>
      <p:sp>
        <p:nvSpPr>
          <p:cNvPr id="32" name="">
            <a:extLst xmlns:a="http://schemas.openxmlformats.org/drawingml/2006/main">
              <a:ext uri="{FF2B5EF4-FFF2-40B4-BE49-F238E27FC236}">
                <a16:creationId xmlns:a16="http://schemas.microsoft.com/office/drawing/2014/main" id="{E06F06E2-8923-4A89-B0F4-1A43DA51B669}"/>
              </a:ext>
            </a:extLst>
          </p:cNvPr>
          <p:cNvSpPr>
            <a:spLocks xmlns:a="http://schemas.openxmlformats.org/drawingml/2006/main" noGrp="1"/>
          </p:cNvSpPr>
          <p:nvPr/>
        </p:nvSpPr>
        <p:spPr>
          <a:xfrm xmlns:a="http://schemas.openxmlformats.org/drawingml/2006/main">
            <a:off x="1952625" y="3857625"/>
            <a:ext cx="928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657187"/>
                </a:solidFill>
                <a:latin typeface="Malgun Gothic"/>
                <a:ea typeface="Malgun Gothic"/>
                <a:cs typeface="Malgun Gothic"/>
              </a:defRPr>
            </a:pPr>
            <a:r>
              <a:rPr sz="1200" b="1">
                <a:solidFill>
                  <a:srgbClr val="657187"/>
                </a:solidFill>
                <a:latin typeface="Malgun Gothic"/>
                <a:ea typeface="Malgun Gothic"/>
                <a:cs typeface="Malgun Gothic"/>
              </a:rPr>
              <a:t>회사 gpt-4.1-mini  ·  Python + Pydantic  ·  SQLite Task Context  ·  Gmail API  ·  Streamlit</a:t>
            </a:r>
          </a:p>
        </p:txBody>
      </p:sp>
      <p:sp>
        <p:nvSpPr>
          <p:cNvPr id="33" name="">
            <a:extLst xmlns:a="http://schemas.openxmlformats.org/drawingml/2006/main">
              <a:ext uri="{FF2B5EF4-FFF2-40B4-BE49-F238E27FC236}">
                <a16:creationId xmlns:a16="http://schemas.microsoft.com/office/drawing/2014/main" id="{C10A451F-7296-4D2B-A38E-C13448CCB705}"/>
              </a:ext>
            </a:extLst>
          </p:cNvPr>
          <p:cNvSpPr>
            <a:spLocks xmlns:a="http://schemas.openxmlformats.org/drawingml/2006/main" noGrp="1"/>
          </p:cNvSpPr>
          <p:nvPr/>
        </p:nvSpPr>
        <p:spPr>
          <a:xfrm xmlns:a="http://schemas.openxmlformats.org/drawingml/2006/main">
            <a:off x="571500" y="42957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10243E"/>
                </a:solidFill>
                <a:latin typeface="Malgun Gothic"/>
                <a:ea typeface="Malgun Gothic"/>
                <a:cs typeface="Malgun Gothic"/>
              </a:defRPr>
            </a:pPr>
            <a:r>
              <a:rPr sz="1575" b="1">
                <a:solidFill>
                  <a:srgbClr val="10243E"/>
                </a:solidFill>
                <a:latin typeface="Malgun Gothic"/>
                <a:ea typeface="Malgun Gothic"/>
                <a:cs typeface="Malgun Gothic"/>
              </a:rPr>
              <a:t>검증 결과</a:t>
            </a:r>
          </a:p>
        </p:txBody>
      </p:sp>
      <p:sp>
        <p:nvSpPr>
          <p:cNvPr id="34" name="">
            <a:extLst xmlns:a="http://schemas.openxmlformats.org/drawingml/2006/main">
              <a:ext uri="{FF2B5EF4-FFF2-40B4-BE49-F238E27FC236}">
                <a16:creationId xmlns:a16="http://schemas.microsoft.com/office/drawing/2014/main" id="{7EC6BAF6-27F3-4809-8502-13D47E7D8452}"/>
              </a:ext>
            </a:extLst>
          </p:cNvPr>
          <p:cNvSpPr>
            <a:spLocks xmlns:a="http://schemas.openxmlformats.org/drawingml/2006/main" noGrp="1"/>
          </p:cNvSpPr>
          <p:nvPr/>
        </p:nvSpPr>
        <p:spPr>
          <a:xfrm xmlns:a="http://schemas.openxmlformats.org/drawingml/2006/main">
            <a:off x="571500" y="46958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75"/>
          </a:bodyPr>
          <a:lstStyle xmlns:a="http://schemas.openxmlformats.org/drawingml/2006/main"/>
          <a:p xmlns:a="http://schemas.openxmlformats.org/drawingml/2006/main">
            <a:pPr algn="ctr">
              <a:defRPr sz="2400" b="1">
                <a:solidFill>
                  <a:srgbClr val="1769E0"/>
                </a:solidFill>
                <a:latin typeface="Malgun Gothic"/>
                <a:ea typeface="Malgun Gothic"/>
                <a:cs typeface="Malgun Gothic"/>
              </a:defRPr>
            </a:pPr>
            <a:r>
              <a:rPr sz="2400" b="1">
                <a:solidFill>
                  <a:srgbClr val="1769E0"/>
                </a:solidFill>
                <a:latin typeface="Malgun Gothic"/>
                <a:ea typeface="Malgun Gothic"/>
                <a:cs typeface="Malgun Gothic"/>
              </a:rPr>
              <a:t>28/28</a:t>
            </a:r>
          </a:p>
        </p:txBody>
      </p:sp>
      <p:sp>
        <p:nvSpPr>
          <p:cNvPr id="35" name="">
            <a:extLst xmlns:a="http://schemas.openxmlformats.org/drawingml/2006/main">
              <a:ext uri="{FF2B5EF4-FFF2-40B4-BE49-F238E27FC236}">
                <a16:creationId xmlns:a16="http://schemas.microsoft.com/office/drawing/2014/main" id="{8D335F00-06B5-404C-91DE-4FB5995E083D}"/>
              </a:ext>
            </a:extLst>
          </p:cNvPr>
          <p:cNvSpPr>
            <a:spLocks xmlns:a="http://schemas.openxmlformats.org/drawingml/2006/main" noGrp="1"/>
          </p:cNvSpPr>
          <p:nvPr/>
        </p:nvSpPr>
        <p:spPr>
          <a:xfrm xmlns:a="http://schemas.openxmlformats.org/drawingml/2006/main">
            <a:off x="571500" y="509587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556"/>
          </a:bodyPr>
          <a:lstStyle xmlns:a="http://schemas.openxmlformats.org/drawingml/2006/main"/>
          <a:p xmlns:a="http://schemas.openxmlformats.org/drawingml/2006/main">
            <a:pPr algn="ctr">
              <a:defRPr sz="1125" b="1">
                <a:solidFill>
                  <a:srgbClr val="657187"/>
                </a:solidFill>
                <a:latin typeface="Malgun Gothic"/>
                <a:ea typeface="Malgun Gothic"/>
                <a:cs typeface="Malgun Gothic"/>
              </a:defRPr>
            </a:pPr>
            <a:r>
              <a:rPr sz="1125" b="1">
                <a:solidFill>
                  <a:srgbClr val="657187"/>
                </a:solidFill>
                <a:latin typeface="Malgun Gothic"/>
                <a:ea typeface="Malgun Gothic"/>
                <a:cs typeface="Malgun Gothic"/>
              </a:rPr>
              <a:t>Action 단계</a:t>
            </a:r>
          </a:p>
        </p:txBody>
      </p:sp>
      <p:sp>
        <p:nvSpPr>
          <p:cNvPr id="36" name="">
            <a:extLst xmlns:a="http://schemas.openxmlformats.org/drawingml/2006/main">
              <a:ext uri="{FF2B5EF4-FFF2-40B4-BE49-F238E27FC236}">
                <a16:creationId xmlns:a16="http://schemas.microsoft.com/office/drawing/2014/main" id="{F1AD89C2-C05D-4CC2-A2C6-4946E1F8A2EE}"/>
              </a:ext>
            </a:extLst>
          </p:cNvPr>
          <p:cNvSpPr>
            <a:spLocks xmlns:a="http://schemas.openxmlformats.org/drawingml/2006/main" noGrp="1"/>
          </p:cNvSpPr>
          <p:nvPr/>
        </p:nvSpPr>
        <p:spPr>
          <a:xfrm xmlns:a="http://schemas.openxmlformats.org/drawingml/2006/main">
            <a:off x="3219450" y="46958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75"/>
          </a:bodyPr>
          <a:lstStyle xmlns:a="http://schemas.openxmlformats.org/drawingml/2006/main"/>
          <a:p xmlns:a="http://schemas.openxmlformats.org/drawingml/2006/main">
            <a:pPr algn="ctr">
              <a:defRPr sz="2400" b="1">
                <a:solidFill>
                  <a:srgbClr val="1769E0"/>
                </a:solidFill>
                <a:latin typeface="Malgun Gothic"/>
                <a:ea typeface="Malgun Gothic"/>
                <a:cs typeface="Malgun Gothic"/>
              </a:defRPr>
            </a:pPr>
            <a:r>
              <a:rPr sz="2400" b="1">
                <a:solidFill>
                  <a:srgbClr val="1769E0"/>
                </a:solidFill>
                <a:latin typeface="Malgun Gothic"/>
                <a:ea typeface="Malgun Gothic"/>
                <a:cs typeface="Malgun Gothic"/>
              </a:rPr>
              <a:t>3/3</a:t>
            </a:r>
          </a:p>
        </p:txBody>
      </p:sp>
      <p:sp>
        <p:nvSpPr>
          <p:cNvPr id="37" name="">
            <a:extLst xmlns:a="http://schemas.openxmlformats.org/drawingml/2006/main">
              <a:ext uri="{FF2B5EF4-FFF2-40B4-BE49-F238E27FC236}">
                <a16:creationId xmlns:a16="http://schemas.microsoft.com/office/drawing/2014/main" id="{2C7DE9F1-E307-4C87-BEB8-2841B1CFF4F3}"/>
              </a:ext>
            </a:extLst>
          </p:cNvPr>
          <p:cNvSpPr>
            <a:spLocks xmlns:a="http://schemas.openxmlformats.org/drawingml/2006/main" noGrp="1"/>
          </p:cNvSpPr>
          <p:nvPr/>
        </p:nvSpPr>
        <p:spPr>
          <a:xfrm xmlns:a="http://schemas.openxmlformats.org/drawingml/2006/main">
            <a:off x="3219450" y="509587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556"/>
          </a:bodyPr>
          <a:lstStyle xmlns:a="http://schemas.openxmlformats.org/drawingml/2006/main"/>
          <a:p xmlns:a="http://schemas.openxmlformats.org/drawingml/2006/main">
            <a:pPr algn="ctr">
              <a:defRPr sz="1125" b="1">
                <a:solidFill>
                  <a:srgbClr val="657187"/>
                </a:solidFill>
                <a:latin typeface="Malgun Gothic"/>
                <a:ea typeface="Malgun Gothic"/>
                <a:cs typeface="Malgun Gothic"/>
              </a:defRPr>
            </a:pPr>
            <a:r>
              <a:rPr sz="1125" b="1">
                <a:solidFill>
                  <a:srgbClr val="657187"/>
                </a:solidFill>
                <a:latin typeface="Malgun Gothic"/>
                <a:ea typeface="Malgun Gothic"/>
                <a:cs typeface="Malgun Gothic"/>
              </a:rPr>
              <a:t>Agent Context Live</a:t>
            </a:r>
          </a:p>
        </p:txBody>
      </p:sp>
      <p:sp>
        <p:nvSpPr>
          <p:cNvPr id="38" name="">
            <a:extLst xmlns:a="http://schemas.openxmlformats.org/drawingml/2006/main">
              <a:ext uri="{FF2B5EF4-FFF2-40B4-BE49-F238E27FC236}">
                <a16:creationId xmlns:a16="http://schemas.microsoft.com/office/drawing/2014/main" id="{9FE8B89C-6B74-48B8-9488-3AE748EA9604}"/>
              </a:ext>
            </a:extLst>
          </p:cNvPr>
          <p:cNvSpPr>
            <a:spLocks xmlns:a="http://schemas.openxmlformats.org/drawingml/2006/main" noGrp="1"/>
          </p:cNvSpPr>
          <p:nvPr/>
        </p:nvSpPr>
        <p:spPr>
          <a:xfrm xmlns:a="http://schemas.openxmlformats.org/drawingml/2006/main">
            <a:off x="5867400" y="46958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75"/>
          </a:bodyPr>
          <a:lstStyle xmlns:a="http://schemas.openxmlformats.org/drawingml/2006/main"/>
          <a:p xmlns:a="http://schemas.openxmlformats.org/drawingml/2006/main">
            <a:pPr algn="ctr">
              <a:defRPr sz="2400" b="1">
                <a:solidFill>
                  <a:srgbClr val="138A62"/>
                </a:solidFill>
                <a:latin typeface="Malgun Gothic"/>
                <a:ea typeface="Malgun Gothic"/>
                <a:cs typeface="Malgun Gothic"/>
              </a:defRPr>
            </a:pPr>
            <a:r>
              <a:rPr sz="2400" b="1">
                <a:solidFill>
                  <a:srgbClr val="138A62"/>
                </a:solidFill>
                <a:latin typeface="Malgun Gothic"/>
                <a:ea typeface="Malgun Gothic"/>
                <a:cs typeface="Malgun Gothic"/>
              </a:rPr>
              <a:t>20/20</a:t>
            </a:r>
          </a:p>
        </p:txBody>
      </p:sp>
      <p:sp>
        <p:nvSpPr>
          <p:cNvPr id="39" name="">
            <a:extLst xmlns:a="http://schemas.openxmlformats.org/drawingml/2006/main">
              <a:ext uri="{FF2B5EF4-FFF2-40B4-BE49-F238E27FC236}">
                <a16:creationId xmlns:a16="http://schemas.microsoft.com/office/drawing/2014/main" id="{20275ABF-159A-4AF8-8B0C-240B1077B4ED}"/>
              </a:ext>
            </a:extLst>
          </p:cNvPr>
          <p:cNvSpPr>
            <a:spLocks xmlns:a="http://schemas.openxmlformats.org/drawingml/2006/main" noGrp="1"/>
          </p:cNvSpPr>
          <p:nvPr/>
        </p:nvSpPr>
        <p:spPr>
          <a:xfrm xmlns:a="http://schemas.openxmlformats.org/drawingml/2006/main">
            <a:off x="5867400" y="509587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556"/>
          </a:bodyPr>
          <a:lstStyle xmlns:a="http://schemas.openxmlformats.org/drawingml/2006/main"/>
          <a:p xmlns:a="http://schemas.openxmlformats.org/drawingml/2006/main">
            <a:pPr algn="ctr">
              <a:defRPr sz="1125" b="1">
                <a:solidFill>
                  <a:srgbClr val="657187"/>
                </a:solidFill>
                <a:latin typeface="Malgun Gothic"/>
                <a:ea typeface="Malgun Gothic"/>
                <a:cs typeface="Malgun Gothic"/>
              </a:defRPr>
            </a:pPr>
            <a:r>
              <a:rPr sz="1125" b="1">
                <a:solidFill>
                  <a:srgbClr val="657187"/>
                </a:solidFill>
                <a:latin typeface="Malgun Gothic"/>
                <a:ea typeface="Malgun Gothic"/>
                <a:cs typeface="Malgun Gothic"/>
              </a:rPr>
              <a:t>Gmail 수용시험</a:t>
            </a:r>
          </a:p>
        </p:txBody>
      </p:sp>
      <p:sp>
        <p:nvSpPr>
          <p:cNvPr id="40" name="">
            <a:extLst xmlns:a="http://schemas.openxmlformats.org/drawingml/2006/main">
              <a:ext uri="{FF2B5EF4-FFF2-40B4-BE49-F238E27FC236}">
                <a16:creationId xmlns:a16="http://schemas.microsoft.com/office/drawing/2014/main" id="{400DCB73-B3B5-42A6-93F9-A7B59C7D663A}"/>
              </a:ext>
            </a:extLst>
          </p:cNvPr>
          <p:cNvSpPr>
            <a:spLocks xmlns:a="http://schemas.openxmlformats.org/drawingml/2006/main" noGrp="1"/>
          </p:cNvSpPr>
          <p:nvPr/>
        </p:nvSpPr>
        <p:spPr>
          <a:xfrm xmlns:a="http://schemas.openxmlformats.org/drawingml/2006/main">
            <a:off x="8572500" y="462915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18"/>
          </a:bodyPr>
          <a:lstStyle xmlns:a="http://schemas.openxmlformats.org/drawingml/2006/main"/>
          <a:p xmlns:a="http://schemas.openxmlformats.org/drawingml/2006/main">
            <a:pPr algn="r">
              <a:defRPr sz="1050" b="1">
                <a:solidFill>
                  <a:srgbClr val="10243E"/>
                </a:solidFill>
                <a:latin typeface="Malgun Gothic"/>
                <a:ea typeface="Malgun Gothic"/>
                <a:cs typeface="Malgun Gothic"/>
              </a:defRPr>
            </a:pPr>
            <a:r>
              <a:rPr sz="1050" b="1">
                <a:solidFill>
                  <a:srgbClr val="10243E"/>
                </a:solidFill>
                <a:latin typeface="Malgun Gothic"/>
                <a:ea typeface="Malgun Gothic"/>
                <a:cs typeface="Malgun Gothic"/>
              </a:rPr>
              <a:t>보조 검증  |  pytest 179 passed  ·  중복 재조회 35/35</a:t>
            </a:r>
          </a:p>
        </p:txBody>
      </p:sp>
      <p:sp>
        <p:nvSpPr>
          <p:cNvPr id="41" name="">
            <a:extLst xmlns:a="http://schemas.openxmlformats.org/drawingml/2006/main">
              <a:ext uri="{FF2B5EF4-FFF2-40B4-BE49-F238E27FC236}">
                <a16:creationId xmlns:a16="http://schemas.microsoft.com/office/drawing/2014/main" id="{C1E3F6A2-E740-4E80-A26B-55EF75F6F2B6}"/>
              </a:ext>
            </a:extLst>
          </p:cNvPr>
          <p:cNvSpPr>
            <a:spLocks xmlns:a="http://schemas.openxmlformats.org/drawingml/2006/main" noGrp="1"/>
          </p:cNvSpPr>
          <p:nvPr/>
        </p:nvSpPr>
        <p:spPr>
          <a:xfrm xmlns:a="http://schemas.openxmlformats.org/drawingml/2006/main">
            <a:off x="8572500" y="49149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524"/>
          </a:bodyPr>
          <a:lstStyle xmlns:a="http://schemas.openxmlformats.org/drawingml/2006/main"/>
          <a:p xmlns:a="http://schemas.openxmlformats.org/drawingml/2006/main">
            <a:pPr algn="r">
              <a:defRPr sz="1050" b="1">
                <a:solidFill>
                  <a:srgbClr val="138A62"/>
                </a:solidFill>
                <a:latin typeface="Malgun Gothic"/>
                <a:ea typeface="Malgun Gothic"/>
                <a:cs typeface="Malgun Gothic"/>
              </a:defRPr>
            </a:pPr>
            <a:r>
              <a:rPr sz="1050" b="1">
                <a:solidFill>
                  <a:srgbClr val="138A62"/>
                </a:solidFill>
                <a:latin typeface="Malgun Gothic"/>
                <a:ea typeface="Malgun Gothic"/>
                <a:cs typeface="Malgun Gothic"/>
              </a:rPr>
              <a:t>Reply Planning 3/3  ·  Draft 1/1</a:t>
            </a:r>
          </a:p>
          <a:p xmlns:a="http://schemas.openxmlformats.org/drawingml/2006/main">
            <a:pPr algn="r">
              <a:defRPr sz="1050" b="1">
                <a:solidFill>
                  <a:srgbClr val="138A62"/>
                </a:solidFill>
                <a:latin typeface="Malgun Gothic"/>
                <a:ea typeface="Malgun Gothic"/>
                <a:cs typeface="Malgun Gothic"/>
              </a:defRPr>
            </a:pPr>
            <a:r>
              <a:rPr sz="1050" b="1">
                <a:solidFill>
                  <a:srgbClr val="138A62"/>
                </a:solidFill>
                <a:latin typeface="Malgun Gothic"/>
                <a:ea typeface="Malgun Gothic"/>
                <a:cs typeface="Malgun Gothic"/>
              </a:rPr>
              <a:t>사용자 승인 실제 Gmail 발송 1건</a:t>
            </a:r>
          </a:p>
        </p:txBody>
      </p:sp>
      <p:sp>
        <p:nvSpPr>
          <p:cNvPr id="42" name="">
            <a:extLst xmlns:a="http://schemas.openxmlformats.org/drawingml/2006/main">
              <a:ext uri="{FF2B5EF4-FFF2-40B4-BE49-F238E27FC236}">
                <a16:creationId xmlns:a16="http://schemas.microsoft.com/office/drawing/2014/main" id="{F25336FA-DEA1-4F80-A73F-CA8B328BE30C}"/>
              </a:ext>
            </a:extLst>
          </p:cNvPr>
          <p:cNvSpPr>
            <a:spLocks xmlns:a="http://schemas.openxmlformats.org/drawingml/2006/main" noGrp="1"/>
          </p:cNvSpPr>
          <p:nvPr/>
        </p:nvSpPr>
        <p:spPr>
          <a:xfrm xmlns:a="http://schemas.openxmlformats.org/drawingml/2006/main">
            <a:off x="8572500" y="5314950"/>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57187"/>
                </a:solidFill>
                <a:latin typeface="Malgun Gothic"/>
                <a:ea typeface="Malgun Gothic"/>
                <a:cs typeface="Malgun Gothic"/>
              </a:defRPr>
            </a:pPr>
            <a:r>
              <a:rPr sz="900" b="0">
                <a:solidFill>
                  <a:srgbClr val="657187"/>
                </a:solidFill>
                <a:latin typeface="Malgun Gothic"/>
                <a:ea typeface="Malgun Gothic"/>
                <a:cs typeface="Malgun Gothic"/>
              </a:rPr>
              <a:t>사용자 체감 시간은 미측정입니다.</a:t>
            </a:r>
          </a:p>
        </p:txBody>
      </p:sp>
      <p:sp>
        <p:nvSpPr>
          <p:cNvPr id="43" name="">
            <a:extLst xmlns:a="http://schemas.openxmlformats.org/drawingml/2006/main">
              <a:ext uri="{FF2B5EF4-FFF2-40B4-BE49-F238E27FC236}">
                <a16:creationId xmlns:a16="http://schemas.microsoft.com/office/drawing/2014/main" id="{AAF5A1D1-94F9-4E93-9385-31E85616933E}"/>
              </a:ext>
            </a:extLst>
          </p:cNvPr>
          <p:cNvSpPr>
            <a:spLocks xmlns:a="http://schemas.openxmlformats.org/drawingml/2006/main" noGrp="1"/>
          </p:cNvSpPr>
          <p:nvPr/>
        </p:nvSpPr>
        <p:spPr>
          <a:xfrm xmlns:a="http://schemas.openxmlformats.org/drawingml/2006/main">
            <a:off x="571500" y="5562600"/>
            <a:ext cx="11049000" cy="457200"/>
          </a:xfrm>
          <a:prstGeom xmlns:a="http://schemas.openxmlformats.org/drawingml/2006/main" prst="roundRect">
            <a:avLst>
              <a:gd name="adj" fmla="val 16667"/>
            </a:avLst>
          </a:prstGeom>
          <a:solidFill xmlns:a="http://schemas.openxmlformats.org/drawingml/2006/main">
            <a:srgbClr val="EFF5FD"/>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05A08259-9FD5-4685-BD5B-654291A16348}"/>
              </a:ext>
            </a:extLst>
          </p:cNvPr>
          <p:cNvSpPr>
            <a:spLocks xmlns:a="http://schemas.openxmlformats.org/drawingml/2006/main" noGrp="1"/>
          </p:cNvSpPr>
          <p:nvPr/>
        </p:nvSpPr>
        <p:spPr>
          <a:xfrm xmlns:a="http://schemas.openxmlformats.org/drawingml/2006/main">
            <a:off x="781050" y="56483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핵심 메시지  |  불확실한 업무 관계와 필요한 회신 방식은 Agent가 판단하고, Python과 사용자가 실행 위험을 통제합니다.</a:t>
            </a:r>
          </a:p>
        </p:txBody>
      </p:sp>
    </p:spTree>
    <p:extLst>
      <p:ext uri="{BB962C8B-B14F-4D97-AF65-F5344CB8AC3E}">
        <p14:creationId xmlns:p14="http://schemas.microsoft.com/office/powerpoint/2010/main" val="11031028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3752D432-E62A-40A4-B878-7B1F6340AF00}"/>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769E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3D3150-CCF2-434A-868A-7F7CAF44DC9F}"/>
              </a:ext>
            </a:extLst>
          </p:cNvPr>
          <p:cNvSpPr>
            <a:spLocks xmlns:a="http://schemas.openxmlformats.org/drawingml/2006/main" noGrp="1"/>
          </p:cNvSpPr>
          <p:nvPr/>
        </p:nvSpPr>
        <p:spPr>
          <a:xfrm xmlns:a="http://schemas.openxmlformats.org/drawingml/2006/main">
            <a:off x="571500" y="4191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0243E"/>
                </a:solidFill>
                <a:latin typeface="Malgun Gothic"/>
                <a:ea typeface="Malgun Gothic"/>
                <a:cs typeface="Malgun Gothic"/>
              </a:defRPr>
            </a:pPr>
            <a:r>
              <a:rPr sz="2325" b="1">
                <a:solidFill>
                  <a:srgbClr val="10243E"/>
                </a:solidFill>
                <a:latin typeface="Malgun Gothic"/>
                <a:ea typeface="Malgun Gothic"/>
                <a:cs typeface="Malgun Gothic"/>
              </a:rPr>
              <a:t>기술 아키텍처와 Agent 판단 구조</a:t>
            </a:r>
          </a:p>
        </p:txBody>
      </p:sp>
      <p:sp>
        <p:nvSpPr>
          <p:cNvPr id="3" name="">
            <a:extLst xmlns:a="http://schemas.openxmlformats.org/drawingml/2006/main">
              <a:ext uri="{FF2B5EF4-FFF2-40B4-BE49-F238E27FC236}">
                <a16:creationId xmlns:a16="http://schemas.microsoft.com/office/drawing/2014/main" id="{15F0EDC9-DD9A-48A2-B25F-E7D8294B5CF4}"/>
              </a:ext>
            </a:extLst>
          </p:cNvPr>
          <p:cNvSpPr>
            <a:spLocks xmlns:a="http://schemas.openxmlformats.org/drawingml/2006/main" noGrp="1"/>
          </p:cNvSpPr>
          <p:nvPr/>
        </p:nvSpPr>
        <p:spPr>
          <a:xfrm xmlns:a="http://schemas.openxmlformats.org/drawingml/2006/main">
            <a:off x="571500" y="1028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E859399-3BF0-4155-B5BA-CDB0183D30EB}"/>
              </a:ext>
            </a:extLst>
          </p:cNvPr>
          <p:cNvSpPr>
            <a:spLocks xmlns:a="http://schemas.openxmlformats.org/drawingml/2006/main" noGrp="1"/>
          </p:cNvSpPr>
          <p:nvPr/>
        </p:nvSpPr>
        <p:spPr>
          <a:xfrm xmlns:a="http://schemas.openxmlformats.org/drawingml/2006/main">
            <a:off x="11163300" y="6238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657187"/>
                </a:solidFill>
                <a:latin typeface="Malgun Gothic"/>
                <a:ea typeface="Malgun Gothic"/>
                <a:cs typeface="Malgun Gothic"/>
              </a:defRPr>
            </a:pPr>
            <a:r>
              <a:rPr sz="1050" b="1">
                <a:solidFill>
                  <a:srgbClr val="657187"/>
                </a:solidFill>
                <a:latin typeface="Malgun Gothic"/>
                <a:ea typeface="Malgun Gothic"/>
                <a:cs typeface="Malgun Gothic"/>
              </a:rPr>
              <a:t>03</a:t>
            </a:r>
          </a:p>
        </p:txBody>
      </p:sp>
      <p:sp>
        <p:nvSpPr>
          <p:cNvPr id="5" name="">
            <a:extLst xmlns:a="http://schemas.openxmlformats.org/drawingml/2006/main">
              <a:ext uri="{FF2B5EF4-FFF2-40B4-BE49-F238E27FC236}">
                <a16:creationId xmlns:a16="http://schemas.microsoft.com/office/drawing/2014/main" id="{C401FFA7-8CF2-4550-8B1E-9A67261309A8}"/>
              </a:ext>
            </a:extLst>
          </p:cNvPr>
          <p:cNvSpPr>
            <a:spLocks xmlns:a="http://schemas.openxmlformats.org/drawingml/2006/main" noGrp="1"/>
          </p:cNvSpPr>
          <p:nvPr/>
        </p:nvSpPr>
        <p:spPr>
          <a:xfrm xmlns:a="http://schemas.openxmlformats.org/drawingml/2006/main">
            <a:off x="571500" y="120015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1769E0"/>
                </a:solidFill>
                <a:latin typeface="Malgun Gothic"/>
                <a:ea typeface="Malgun Gothic"/>
                <a:cs typeface="Malgun Gothic"/>
              </a:defRPr>
            </a:pPr>
            <a:r>
              <a:rPr sz="1575" b="1">
                <a:solidFill>
                  <a:srgbClr val="1769E0"/>
                </a:solidFill>
                <a:latin typeface="Malgun Gothic"/>
                <a:ea typeface="Malgun Gothic"/>
                <a:cs typeface="Malgun Gothic"/>
              </a:rPr>
              <a:t>결정론적 경로와 Agent 판단 경로를 함께 사용하는 단일 Agent 구조</a:t>
            </a:r>
          </a:p>
        </p:txBody>
      </p:sp>
      <p:sp>
        <p:nvSpPr>
          <p:cNvPr id="6" name="">
            <a:extLst xmlns:a="http://schemas.openxmlformats.org/drawingml/2006/main">
              <a:ext uri="{FF2B5EF4-FFF2-40B4-BE49-F238E27FC236}">
                <a16:creationId xmlns:a16="http://schemas.microsoft.com/office/drawing/2014/main" id="{D20F9289-DBE4-4E21-A29A-45C9491CB343}"/>
              </a:ext>
            </a:extLst>
          </p:cNvPr>
          <p:cNvSpPr>
            <a:spLocks xmlns:a="http://schemas.openxmlformats.org/drawingml/2006/main" noGrp="1"/>
          </p:cNvSpPr>
          <p:nvPr/>
        </p:nvSpPr>
        <p:spPr>
          <a:xfrm xmlns:a="http://schemas.openxmlformats.org/drawingml/2006/main">
            <a:off x="57150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7" name="">
            <a:extLst xmlns:a="http://schemas.openxmlformats.org/drawingml/2006/main">
              <a:ext uri="{FF2B5EF4-FFF2-40B4-BE49-F238E27FC236}">
                <a16:creationId xmlns:a16="http://schemas.microsoft.com/office/drawing/2014/main" id="{16D37CC9-282A-4B26-A80D-EC770D0EC0E4}"/>
              </a:ext>
            </a:extLst>
          </p:cNvPr>
          <p:cNvSpPr>
            <a:spLocks xmlns:a="http://schemas.openxmlformats.org/drawingml/2006/main" noGrp="1"/>
          </p:cNvSpPr>
          <p:nvPr/>
        </p:nvSpPr>
        <p:spPr>
          <a:xfrm xmlns:a="http://schemas.openxmlformats.org/drawingml/2006/main">
            <a:off x="74295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B776C38-B381-4AC2-A524-95A6E2895ABE}"/>
              </a:ext>
            </a:extLst>
          </p:cNvPr>
          <p:cNvSpPr>
            <a:spLocks xmlns:a="http://schemas.openxmlformats.org/drawingml/2006/main" noGrp="1"/>
          </p:cNvSpPr>
          <p:nvPr/>
        </p:nvSpPr>
        <p:spPr>
          <a:xfrm xmlns:a="http://schemas.openxmlformats.org/drawingml/2006/main">
            <a:off x="78105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M-01</a:t>
            </a:r>
          </a:p>
        </p:txBody>
      </p:sp>
      <p:sp>
        <p:nvSpPr>
          <p:cNvPr id="9" name="">
            <a:extLst xmlns:a="http://schemas.openxmlformats.org/drawingml/2006/main">
              <a:ext uri="{FF2B5EF4-FFF2-40B4-BE49-F238E27FC236}">
                <a16:creationId xmlns:a16="http://schemas.microsoft.com/office/drawing/2014/main" id="{7778F9A3-162A-45CC-842C-15F822859CD0}"/>
              </a:ext>
            </a:extLst>
          </p:cNvPr>
          <p:cNvSpPr>
            <a:spLocks xmlns:a="http://schemas.openxmlformats.org/drawingml/2006/main" noGrp="1"/>
          </p:cNvSpPr>
          <p:nvPr/>
        </p:nvSpPr>
        <p:spPr>
          <a:xfrm xmlns:a="http://schemas.openxmlformats.org/drawingml/2006/main">
            <a:off x="742950" y="2343150"/>
            <a:ext cx="1181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10243E"/>
                </a:solidFill>
                <a:latin typeface="Malgun Gothic"/>
                <a:ea typeface="Malgun Gothic"/>
                <a:cs typeface="Malgun Gothic"/>
              </a:defRPr>
            </a:pPr>
            <a:r>
              <a:rPr sz="1350" b="1">
                <a:solidFill>
                  <a:srgbClr val="10243E"/>
                </a:solidFill>
                <a:latin typeface="Malgun Gothic"/>
                <a:ea typeface="Malgun Gothic"/>
                <a:cs typeface="Malgun Gothic"/>
              </a:rPr>
              <a:t>Mail Analyzer</a:t>
            </a:r>
          </a:p>
        </p:txBody>
      </p:sp>
      <p:sp>
        <p:nvSpPr>
          <p:cNvPr id="10" name="">
            <a:extLst xmlns:a="http://schemas.openxmlformats.org/drawingml/2006/main">
              <a:ext uri="{FF2B5EF4-FFF2-40B4-BE49-F238E27FC236}">
                <a16:creationId xmlns:a16="http://schemas.microsoft.com/office/drawing/2014/main" id="{3AE4C20D-4881-473A-A8AC-7A4BCF96523F}"/>
              </a:ext>
            </a:extLst>
          </p:cNvPr>
          <p:cNvSpPr>
            <a:spLocks xmlns:a="http://schemas.openxmlformats.org/drawingml/2006/main" noGrp="1"/>
          </p:cNvSpPr>
          <p:nvPr/>
        </p:nvSpPr>
        <p:spPr>
          <a:xfrm xmlns:a="http://schemas.openxmlformats.org/drawingml/2006/main">
            <a:off x="742950" y="2647950"/>
            <a:ext cx="1181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의미·Intent·기한</a:t>
            </a:r>
          </a:p>
        </p:txBody>
      </p:sp>
      <p:sp>
        <p:nvSpPr>
          <p:cNvPr id="11" name="">
            <a:extLst xmlns:a="http://schemas.openxmlformats.org/drawingml/2006/main">
              <a:ext uri="{FF2B5EF4-FFF2-40B4-BE49-F238E27FC236}">
                <a16:creationId xmlns:a16="http://schemas.microsoft.com/office/drawing/2014/main" id="{E831492E-996E-4D8B-8D45-A276E2D3599E}"/>
              </a:ext>
            </a:extLst>
          </p:cNvPr>
          <p:cNvSpPr>
            <a:spLocks xmlns:a="http://schemas.openxmlformats.org/drawingml/2006/main" noGrp="1"/>
          </p:cNvSpPr>
          <p:nvPr/>
        </p:nvSpPr>
        <p:spPr>
          <a:xfrm xmlns:a="http://schemas.openxmlformats.org/drawingml/2006/main">
            <a:off x="215265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268086F-50CF-4FDF-A04E-F34432398CD5}"/>
              </a:ext>
            </a:extLst>
          </p:cNvPr>
          <p:cNvSpPr>
            <a:spLocks xmlns:a="http://schemas.openxmlformats.org/drawingml/2006/main" noGrp="1"/>
          </p:cNvSpPr>
          <p:nvPr/>
        </p:nvSpPr>
        <p:spPr>
          <a:xfrm xmlns:a="http://schemas.openxmlformats.org/drawingml/2006/main">
            <a:off x="238125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13" name="">
            <a:extLst xmlns:a="http://schemas.openxmlformats.org/drawingml/2006/main">
              <a:ext uri="{FF2B5EF4-FFF2-40B4-BE49-F238E27FC236}">
                <a16:creationId xmlns:a16="http://schemas.microsoft.com/office/drawing/2014/main" id="{B2D57267-688E-4EEA-8178-4E608710220C}"/>
              </a:ext>
            </a:extLst>
          </p:cNvPr>
          <p:cNvSpPr>
            <a:spLocks xmlns:a="http://schemas.openxmlformats.org/drawingml/2006/main" noGrp="1"/>
          </p:cNvSpPr>
          <p:nvPr/>
        </p:nvSpPr>
        <p:spPr>
          <a:xfrm xmlns:a="http://schemas.openxmlformats.org/drawingml/2006/main">
            <a:off x="255270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AE9E32F-1279-43EB-8F43-EECF7FF3A003}"/>
              </a:ext>
            </a:extLst>
          </p:cNvPr>
          <p:cNvSpPr>
            <a:spLocks xmlns:a="http://schemas.openxmlformats.org/drawingml/2006/main" noGrp="1"/>
          </p:cNvSpPr>
          <p:nvPr/>
        </p:nvSpPr>
        <p:spPr>
          <a:xfrm xmlns:a="http://schemas.openxmlformats.org/drawingml/2006/main">
            <a:off x="259080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M-02</a:t>
            </a:r>
          </a:p>
        </p:txBody>
      </p:sp>
      <p:sp>
        <p:nvSpPr>
          <p:cNvPr id="15" name="">
            <a:extLst xmlns:a="http://schemas.openxmlformats.org/drawingml/2006/main">
              <a:ext uri="{FF2B5EF4-FFF2-40B4-BE49-F238E27FC236}">
                <a16:creationId xmlns:a16="http://schemas.microsoft.com/office/drawing/2014/main" id="{A75F5F9E-BBAB-4B21-A882-0E0B5E0AAEA3}"/>
              </a:ext>
            </a:extLst>
          </p:cNvPr>
          <p:cNvSpPr>
            <a:spLocks xmlns:a="http://schemas.openxmlformats.org/drawingml/2006/main" noGrp="1"/>
          </p:cNvSpPr>
          <p:nvPr/>
        </p:nvSpPr>
        <p:spPr>
          <a:xfrm xmlns:a="http://schemas.openxmlformats.org/drawingml/2006/main">
            <a:off x="2552700" y="2343150"/>
            <a:ext cx="1181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10243E"/>
                </a:solidFill>
                <a:latin typeface="Malgun Gothic"/>
                <a:ea typeface="Malgun Gothic"/>
                <a:cs typeface="Malgun Gothic"/>
              </a:defRPr>
            </a:pPr>
            <a:r>
              <a:rPr sz="1350" b="1">
                <a:solidFill>
                  <a:srgbClr val="10243E"/>
                </a:solidFill>
                <a:latin typeface="Malgun Gothic"/>
                <a:ea typeface="Malgun Gothic"/>
                <a:cs typeface="Malgun Gothic"/>
              </a:rPr>
              <a:t>Task Retriever</a:t>
            </a:r>
          </a:p>
        </p:txBody>
      </p:sp>
      <p:sp>
        <p:nvSpPr>
          <p:cNvPr id="16" name="">
            <a:extLst xmlns:a="http://schemas.openxmlformats.org/drawingml/2006/main">
              <a:ext uri="{FF2B5EF4-FFF2-40B4-BE49-F238E27FC236}">
                <a16:creationId xmlns:a16="http://schemas.microsoft.com/office/drawing/2014/main" id="{7325A5E5-AC75-4111-B5CA-19837898AA53}"/>
              </a:ext>
            </a:extLst>
          </p:cNvPr>
          <p:cNvSpPr>
            <a:spLocks xmlns:a="http://schemas.openxmlformats.org/drawingml/2006/main" noGrp="1"/>
          </p:cNvSpPr>
          <p:nvPr/>
        </p:nvSpPr>
        <p:spPr>
          <a:xfrm xmlns:a="http://schemas.openxmlformats.org/drawingml/2006/main">
            <a:off x="2552700" y="2647950"/>
            <a:ext cx="1181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339"/>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SQLite Context top-k</a:t>
            </a:r>
          </a:p>
        </p:txBody>
      </p:sp>
      <p:sp>
        <p:nvSpPr>
          <p:cNvPr id="17" name="">
            <a:extLst xmlns:a="http://schemas.openxmlformats.org/drawingml/2006/main">
              <a:ext uri="{FF2B5EF4-FFF2-40B4-BE49-F238E27FC236}">
                <a16:creationId xmlns:a16="http://schemas.microsoft.com/office/drawing/2014/main" id="{28308685-2323-4175-80ED-8FFC73A62A81}"/>
              </a:ext>
            </a:extLst>
          </p:cNvPr>
          <p:cNvSpPr>
            <a:spLocks xmlns:a="http://schemas.openxmlformats.org/drawingml/2006/main" noGrp="1"/>
          </p:cNvSpPr>
          <p:nvPr/>
        </p:nvSpPr>
        <p:spPr>
          <a:xfrm xmlns:a="http://schemas.openxmlformats.org/drawingml/2006/main">
            <a:off x="396240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11493FF-057B-4C3B-B047-E67CC36E76D3}"/>
              </a:ext>
            </a:extLst>
          </p:cNvPr>
          <p:cNvSpPr>
            <a:spLocks xmlns:a="http://schemas.openxmlformats.org/drawingml/2006/main" noGrp="1"/>
          </p:cNvSpPr>
          <p:nvPr/>
        </p:nvSpPr>
        <p:spPr>
          <a:xfrm xmlns:a="http://schemas.openxmlformats.org/drawingml/2006/main">
            <a:off x="4191000" y="1809750"/>
            <a:ext cx="1524000" cy="1257300"/>
          </a:xfrm>
          <a:prstGeom xmlns:a="http://schemas.openxmlformats.org/drawingml/2006/main" prst="roundRect">
            <a:avLst>
              <a:gd name="adj" fmla="val 6061"/>
            </a:avLst>
          </a:prstGeom>
          <a:solidFill xmlns:a="http://schemas.openxmlformats.org/drawingml/2006/main">
            <a:srgbClr val="F3EFFF"/>
          </a:solidFill>
          <a:ln xmlns:a="http://schemas.openxmlformats.org/drawingml/2006/main" w="9525">
            <a:solidFill>
              <a:srgbClr val="7657D6"/>
            </a:solidFill>
          </a:ln>
        </p:spPr>
      </p:sp>
      <p:sp>
        <p:nvSpPr>
          <p:cNvPr id="19" name="">
            <a:extLst xmlns:a="http://schemas.openxmlformats.org/drawingml/2006/main">
              <a:ext uri="{FF2B5EF4-FFF2-40B4-BE49-F238E27FC236}">
                <a16:creationId xmlns:a16="http://schemas.microsoft.com/office/drawing/2014/main" id="{859E6A83-C1C7-4099-A579-122CF7928A3B}"/>
              </a:ext>
            </a:extLst>
          </p:cNvPr>
          <p:cNvSpPr>
            <a:spLocks xmlns:a="http://schemas.openxmlformats.org/drawingml/2006/main" noGrp="1"/>
          </p:cNvSpPr>
          <p:nvPr/>
        </p:nvSpPr>
        <p:spPr>
          <a:xfrm xmlns:a="http://schemas.openxmlformats.org/drawingml/2006/main">
            <a:off x="4362450" y="1943100"/>
            <a:ext cx="857250" cy="323850"/>
          </a:xfrm>
          <a:prstGeom xmlns:a="http://schemas.openxmlformats.org/drawingml/2006/main" prst="roundRect">
            <a:avLst>
              <a:gd name="adj" fmla="val 23529"/>
            </a:avLst>
          </a:prstGeom>
          <a:solidFill xmlns:a="http://schemas.openxmlformats.org/drawingml/2006/main">
            <a:srgbClr val="EDE6F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3876BEE-C939-4E48-BB57-330D8B5FF02D}"/>
              </a:ext>
            </a:extLst>
          </p:cNvPr>
          <p:cNvSpPr>
            <a:spLocks xmlns:a="http://schemas.openxmlformats.org/drawingml/2006/main" noGrp="1"/>
          </p:cNvSpPr>
          <p:nvPr/>
        </p:nvSpPr>
        <p:spPr>
          <a:xfrm xmlns:a="http://schemas.openxmlformats.org/drawingml/2006/main">
            <a:off x="440055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7657D6"/>
                </a:solidFill>
                <a:latin typeface="Malgun Gothic"/>
                <a:ea typeface="Malgun Gothic"/>
                <a:cs typeface="Malgun Gothic"/>
              </a:defRPr>
            </a:pPr>
            <a:r>
              <a:rPr sz="1050" b="1">
                <a:solidFill>
                  <a:srgbClr val="7657D6"/>
                </a:solidFill>
                <a:latin typeface="Malgun Gothic"/>
                <a:ea typeface="Malgun Gothic"/>
                <a:cs typeface="Malgun Gothic"/>
              </a:rPr>
              <a:t>M-03</a:t>
            </a:r>
          </a:p>
        </p:txBody>
      </p:sp>
      <p:sp>
        <p:nvSpPr>
          <p:cNvPr id="21" name="">
            <a:extLst xmlns:a="http://schemas.openxmlformats.org/drawingml/2006/main">
              <a:ext uri="{FF2B5EF4-FFF2-40B4-BE49-F238E27FC236}">
                <a16:creationId xmlns:a16="http://schemas.microsoft.com/office/drawing/2014/main" id="{0BDD2E05-BAC5-4E7E-8849-A4B9915A8FFC}"/>
              </a:ext>
            </a:extLst>
          </p:cNvPr>
          <p:cNvSpPr>
            <a:spLocks xmlns:a="http://schemas.openxmlformats.org/drawingml/2006/main" noGrp="1"/>
          </p:cNvSpPr>
          <p:nvPr/>
        </p:nvSpPr>
        <p:spPr>
          <a:xfrm xmlns:a="http://schemas.openxmlformats.org/drawingml/2006/main">
            <a:off x="4362450" y="2343150"/>
            <a:ext cx="1181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547"/>
          </a:bodyPr>
          <a:lstStyle xmlns:a="http://schemas.openxmlformats.org/drawingml/2006/main"/>
          <a:p xmlns:a="http://schemas.openxmlformats.org/drawingml/2006/main">
            <a:pPr algn="l">
              <a:defRPr sz="1350" b="1">
                <a:solidFill>
                  <a:srgbClr val="10243E"/>
                </a:solidFill>
                <a:latin typeface="Malgun Gothic"/>
                <a:ea typeface="Malgun Gothic"/>
                <a:cs typeface="Malgun Gothic"/>
              </a:defRPr>
            </a:pPr>
            <a:r>
              <a:rPr sz="1350" b="1">
                <a:solidFill>
                  <a:srgbClr val="10243E"/>
                </a:solidFill>
                <a:latin typeface="Malgun Gothic"/>
                <a:ea typeface="Malgun Gothic"/>
                <a:cs typeface="Malgun Gothic"/>
              </a:rPr>
              <a:t>Context Agent</a:t>
            </a:r>
          </a:p>
        </p:txBody>
      </p:sp>
      <p:sp>
        <p:nvSpPr>
          <p:cNvPr id="22" name="">
            <a:extLst xmlns:a="http://schemas.openxmlformats.org/drawingml/2006/main">
              <a:ext uri="{FF2B5EF4-FFF2-40B4-BE49-F238E27FC236}">
                <a16:creationId xmlns:a16="http://schemas.microsoft.com/office/drawing/2014/main" id="{AAF78B8B-B77F-44FF-A3EB-A9EAD4534427}"/>
              </a:ext>
            </a:extLst>
          </p:cNvPr>
          <p:cNvSpPr>
            <a:spLocks xmlns:a="http://schemas.openxmlformats.org/drawingml/2006/main" noGrp="1"/>
          </p:cNvSpPr>
          <p:nvPr/>
        </p:nvSpPr>
        <p:spPr>
          <a:xfrm xmlns:a="http://schemas.openxmlformats.org/drawingml/2006/main">
            <a:off x="4362450" y="2647950"/>
            <a:ext cx="1181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관계·Action 제안</a:t>
            </a:r>
          </a:p>
        </p:txBody>
      </p:sp>
      <p:sp>
        <p:nvSpPr>
          <p:cNvPr id="23" name="">
            <a:extLst xmlns:a="http://schemas.openxmlformats.org/drawingml/2006/main">
              <a:ext uri="{FF2B5EF4-FFF2-40B4-BE49-F238E27FC236}">
                <a16:creationId xmlns:a16="http://schemas.microsoft.com/office/drawing/2014/main" id="{BAC42BC7-8797-431F-ACA9-7159B88C6DA3}"/>
              </a:ext>
            </a:extLst>
          </p:cNvPr>
          <p:cNvSpPr>
            <a:spLocks xmlns:a="http://schemas.openxmlformats.org/drawingml/2006/main" noGrp="1"/>
          </p:cNvSpPr>
          <p:nvPr/>
        </p:nvSpPr>
        <p:spPr>
          <a:xfrm xmlns:a="http://schemas.openxmlformats.org/drawingml/2006/main">
            <a:off x="577215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3DD8B25-51C5-4FBA-B1F0-9643719CB6C7}"/>
              </a:ext>
            </a:extLst>
          </p:cNvPr>
          <p:cNvSpPr>
            <a:spLocks xmlns:a="http://schemas.openxmlformats.org/drawingml/2006/main" noGrp="1"/>
          </p:cNvSpPr>
          <p:nvPr/>
        </p:nvSpPr>
        <p:spPr>
          <a:xfrm xmlns:a="http://schemas.openxmlformats.org/drawingml/2006/main">
            <a:off x="600075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25" name="">
            <a:extLst xmlns:a="http://schemas.openxmlformats.org/drawingml/2006/main">
              <a:ext uri="{FF2B5EF4-FFF2-40B4-BE49-F238E27FC236}">
                <a16:creationId xmlns:a16="http://schemas.microsoft.com/office/drawing/2014/main" id="{5E5605A2-0D96-4A54-8A27-038DFBEE744A}"/>
              </a:ext>
            </a:extLst>
          </p:cNvPr>
          <p:cNvSpPr>
            <a:spLocks xmlns:a="http://schemas.openxmlformats.org/drawingml/2006/main" noGrp="1"/>
          </p:cNvSpPr>
          <p:nvPr/>
        </p:nvSpPr>
        <p:spPr>
          <a:xfrm xmlns:a="http://schemas.openxmlformats.org/drawingml/2006/main">
            <a:off x="617220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8AE1BEF-60D2-49BF-B3C9-51203DC9E269}"/>
              </a:ext>
            </a:extLst>
          </p:cNvPr>
          <p:cNvSpPr>
            <a:spLocks xmlns:a="http://schemas.openxmlformats.org/drawingml/2006/main" noGrp="1"/>
          </p:cNvSpPr>
          <p:nvPr/>
        </p:nvSpPr>
        <p:spPr>
          <a:xfrm xmlns:a="http://schemas.openxmlformats.org/drawingml/2006/main">
            <a:off x="621030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Guard</a:t>
            </a:r>
          </a:p>
        </p:txBody>
      </p:sp>
      <p:sp>
        <p:nvSpPr>
          <p:cNvPr id="27" name="">
            <a:extLst xmlns:a="http://schemas.openxmlformats.org/drawingml/2006/main">
              <a:ext uri="{FF2B5EF4-FFF2-40B4-BE49-F238E27FC236}">
                <a16:creationId xmlns:a16="http://schemas.microsoft.com/office/drawing/2014/main" id="{CCA7D8B4-11A1-4CD6-8E57-A7DF962B94D7}"/>
              </a:ext>
            </a:extLst>
          </p:cNvPr>
          <p:cNvSpPr>
            <a:spLocks xmlns:a="http://schemas.openxmlformats.org/drawingml/2006/main" noGrp="1"/>
          </p:cNvSpPr>
          <p:nvPr/>
        </p:nvSpPr>
        <p:spPr>
          <a:xfrm xmlns:a="http://schemas.openxmlformats.org/drawingml/2006/main">
            <a:off x="6172200" y="2343150"/>
            <a:ext cx="1181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10243E"/>
                </a:solidFill>
                <a:latin typeface="Malgun Gothic"/>
                <a:ea typeface="Malgun Gothic"/>
                <a:cs typeface="Malgun Gothic"/>
              </a:defRPr>
            </a:pPr>
            <a:r>
              <a:rPr sz="1350" b="1">
                <a:solidFill>
                  <a:srgbClr val="10243E"/>
                </a:solidFill>
                <a:latin typeface="Malgun Gothic"/>
                <a:ea typeface="Malgun Gothic"/>
                <a:cs typeface="Malgun Gothic"/>
              </a:rPr>
              <a:t>Python Policy</a:t>
            </a:r>
          </a:p>
        </p:txBody>
      </p:sp>
      <p:sp>
        <p:nvSpPr>
          <p:cNvPr id="28" name="">
            <a:extLst xmlns:a="http://schemas.openxmlformats.org/drawingml/2006/main">
              <a:ext uri="{FF2B5EF4-FFF2-40B4-BE49-F238E27FC236}">
                <a16:creationId xmlns:a16="http://schemas.microsoft.com/office/drawing/2014/main" id="{0A6F9DB0-5540-49AD-B520-4382840B97AA}"/>
              </a:ext>
            </a:extLst>
          </p:cNvPr>
          <p:cNvSpPr>
            <a:spLocks xmlns:a="http://schemas.openxmlformats.org/drawingml/2006/main" noGrp="1"/>
          </p:cNvSpPr>
          <p:nvPr/>
        </p:nvSpPr>
        <p:spPr>
          <a:xfrm xmlns:a="http://schemas.openxmlformats.org/drawingml/2006/main">
            <a:off x="6172200" y="2647950"/>
            <a:ext cx="1181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646"/>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Payload·전이 검증</a:t>
            </a:r>
          </a:p>
        </p:txBody>
      </p:sp>
      <p:sp>
        <p:nvSpPr>
          <p:cNvPr id="29" name="">
            <a:extLst xmlns:a="http://schemas.openxmlformats.org/drawingml/2006/main">
              <a:ext uri="{FF2B5EF4-FFF2-40B4-BE49-F238E27FC236}">
                <a16:creationId xmlns:a16="http://schemas.microsoft.com/office/drawing/2014/main" id="{7F0DC953-10C5-4258-B651-7FD5519F4999}"/>
              </a:ext>
            </a:extLst>
          </p:cNvPr>
          <p:cNvSpPr>
            <a:spLocks xmlns:a="http://schemas.openxmlformats.org/drawingml/2006/main" noGrp="1"/>
          </p:cNvSpPr>
          <p:nvPr/>
        </p:nvSpPr>
        <p:spPr>
          <a:xfrm xmlns:a="http://schemas.openxmlformats.org/drawingml/2006/main">
            <a:off x="758190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998C52ED-72C5-4E91-A999-32D3806C17D1}"/>
              </a:ext>
            </a:extLst>
          </p:cNvPr>
          <p:cNvSpPr>
            <a:spLocks xmlns:a="http://schemas.openxmlformats.org/drawingml/2006/main" noGrp="1"/>
          </p:cNvSpPr>
          <p:nvPr/>
        </p:nvSpPr>
        <p:spPr>
          <a:xfrm xmlns:a="http://schemas.openxmlformats.org/drawingml/2006/main">
            <a:off x="781050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31" name="">
            <a:extLst xmlns:a="http://schemas.openxmlformats.org/drawingml/2006/main">
              <a:ext uri="{FF2B5EF4-FFF2-40B4-BE49-F238E27FC236}">
                <a16:creationId xmlns:a16="http://schemas.microsoft.com/office/drawing/2014/main" id="{6AEA5EFF-3F6D-43C4-9DEC-D618AFF37EC9}"/>
              </a:ext>
            </a:extLst>
          </p:cNvPr>
          <p:cNvSpPr>
            <a:spLocks xmlns:a="http://schemas.openxmlformats.org/drawingml/2006/main" noGrp="1"/>
          </p:cNvSpPr>
          <p:nvPr/>
        </p:nvSpPr>
        <p:spPr>
          <a:xfrm xmlns:a="http://schemas.openxmlformats.org/drawingml/2006/main">
            <a:off x="798195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2B96BF6-01AB-43A6-AED7-1128F8517F8B}"/>
              </a:ext>
            </a:extLst>
          </p:cNvPr>
          <p:cNvSpPr>
            <a:spLocks xmlns:a="http://schemas.openxmlformats.org/drawingml/2006/main" noGrp="1"/>
          </p:cNvSpPr>
          <p:nvPr/>
        </p:nvSpPr>
        <p:spPr>
          <a:xfrm xmlns:a="http://schemas.openxmlformats.org/drawingml/2006/main">
            <a:off x="802005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M-04</a:t>
            </a:r>
          </a:p>
        </p:txBody>
      </p:sp>
      <p:sp>
        <p:nvSpPr>
          <p:cNvPr id="33" name="">
            <a:extLst xmlns:a="http://schemas.openxmlformats.org/drawingml/2006/main">
              <a:ext uri="{FF2B5EF4-FFF2-40B4-BE49-F238E27FC236}">
                <a16:creationId xmlns:a16="http://schemas.microsoft.com/office/drawing/2014/main" id="{D7B9C0B5-3F1E-4460-80CA-CA1D916667D9}"/>
              </a:ext>
            </a:extLst>
          </p:cNvPr>
          <p:cNvSpPr>
            <a:spLocks xmlns:a="http://schemas.openxmlformats.org/drawingml/2006/main" noGrp="1"/>
          </p:cNvSpPr>
          <p:nvPr/>
        </p:nvSpPr>
        <p:spPr>
          <a:xfrm xmlns:a="http://schemas.openxmlformats.org/drawingml/2006/main">
            <a:off x="7981950" y="2343150"/>
            <a:ext cx="1181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10243E"/>
                </a:solidFill>
                <a:latin typeface="Malgun Gothic"/>
                <a:ea typeface="Malgun Gothic"/>
                <a:cs typeface="Malgun Gothic"/>
              </a:defRPr>
            </a:pPr>
            <a:r>
              <a:rPr sz="1350" b="1">
                <a:solidFill>
                  <a:srgbClr val="10243E"/>
                </a:solidFill>
                <a:latin typeface="Malgun Gothic"/>
                <a:ea typeface="Malgun Gothic"/>
                <a:cs typeface="Malgun Gothic"/>
              </a:rPr>
              <a:t>DB Tool</a:t>
            </a:r>
          </a:p>
        </p:txBody>
      </p:sp>
      <p:sp>
        <p:nvSpPr>
          <p:cNvPr id="34" name="">
            <a:extLst xmlns:a="http://schemas.openxmlformats.org/drawingml/2006/main">
              <a:ext uri="{FF2B5EF4-FFF2-40B4-BE49-F238E27FC236}">
                <a16:creationId xmlns:a16="http://schemas.microsoft.com/office/drawing/2014/main" id="{097E1479-F147-4F9F-B317-0FCEB6EE1B6D}"/>
              </a:ext>
            </a:extLst>
          </p:cNvPr>
          <p:cNvSpPr>
            <a:spLocks xmlns:a="http://schemas.openxmlformats.org/drawingml/2006/main" noGrp="1"/>
          </p:cNvSpPr>
          <p:nvPr/>
        </p:nvSpPr>
        <p:spPr>
          <a:xfrm xmlns:a="http://schemas.openxmlformats.org/drawingml/2006/main">
            <a:off x="7981950" y="2647950"/>
            <a:ext cx="1181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375"/>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저장·상태 재조회</a:t>
            </a:r>
          </a:p>
        </p:txBody>
      </p:sp>
      <p:sp>
        <p:nvSpPr>
          <p:cNvPr id="35" name="">
            <a:extLst xmlns:a="http://schemas.openxmlformats.org/drawingml/2006/main">
              <a:ext uri="{FF2B5EF4-FFF2-40B4-BE49-F238E27FC236}">
                <a16:creationId xmlns:a16="http://schemas.microsoft.com/office/drawing/2014/main" id="{95913269-915E-4EDB-85A3-005E231BD490}"/>
              </a:ext>
            </a:extLst>
          </p:cNvPr>
          <p:cNvSpPr>
            <a:spLocks xmlns:a="http://schemas.openxmlformats.org/drawingml/2006/main" noGrp="1"/>
          </p:cNvSpPr>
          <p:nvPr/>
        </p:nvSpPr>
        <p:spPr>
          <a:xfrm xmlns:a="http://schemas.openxmlformats.org/drawingml/2006/main">
            <a:off x="939165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949CA4AD-1B00-46ED-BE4F-149DD6CDDB31}"/>
              </a:ext>
            </a:extLst>
          </p:cNvPr>
          <p:cNvSpPr>
            <a:spLocks xmlns:a="http://schemas.openxmlformats.org/drawingml/2006/main" noGrp="1"/>
          </p:cNvSpPr>
          <p:nvPr/>
        </p:nvSpPr>
        <p:spPr>
          <a:xfrm xmlns:a="http://schemas.openxmlformats.org/drawingml/2006/main">
            <a:off x="962025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37" name="">
            <a:extLst xmlns:a="http://schemas.openxmlformats.org/drawingml/2006/main">
              <a:ext uri="{FF2B5EF4-FFF2-40B4-BE49-F238E27FC236}">
                <a16:creationId xmlns:a16="http://schemas.microsoft.com/office/drawing/2014/main" id="{3C12EAC3-5683-464B-8A05-4AA52A8F14EE}"/>
              </a:ext>
            </a:extLst>
          </p:cNvPr>
          <p:cNvSpPr>
            <a:spLocks xmlns:a="http://schemas.openxmlformats.org/drawingml/2006/main" noGrp="1"/>
          </p:cNvSpPr>
          <p:nvPr/>
        </p:nvSpPr>
        <p:spPr>
          <a:xfrm xmlns:a="http://schemas.openxmlformats.org/drawingml/2006/main">
            <a:off x="979170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5C105674-31E1-4A42-894C-245CFF6A6C8C}"/>
              </a:ext>
            </a:extLst>
          </p:cNvPr>
          <p:cNvSpPr>
            <a:spLocks xmlns:a="http://schemas.openxmlformats.org/drawingml/2006/main" noGrp="1"/>
          </p:cNvSpPr>
          <p:nvPr/>
        </p:nvSpPr>
        <p:spPr>
          <a:xfrm xmlns:a="http://schemas.openxmlformats.org/drawingml/2006/main">
            <a:off x="982980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M-05</a:t>
            </a:r>
          </a:p>
        </p:txBody>
      </p:sp>
      <p:sp>
        <p:nvSpPr>
          <p:cNvPr id="39" name="">
            <a:extLst xmlns:a="http://schemas.openxmlformats.org/drawingml/2006/main">
              <a:ext uri="{FF2B5EF4-FFF2-40B4-BE49-F238E27FC236}">
                <a16:creationId xmlns:a16="http://schemas.microsoft.com/office/drawing/2014/main" id="{08C8CCD3-AFA9-4228-A1B9-781B64CD3A44}"/>
              </a:ext>
            </a:extLst>
          </p:cNvPr>
          <p:cNvSpPr>
            <a:spLocks xmlns:a="http://schemas.openxmlformats.org/drawingml/2006/main" noGrp="1"/>
          </p:cNvSpPr>
          <p:nvPr/>
        </p:nvSpPr>
        <p:spPr>
          <a:xfrm xmlns:a="http://schemas.openxmlformats.org/drawingml/2006/main">
            <a:off x="9791700" y="2343150"/>
            <a:ext cx="1181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64"/>
          </a:bodyPr>
          <a:lstStyle xmlns:a="http://schemas.openxmlformats.org/drawingml/2006/main"/>
          <a:p xmlns:a="http://schemas.openxmlformats.org/drawingml/2006/main">
            <a:pPr algn="l">
              <a:defRPr sz="1350" b="1">
                <a:solidFill>
                  <a:srgbClr val="10243E"/>
                </a:solidFill>
                <a:latin typeface="Malgun Gothic"/>
                <a:ea typeface="Malgun Gothic"/>
                <a:cs typeface="Malgun Gothic"/>
              </a:defRPr>
            </a:pPr>
            <a:r>
              <a:rPr sz="1350" b="1">
                <a:solidFill>
                  <a:srgbClr val="10243E"/>
                </a:solidFill>
                <a:latin typeface="Malgun Gothic"/>
                <a:ea typeface="Malgun Gothic"/>
                <a:cs typeface="Malgun Gothic"/>
              </a:rPr>
              <a:t>Review &amp; Trace</a:t>
            </a:r>
          </a:p>
        </p:txBody>
      </p:sp>
      <p:sp>
        <p:nvSpPr>
          <p:cNvPr id="40" name="">
            <a:extLst xmlns:a="http://schemas.openxmlformats.org/drawingml/2006/main">
              <a:ext uri="{FF2B5EF4-FFF2-40B4-BE49-F238E27FC236}">
                <a16:creationId xmlns:a16="http://schemas.microsoft.com/office/drawing/2014/main" id="{05CA5F1F-B986-42B9-BEA6-B1E79557D228}"/>
              </a:ext>
            </a:extLst>
          </p:cNvPr>
          <p:cNvSpPr>
            <a:spLocks xmlns:a="http://schemas.openxmlformats.org/drawingml/2006/main" noGrp="1"/>
          </p:cNvSpPr>
          <p:nvPr/>
        </p:nvSpPr>
        <p:spPr>
          <a:xfrm xmlns:a="http://schemas.openxmlformats.org/drawingml/2006/main">
            <a:off x="9791700" y="2647950"/>
            <a:ext cx="1181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96"/>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사용자 확인·Dashboard</a:t>
            </a:r>
          </a:p>
        </p:txBody>
      </p:sp>
      <p:sp>
        <p:nvSpPr>
          <p:cNvPr id="41" name="">
            <a:extLst xmlns:a="http://schemas.openxmlformats.org/drawingml/2006/main">
              <a:ext uri="{FF2B5EF4-FFF2-40B4-BE49-F238E27FC236}">
                <a16:creationId xmlns:a16="http://schemas.microsoft.com/office/drawing/2014/main" id="{945FFE53-5B77-4854-B5BD-EE4FCF72EA37}"/>
              </a:ext>
            </a:extLst>
          </p:cNvPr>
          <p:cNvSpPr>
            <a:spLocks xmlns:a="http://schemas.openxmlformats.org/drawingml/2006/main" noGrp="1"/>
          </p:cNvSpPr>
          <p:nvPr/>
        </p:nvSpPr>
        <p:spPr>
          <a:xfrm xmlns:a="http://schemas.openxmlformats.org/drawingml/2006/main">
            <a:off x="571500" y="3257550"/>
            <a:ext cx="11049000" cy="838200"/>
          </a:xfrm>
          <a:prstGeom xmlns:a="http://schemas.openxmlformats.org/drawingml/2006/main" prst="roundRect">
            <a:avLst>
              <a:gd name="adj" fmla="val 9091"/>
            </a:avLst>
          </a:prstGeom>
          <a:solidFill xmlns:a="http://schemas.openxmlformats.org/drawingml/2006/main">
            <a:srgbClr val="EFF5FD"/>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BA6F91B4-B821-40A2-B81E-E7EC0A527894}"/>
              </a:ext>
            </a:extLst>
          </p:cNvPr>
          <p:cNvSpPr>
            <a:spLocks xmlns:a="http://schemas.openxmlformats.org/drawingml/2006/main" noGrp="1"/>
          </p:cNvSpPr>
          <p:nvPr/>
        </p:nvSpPr>
        <p:spPr>
          <a:xfrm xmlns:a="http://schemas.openxmlformats.org/drawingml/2006/main">
            <a:off x="781050" y="33337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Task 관계</a:t>
            </a:r>
          </a:p>
        </p:txBody>
      </p:sp>
      <p:sp>
        <p:nvSpPr>
          <p:cNvPr id="43" name="">
            <a:extLst xmlns:a="http://schemas.openxmlformats.org/drawingml/2006/main">
              <a:ext uri="{FF2B5EF4-FFF2-40B4-BE49-F238E27FC236}">
                <a16:creationId xmlns:a16="http://schemas.microsoft.com/office/drawing/2014/main" id="{B2D6863F-224E-4496-AB72-1B9685AEAEB8}"/>
              </a:ext>
            </a:extLst>
          </p:cNvPr>
          <p:cNvSpPr>
            <a:spLocks xmlns:a="http://schemas.openxmlformats.org/drawingml/2006/main" noGrp="1"/>
          </p:cNvSpPr>
          <p:nvPr/>
        </p:nvSpPr>
        <p:spPr>
          <a:xfrm xmlns:a="http://schemas.openxmlformats.org/drawingml/2006/main">
            <a:off x="1952625" y="33337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57187"/>
                </a:solidFill>
                <a:latin typeface="Malgun Gothic"/>
                <a:ea typeface="Malgun Gothic"/>
                <a:cs typeface="Malgun Gothic"/>
              </a:defRPr>
            </a:pPr>
            <a:r>
              <a:rPr sz="1125" b="0">
                <a:solidFill>
                  <a:srgbClr val="657187"/>
                </a:solidFill>
                <a:latin typeface="Malgun Gothic"/>
                <a:ea typeface="Malgun Gothic"/>
                <a:cs typeface="Malgun Gothic"/>
              </a:rPr>
              <a:t>동일 Thread는 Metadata 규칙</a:t>
            </a:r>
          </a:p>
        </p:txBody>
      </p:sp>
      <p:sp>
        <p:nvSpPr>
          <p:cNvPr id="44" name="">
            <a:extLst xmlns:a="http://schemas.openxmlformats.org/drawingml/2006/main">
              <a:ext uri="{FF2B5EF4-FFF2-40B4-BE49-F238E27FC236}">
                <a16:creationId xmlns:a16="http://schemas.microsoft.com/office/drawing/2014/main" id="{A0B86241-35B7-4FF7-A1B8-8368ACB94A71}"/>
              </a:ext>
            </a:extLst>
          </p:cNvPr>
          <p:cNvSpPr>
            <a:spLocks xmlns:a="http://schemas.openxmlformats.org/drawingml/2006/main" noGrp="1"/>
          </p:cNvSpPr>
          <p:nvPr/>
        </p:nvSpPr>
        <p:spPr>
          <a:xfrm xmlns:a="http://schemas.openxmlformats.org/drawingml/2006/main">
            <a:off x="4524375" y="333375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7657D6"/>
                </a:solidFill>
                <a:latin typeface="Malgun Gothic"/>
                <a:ea typeface="Malgun Gothic"/>
                <a:cs typeface="Malgun Gothic"/>
              </a:defRPr>
            </a:pPr>
            <a:r>
              <a:rPr sz="1125" b="1">
                <a:solidFill>
                  <a:srgbClr val="7657D6"/>
                </a:solidFill>
                <a:latin typeface="Malgun Gothic"/>
                <a:ea typeface="Malgun Gothic"/>
                <a:cs typeface="Malgun Gothic"/>
              </a:rPr>
              <a:t>다른 Thread·다른 표현은 RAG Context로 관계·대상·Action 제안</a:t>
            </a:r>
          </a:p>
        </p:txBody>
      </p:sp>
      <p:sp>
        <p:nvSpPr>
          <p:cNvPr id="45" name="">
            <a:extLst xmlns:a="http://schemas.openxmlformats.org/drawingml/2006/main">
              <a:ext uri="{FF2B5EF4-FFF2-40B4-BE49-F238E27FC236}">
                <a16:creationId xmlns:a16="http://schemas.microsoft.com/office/drawing/2014/main" id="{DA43D1D0-01B7-4D9B-9FEC-862BFCEF0E19}"/>
              </a:ext>
            </a:extLst>
          </p:cNvPr>
          <p:cNvSpPr>
            <a:spLocks xmlns:a="http://schemas.openxmlformats.org/drawingml/2006/main" noGrp="1"/>
          </p:cNvSpPr>
          <p:nvPr/>
        </p:nvSpPr>
        <p:spPr>
          <a:xfrm xmlns:a="http://schemas.openxmlformats.org/drawingml/2006/main">
            <a:off x="781050" y="37147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회신 실행</a:t>
            </a:r>
          </a:p>
        </p:txBody>
      </p:sp>
      <p:sp>
        <p:nvSpPr>
          <p:cNvPr id="46" name="">
            <a:extLst xmlns:a="http://schemas.openxmlformats.org/drawingml/2006/main">
              <a:ext uri="{FF2B5EF4-FFF2-40B4-BE49-F238E27FC236}">
                <a16:creationId xmlns:a16="http://schemas.microsoft.com/office/drawing/2014/main" id="{705C96CC-7900-446C-A77C-B79B10BA68A7}"/>
              </a:ext>
            </a:extLst>
          </p:cNvPr>
          <p:cNvSpPr>
            <a:spLocks xmlns:a="http://schemas.openxmlformats.org/drawingml/2006/main" noGrp="1"/>
          </p:cNvSpPr>
          <p:nvPr/>
        </p:nvSpPr>
        <p:spPr>
          <a:xfrm xmlns:a="http://schemas.openxmlformats.org/drawingml/2006/main">
            <a:off x="1952625" y="371475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38A62"/>
                </a:solidFill>
                <a:latin typeface="Malgun Gothic"/>
                <a:ea typeface="Malgun Gothic"/>
                <a:cs typeface="Malgun Gothic"/>
              </a:defRPr>
            </a:pPr>
            <a:r>
              <a:rPr sz="1125" b="1">
                <a:solidFill>
                  <a:srgbClr val="138A62"/>
                </a:solidFill>
                <a:latin typeface="Malgun Gothic"/>
                <a:ea typeface="Malgun Gothic"/>
                <a:cs typeface="Malgun Gothic"/>
              </a:rPr>
              <a:t>Reply Agent 판단  →  사용자 입력  →  LLM 초안  →  승인 Gmail 발송  →  WAITING_REPLY</a:t>
            </a:r>
          </a:p>
        </p:txBody>
      </p:sp>
      <p:sp>
        <p:nvSpPr>
          <p:cNvPr id="47" name="">
            <a:extLst xmlns:a="http://schemas.openxmlformats.org/drawingml/2006/main">
              <a:ext uri="{FF2B5EF4-FFF2-40B4-BE49-F238E27FC236}">
                <a16:creationId xmlns:a16="http://schemas.microsoft.com/office/drawing/2014/main" id="{04D8FA94-E26B-4F10-A0D8-EB36E71FEAAB}"/>
              </a:ext>
            </a:extLst>
          </p:cNvPr>
          <p:cNvSpPr>
            <a:spLocks xmlns:a="http://schemas.openxmlformats.org/drawingml/2006/main" noGrp="1"/>
          </p:cNvSpPr>
          <p:nvPr/>
        </p:nvSpPr>
        <p:spPr>
          <a:xfrm xmlns:a="http://schemas.openxmlformats.org/drawingml/2006/main">
            <a:off x="571500" y="4286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0243E"/>
                </a:solidFill>
                <a:latin typeface="Malgun Gothic"/>
                <a:ea typeface="Malgun Gothic"/>
                <a:cs typeface="Malgun Gothic"/>
              </a:defRPr>
            </a:pPr>
            <a:r>
              <a:rPr sz="1500" b="1">
                <a:solidFill>
                  <a:srgbClr val="10243E"/>
                </a:solidFill>
                <a:latin typeface="Malgun Gothic"/>
                <a:ea typeface="Malgun Gothic"/>
                <a:cs typeface="Malgun Gothic"/>
              </a:rPr>
              <a:t>기술 선택 이유</a:t>
            </a:r>
          </a:p>
        </p:txBody>
      </p:sp>
      <p:sp>
        <p:nvSpPr>
          <p:cNvPr id="48" name="">
            <a:extLst xmlns:a="http://schemas.openxmlformats.org/drawingml/2006/main">
              <a:ext uri="{FF2B5EF4-FFF2-40B4-BE49-F238E27FC236}">
                <a16:creationId xmlns:a16="http://schemas.microsoft.com/office/drawing/2014/main" id="{BE0A1A5A-03CC-4D63-A3D8-38B8D214CF53}"/>
              </a:ext>
            </a:extLst>
          </p:cNvPr>
          <p:cNvSpPr>
            <a:spLocks xmlns:a="http://schemas.openxmlformats.org/drawingml/2006/main" noGrp="1"/>
          </p:cNvSpPr>
          <p:nvPr/>
        </p:nvSpPr>
        <p:spPr>
          <a:xfrm xmlns:a="http://schemas.openxmlformats.org/drawingml/2006/main">
            <a:off x="571500" y="4629150"/>
            <a:ext cx="3314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defRPr sz="1275" b="1">
                <a:solidFill>
                  <a:srgbClr val="1769E0"/>
                </a:solidFill>
                <a:latin typeface="Malgun Gothic"/>
                <a:ea typeface="Malgun Gothic"/>
                <a:cs typeface="Malgun Gothic"/>
              </a:defRPr>
            </a:pPr>
            <a:r>
              <a:rPr sz="1275" b="1">
                <a:solidFill>
                  <a:srgbClr val="1769E0"/>
                </a:solidFill>
                <a:latin typeface="Malgun Gothic"/>
                <a:ea typeface="Malgun Gothic"/>
                <a:cs typeface="Malgun Gothic"/>
              </a:rPr>
              <a:t>gpt-4.1-mini</a:t>
            </a:r>
          </a:p>
        </p:txBody>
      </p:sp>
      <p:sp>
        <p:nvSpPr>
          <p:cNvPr id="49" name="">
            <a:extLst xmlns:a="http://schemas.openxmlformats.org/drawingml/2006/main">
              <a:ext uri="{FF2B5EF4-FFF2-40B4-BE49-F238E27FC236}">
                <a16:creationId xmlns:a16="http://schemas.microsoft.com/office/drawing/2014/main" id="{87CB1295-8017-41FD-BA33-9BCC316FAB9B}"/>
              </a:ext>
            </a:extLst>
          </p:cNvPr>
          <p:cNvSpPr>
            <a:spLocks xmlns:a="http://schemas.openxmlformats.org/drawingml/2006/main" noGrp="1"/>
          </p:cNvSpPr>
          <p:nvPr/>
        </p:nvSpPr>
        <p:spPr>
          <a:xfrm xmlns:a="http://schemas.openxmlformats.org/drawingml/2006/main">
            <a:off x="571500" y="4933950"/>
            <a:ext cx="331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메일 의미와 관계를 Pydantic Schema로 구조화</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모델 간 우월성 비교는 수행하지 않음</a:t>
            </a:r>
          </a:p>
        </p:txBody>
      </p:sp>
      <p:sp>
        <p:nvSpPr>
          <p:cNvPr id="50" name="">
            <a:extLst xmlns:a="http://schemas.openxmlformats.org/drawingml/2006/main">
              <a:ext uri="{FF2B5EF4-FFF2-40B4-BE49-F238E27FC236}">
                <a16:creationId xmlns:a16="http://schemas.microsoft.com/office/drawing/2014/main" id="{5D1206C2-9061-4DBC-8939-CBDCD283EA0D}"/>
              </a:ext>
            </a:extLst>
          </p:cNvPr>
          <p:cNvSpPr>
            <a:spLocks xmlns:a="http://schemas.openxmlformats.org/drawingml/2006/main" noGrp="1"/>
          </p:cNvSpPr>
          <p:nvPr/>
        </p:nvSpPr>
        <p:spPr>
          <a:xfrm xmlns:a="http://schemas.openxmlformats.org/drawingml/2006/main">
            <a:off x="4248150" y="4629150"/>
            <a:ext cx="3314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defRPr sz="1275" b="1">
                <a:solidFill>
                  <a:srgbClr val="7657D6"/>
                </a:solidFill>
                <a:latin typeface="Malgun Gothic"/>
                <a:ea typeface="Malgun Gothic"/>
                <a:cs typeface="Malgun Gothic"/>
              </a:defRPr>
            </a:pPr>
            <a:r>
              <a:rPr sz="1275" b="1">
                <a:solidFill>
                  <a:srgbClr val="7657D6"/>
                </a:solidFill>
                <a:latin typeface="Malgun Gothic"/>
                <a:ea typeface="Malgun Gothic"/>
                <a:cs typeface="Malgun Gothic"/>
              </a:rPr>
              <a:t>SQLite Task Context</a:t>
            </a:r>
          </a:p>
        </p:txBody>
      </p:sp>
      <p:sp>
        <p:nvSpPr>
          <p:cNvPr id="51" name="">
            <a:extLst xmlns:a="http://schemas.openxmlformats.org/drawingml/2006/main">
              <a:ext uri="{FF2B5EF4-FFF2-40B4-BE49-F238E27FC236}">
                <a16:creationId xmlns:a16="http://schemas.microsoft.com/office/drawing/2014/main" id="{A4C68966-9589-49DD-90F0-0EE67862850B}"/>
              </a:ext>
            </a:extLst>
          </p:cNvPr>
          <p:cNvSpPr>
            <a:spLocks xmlns:a="http://schemas.openxmlformats.org/drawingml/2006/main" noGrp="1"/>
          </p:cNvSpPr>
          <p:nvPr/>
        </p:nvSpPr>
        <p:spPr>
          <a:xfrm xmlns:a="http://schemas.openxmlformats.org/drawingml/2006/main">
            <a:off x="4248150" y="4933950"/>
            <a:ext cx="331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375"/>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개인 MVP의 활성 Task·최근 Mail·History만 제한 검색</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Vector DB와 외부 Embedding은 사용하지 않음</a:t>
            </a:r>
          </a:p>
        </p:txBody>
      </p:sp>
      <p:sp>
        <p:nvSpPr>
          <p:cNvPr id="52" name="">
            <a:extLst xmlns:a="http://schemas.openxmlformats.org/drawingml/2006/main">
              <a:ext uri="{FF2B5EF4-FFF2-40B4-BE49-F238E27FC236}">
                <a16:creationId xmlns:a16="http://schemas.microsoft.com/office/drawing/2014/main" id="{6CC079AC-456B-4FBA-95AC-138494547978}"/>
              </a:ext>
            </a:extLst>
          </p:cNvPr>
          <p:cNvSpPr>
            <a:spLocks xmlns:a="http://schemas.openxmlformats.org/drawingml/2006/main" noGrp="1"/>
          </p:cNvSpPr>
          <p:nvPr/>
        </p:nvSpPr>
        <p:spPr>
          <a:xfrm xmlns:a="http://schemas.openxmlformats.org/drawingml/2006/main">
            <a:off x="7924800" y="4629150"/>
            <a:ext cx="3314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defRPr sz="1275" b="1">
                <a:solidFill>
                  <a:srgbClr val="1769E0"/>
                </a:solidFill>
                <a:latin typeface="Malgun Gothic"/>
                <a:ea typeface="Malgun Gothic"/>
                <a:cs typeface="Malgun Gothic"/>
              </a:defRPr>
            </a:pPr>
            <a:r>
              <a:rPr sz="1275" b="1">
                <a:solidFill>
                  <a:srgbClr val="1769E0"/>
                </a:solidFill>
                <a:latin typeface="Malgun Gothic"/>
                <a:ea typeface="Malgun Gothic"/>
                <a:cs typeface="Malgun Gothic"/>
              </a:rPr>
              <a:t>Python + Pydantic Guard</a:t>
            </a:r>
          </a:p>
        </p:txBody>
      </p:sp>
      <p:sp>
        <p:nvSpPr>
          <p:cNvPr id="53" name="">
            <a:extLst xmlns:a="http://schemas.openxmlformats.org/drawingml/2006/main">
              <a:ext uri="{FF2B5EF4-FFF2-40B4-BE49-F238E27FC236}">
                <a16:creationId xmlns:a16="http://schemas.microsoft.com/office/drawing/2014/main" id="{446E9909-844B-483F-894C-BAB861630448}"/>
              </a:ext>
            </a:extLst>
          </p:cNvPr>
          <p:cNvSpPr>
            <a:spLocks xmlns:a="http://schemas.openxmlformats.org/drawingml/2006/main" noGrp="1"/>
          </p:cNvSpPr>
          <p:nvPr/>
        </p:nvSpPr>
        <p:spPr>
          <a:xfrm xmlns:a="http://schemas.openxmlformats.org/drawingml/2006/main">
            <a:off x="7924800" y="4933950"/>
            <a:ext cx="331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후보 ID·Intent·상태 전이·중요 변경을 검증</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LLM과 DB 실행 권한을 분리</a:t>
            </a:r>
          </a:p>
        </p:txBody>
      </p:sp>
      <p:sp>
        <p:nvSpPr>
          <p:cNvPr id="54" name="">
            <a:extLst xmlns:a="http://schemas.openxmlformats.org/drawingml/2006/main">
              <a:ext uri="{FF2B5EF4-FFF2-40B4-BE49-F238E27FC236}">
                <a16:creationId xmlns:a16="http://schemas.microsoft.com/office/drawing/2014/main" id="{C0C23343-69CB-4F33-B156-BCAC30ACDB2B}"/>
              </a:ext>
            </a:extLst>
          </p:cNvPr>
          <p:cNvSpPr>
            <a:spLocks xmlns:a="http://schemas.openxmlformats.org/drawingml/2006/main" noGrp="1"/>
          </p:cNvSpPr>
          <p:nvPr/>
        </p:nvSpPr>
        <p:spPr>
          <a:xfrm xmlns:a="http://schemas.openxmlformats.org/drawingml/2006/main">
            <a:off x="571500" y="5619750"/>
            <a:ext cx="11049000" cy="419100"/>
          </a:xfrm>
          <a:prstGeom xmlns:a="http://schemas.openxmlformats.org/drawingml/2006/main" prst="roundRect">
            <a:avLst>
              <a:gd name="adj" fmla="val 18182"/>
            </a:avLst>
          </a:prstGeom>
          <a:solidFill xmlns:a="http://schemas.openxmlformats.org/drawingml/2006/main">
            <a:srgbClr val="EEF9F5"/>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6E61DA6E-3F5E-4642-B7C3-8F289177DA82}"/>
              </a:ext>
            </a:extLst>
          </p:cNvPr>
          <p:cNvSpPr>
            <a:spLocks xmlns:a="http://schemas.openxmlformats.org/drawingml/2006/main" noGrp="1"/>
          </p:cNvSpPr>
          <p:nvPr/>
        </p:nvSpPr>
        <p:spPr>
          <a:xfrm xmlns:a="http://schemas.openxmlformats.org/drawingml/2006/main">
            <a:off x="781050" y="569595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25"/>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M-01은 모든 Mail 의미를 LLM으로 구조화하고, 관계·Action 선택은 STRUCTURED_RAG 경로에만 적용합니다.</a:t>
            </a:r>
          </a:p>
        </p:txBody>
      </p:sp>
    </p:spTree>
    <p:extLst>
      <p:ext uri="{BB962C8B-B14F-4D97-AF65-F5344CB8AC3E}">
        <p14:creationId xmlns:p14="http://schemas.microsoft.com/office/powerpoint/2010/main" val="20493388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4DC01C66-16E9-4795-AFBF-DAC64CDD36DC}"/>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769E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008EA6-2ADD-4FBD-8A13-C4ECD992098F}"/>
              </a:ext>
            </a:extLst>
          </p:cNvPr>
          <p:cNvSpPr>
            <a:spLocks xmlns:a="http://schemas.openxmlformats.org/drawingml/2006/main" noGrp="1"/>
          </p:cNvSpPr>
          <p:nvPr/>
        </p:nvSpPr>
        <p:spPr>
          <a:xfrm xmlns:a="http://schemas.openxmlformats.org/drawingml/2006/main">
            <a:off x="571500" y="4191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0243E"/>
                </a:solidFill>
                <a:latin typeface="Malgun Gothic"/>
                <a:ea typeface="Malgun Gothic"/>
                <a:cs typeface="Malgun Gothic"/>
              </a:defRPr>
            </a:pPr>
            <a:r>
              <a:rPr sz="2325" b="1">
                <a:solidFill>
                  <a:srgbClr val="10243E"/>
                </a:solidFill>
                <a:latin typeface="Malgun Gothic"/>
                <a:ea typeface="Malgun Gothic"/>
                <a:cs typeface="Malgun Gothic"/>
              </a:rPr>
              <a:t>핵심 기술 과제와 검증</a:t>
            </a:r>
          </a:p>
        </p:txBody>
      </p:sp>
      <p:sp>
        <p:nvSpPr>
          <p:cNvPr id="3" name="">
            <a:extLst xmlns:a="http://schemas.openxmlformats.org/drawingml/2006/main">
              <a:ext uri="{FF2B5EF4-FFF2-40B4-BE49-F238E27FC236}">
                <a16:creationId xmlns:a16="http://schemas.microsoft.com/office/drawing/2014/main" id="{E87120EE-129E-467E-87DD-89AD87FFFB59}"/>
              </a:ext>
            </a:extLst>
          </p:cNvPr>
          <p:cNvSpPr>
            <a:spLocks xmlns:a="http://schemas.openxmlformats.org/drawingml/2006/main" noGrp="1"/>
          </p:cNvSpPr>
          <p:nvPr/>
        </p:nvSpPr>
        <p:spPr>
          <a:xfrm xmlns:a="http://schemas.openxmlformats.org/drawingml/2006/main">
            <a:off x="571500" y="1028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DF7FAB7-FF12-41AD-8D00-C933B71FD508}"/>
              </a:ext>
            </a:extLst>
          </p:cNvPr>
          <p:cNvSpPr>
            <a:spLocks xmlns:a="http://schemas.openxmlformats.org/drawingml/2006/main" noGrp="1"/>
          </p:cNvSpPr>
          <p:nvPr/>
        </p:nvSpPr>
        <p:spPr>
          <a:xfrm xmlns:a="http://schemas.openxmlformats.org/drawingml/2006/main">
            <a:off x="11163300" y="6238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657187"/>
                </a:solidFill>
                <a:latin typeface="Malgun Gothic"/>
                <a:ea typeface="Malgun Gothic"/>
                <a:cs typeface="Malgun Gothic"/>
              </a:defRPr>
            </a:pPr>
            <a:r>
              <a:rPr sz="1050" b="1">
                <a:solidFill>
                  <a:srgbClr val="657187"/>
                </a:solidFill>
                <a:latin typeface="Malgun Gothic"/>
                <a:ea typeface="Malgun Gothic"/>
                <a:cs typeface="Malgun Gothic"/>
              </a:rPr>
              <a:t>04</a:t>
            </a:r>
          </a:p>
        </p:txBody>
      </p:sp>
      <p:sp>
        <p:nvSpPr>
          <p:cNvPr id="5" name="">
            <a:extLst xmlns:a="http://schemas.openxmlformats.org/drawingml/2006/main">
              <a:ext uri="{FF2B5EF4-FFF2-40B4-BE49-F238E27FC236}">
                <a16:creationId xmlns:a16="http://schemas.microsoft.com/office/drawing/2014/main" id="{F30A85CD-6D68-4F87-921B-E51AF6D36691}"/>
              </a:ext>
            </a:extLst>
          </p:cNvPr>
          <p:cNvSpPr>
            <a:spLocks xmlns:a="http://schemas.openxmlformats.org/drawingml/2006/main" noGrp="1"/>
          </p:cNvSpPr>
          <p:nvPr/>
        </p:nvSpPr>
        <p:spPr>
          <a:xfrm xmlns:a="http://schemas.openxmlformats.org/drawingml/2006/main">
            <a:off x="571500" y="12573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C73C34"/>
                </a:solidFill>
                <a:latin typeface="Malgun Gothic"/>
                <a:ea typeface="Malgun Gothic"/>
                <a:cs typeface="Malgun Gothic"/>
              </a:defRPr>
            </a:pPr>
            <a:r>
              <a:rPr sz="1575" b="1">
                <a:solidFill>
                  <a:srgbClr val="C73C34"/>
                </a:solidFill>
                <a:latin typeface="Malgun Gothic"/>
                <a:ea typeface="Malgun Gothic"/>
                <a:cs typeface="Malgun Gothic"/>
              </a:rPr>
              <a:t>왜 고정 Workflow만으로 부족했는가</a:t>
            </a:r>
          </a:p>
        </p:txBody>
      </p:sp>
      <p:sp>
        <p:nvSpPr>
          <p:cNvPr id="6" name="">
            <a:extLst xmlns:a="http://schemas.openxmlformats.org/drawingml/2006/main">
              <a:ext uri="{FF2B5EF4-FFF2-40B4-BE49-F238E27FC236}">
                <a16:creationId xmlns:a16="http://schemas.microsoft.com/office/drawing/2014/main" id="{9EBF2DEB-31B1-43BD-9D64-4CDB7112DD49}"/>
              </a:ext>
            </a:extLst>
          </p:cNvPr>
          <p:cNvSpPr>
            <a:spLocks xmlns:a="http://schemas.openxmlformats.org/drawingml/2006/main" noGrp="1"/>
          </p:cNvSpPr>
          <p:nvPr/>
        </p:nvSpPr>
        <p:spPr>
          <a:xfrm xmlns:a="http://schemas.openxmlformats.org/drawingml/2006/main">
            <a:off x="571500" y="160020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033"/>
                </a:solidFill>
                <a:latin typeface="Malgun Gothic"/>
                <a:ea typeface="Malgun Gothic"/>
                <a:cs typeface="Malgun Gothic"/>
              </a:defRPr>
            </a:pPr>
            <a:r>
              <a:rPr sz="1350" b="0">
                <a:solidFill>
                  <a:srgbClr val="172033"/>
                </a:solidFill>
                <a:latin typeface="Malgun Gothic"/>
                <a:ea typeface="Malgun Gothic"/>
                <a:cs typeface="Malgun Gothic"/>
              </a:rPr>
              <a:t>동일 업무도 Thread와 표현이 달라집니다. 제목 Token 규칙만으로는 기존 Task 연결과 신규 Task 생성을 구분하기 어렵습니다.</a:t>
            </a:r>
          </a:p>
        </p:txBody>
      </p:sp>
      <p:sp>
        <p:nvSpPr>
          <p:cNvPr id="7" name="">
            <a:extLst xmlns:a="http://schemas.openxmlformats.org/drawingml/2006/main">
              <a:ext uri="{FF2B5EF4-FFF2-40B4-BE49-F238E27FC236}">
                <a16:creationId xmlns:a16="http://schemas.microsoft.com/office/drawing/2014/main" id="{8A985CFA-6D0B-4587-9048-A2B2572165C9}"/>
              </a:ext>
            </a:extLst>
          </p:cNvPr>
          <p:cNvSpPr>
            <a:spLocks xmlns:a="http://schemas.openxmlformats.org/drawingml/2006/main" noGrp="1"/>
          </p:cNvSpPr>
          <p:nvPr/>
        </p:nvSpPr>
        <p:spPr>
          <a:xfrm xmlns:a="http://schemas.openxmlformats.org/drawingml/2006/main">
            <a:off x="571500" y="2171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C7ABF5E-3277-4681-8CA4-CF0F1EAC0C3C}"/>
              </a:ext>
            </a:extLst>
          </p:cNvPr>
          <p:cNvSpPr>
            <a:spLocks xmlns:a="http://schemas.openxmlformats.org/drawingml/2006/main" noGrp="1"/>
          </p:cNvSpPr>
          <p:nvPr/>
        </p:nvSpPr>
        <p:spPr>
          <a:xfrm xmlns:a="http://schemas.openxmlformats.org/drawingml/2006/main">
            <a:off x="571500" y="24003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0243E"/>
                </a:solidFill>
                <a:latin typeface="Malgun Gothic"/>
                <a:ea typeface="Malgun Gothic"/>
                <a:cs typeface="Malgun Gothic"/>
              </a:defRPr>
            </a:pPr>
            <a:r>
              <a:rPr sz="1500" b="1">
                <a:solidFill>
                  <a:srgbClr val="10243E"/>
                </a:solidFill>
                <a:latin typeface="Malgun Gothic"/>
                <a:ea typeface="Malgun Gothic"/>
                <a:cs typeface="Malgun Gothic"/>
              </a:rPr>
              <a:t>실제 Agent 판단 흐름</a:t>
            </a:r>
          </a:p>
        </p:txBody>
      </p:sp>
      <p:sp>
        <p:nvSpPr>
          <p:cNvPr id="9" name="">
            <a:extLst xmlns:a="http://schemas.openxmlformats.org/drawingml/2006/main">
              <a:ext uri="{FF2B5EF4-FFF2-40B4-BE49-F238E27FC236}">
                <a16:creationId xmlns:a16="http://schemas.microsoft.com/office/drawing/2014/main" id="{FECAC424-FB32-4321-895B-5C4819962D9A}"/>
              </a:ext>
            </a:extLst>
          </p:cNvPr>
          <p:cNvSpPr>
            <a:spLocks xmlns:a="http://schemas.openxmlformats.org/drawingml/2006/main" noGrp="1"/>
          </p:cNvSpPr>
          <p:nvPr/>
        </p:nvSpPr>
        <p:spPr>
          <a:xfrm xmlns:a="http://schemas.openxmlformats.org/drawingml/2006/main">
            <a:off x="571500" y="2781300"/>
            <a:ext cx="361950" cy="323850"/>
          </a:xfrm>
          <a:prstGeom xmlns:a="http://schemas.openxmlformats.org/drawingml/2006/main" prst="roundRect">
            <a:avLst>
              <a:gd name="adj" fmla="val 23529"/>
            </a:avLst>
          </a:prstGeom>
          <a:solidFill xmlns:a="http://schemas.openxmlformats.org/drawingml/2006/main">
            <a:srgbClr val="1769E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FBC4A1F-BBA0-416B-8175-7FDEBAA5346D}"/>
              </a:ext>
            </a:extLst>
          </p:cNvPr>
          <p:cNvSpPr>
            <a:spLocks xmlns:a="http://schemas.openxmlformats.org/drawingml/2006/main" noGrp="1"/>
          </p:cNvSpPr>
          <p:nvPr/>
        </p:nvSpPr>
        <p:spPr>
          <a:xfrm xmlns:a="http://schemas.openxmlformats.org/drawingml/2006/main">
            <a:off x="609600" y="280035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1</a:t>
            </a:r>
          </a:p>
        </p:txBody>
      </p:sp>
      <p:sp>
        <p:nvSpPr>
          <p:cNvPr id="11" name="">
            <a:extLst xmlns:a="http://schemas.openxmlformats.org/drawingml/2006/main">
              <a:ext uri="{FF2B5EF4-FFF2-40B4-BE49-F238E27FC236}">
                <a16:creationId xmlns:a16="http://schemas.microsoft.com/office/drawing/2014/main" id="{3FFE41B4-30A1-41B8-A1C5-5F145B9AA014}"/>
              </a:ext>
            </a:extLst>
          </p:cNvPr>
          <p:cNvSpPr>
            <a:spLocks xmlns:a="http://schemas.openxmlformats.org/drawingml/2006/main" noGrp="1"/>
          </p:cNvSpPr>
          <p:nvPr/>
        </p:nvSpPr>
        <p:spPr>
          <a:xfrm xmlns:a="http://schemas.openxmlformats.org/drawingml/2006/main">
            <a:off x="1104900" y="278130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입력·검색</a:t>
            </a:r>
          </a:p>
        </p:txBody>
      </p:sp>
      <p:sp>
        <p:nvSpPr>
          <p:cNvPr id="12" name="">
            <a:extLst xmlns:a="http://schemas.openxmlformats.org/drawingml/2006/main">
              <a:ext uri="{FF2B5EF4-FFF2-40B4-BE49-F238E27FC236}">
                <a16:creationId xmlns:a16="http://schemas.microsoft.com/office/drawing/2014/main" id="{1CC5E17B-A2F0-470D-ABEB-B3D81EBA643C}"/>
              </a:ext>
            </a:extLst>
          </p:cNvPr>
          <p:cNvSpPr>
            <a:spLocks xmlns:a="http://schemas.openxmlformats.org/drawingml/2006/main" noGrp="1"/>
          </p:cNvSpPr>
          <p:nvPr/>
        </p:nvSpPr>
        <p:spPr>
          <a:xfrm xmlns:a="http://schemas.openxmlformats.org/drawingml/2006/main">
            <a:off x="2343150" y="27813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현재 Mail + 활성 Task + 최근 Mail 3건 + History 5건</a:t>
            </a:r>
          </a:p>
        </p:txBody>
      </p:sp>
      <p:sp>
        <p:nvSpPr>
          <p:cNvPr id="13" name="">
            <a:extLst xmlns:a="http://schemas.openxmlformats.org/drawingml/2006/main">
              <a:ext uri="{FF2B5EF4-FFF2-40B4-BE49-F238E27FC236}">
                <a16:creationId xmlns:a16="http://schemas.microsoft.com/office/drawing/2014/main" id="{2739638D-AC2D-4480-A4BC-90024BDAB6EB}"/>
              </a:ext>
            </a:extLst>
          </p:cNvPr>
          <p:cNvSpPr>
            <a:spLocks xmlns:a="http://schemas.openxmlformats.org/drawingml/2006/main" noGrp="1"/>
          </p:cNvSpPr>
          <p:nvPr/>
        </p:nvSpPr>
        <p:spPr>
          <a:xfrm xmlns:a="http://schemas.openxmlformats.org/drawingml/2006/main">
            <a:off x="571500" y="3238500"/>
            <a:ext cx="361950" cy="323850"/>
          </a:xfrm>
          <a:prstGeom xmlns:a="http://schemas.openxmlformats.org/drawingml/2006/main" prst="roundRect">
            <a:avLst>
              <a:gd name="adj" fmla="val 23529"/>
            </a:avLst>
          </a:prstGeom>
          <a:solidFill xmlns:a="http://schemas.openxmlformats.org/drawingml/2006/main">
            <a:srgbClr val="1769E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67300FE-53AB-4F2F-8B19-559B5ED14595}"/>
              </a:ext>
            </a:extLst>
          </p:cNvPr>
          <p:cNvSpPr>
            <a:spLocks xmlns:a="http://schemas.openxmlformats.org/drawingml/2006/main" noGrp="1"/>
          </p:cNvSpPr>
          <p:nvPr/>
        </p:nvSpPr>
        <p:spPr>
          <a:xfrm xmlns:a="http://schemas.openxmlformats.org/drawingml/2006/main">
            <a:off x="609600" y="325755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2</a:t>
            </a:r>
          </a:p>
        </p:txBody>
      </p:sp>
      <p:sp>
        <p:nvSpPr>
          <p:cNvPr id="15" name="">
            <a:extLst xmlns:a="http://schemas.openxmlformats.org/drawingml/2006/main">
              <a:ext uri="{FF2B5EF4-FFF2-40B4-BE49-F238E27FC236}">
                <a16:creationId xmlns:a16="http://schemas.microsoft.com/office/drawing/2014/main" id="{B10DA750-41FD-4C9A-8A2C-FF58DC193BAC}"/>
              </a:ext>
            </a:extLst>
          </p:cNvPr>
          <p:cNvSpPr>
            <a:spLocks xmlns:a="http://schemas.openxmlformats.org/drawingml/2006/main" noGrp="1"/>
          </p:cNvSpPr>
          <p:nvPr/>
        </p:nvSpPr>
        <p:spPr>
          <a:xfrm xmlns:a="http://schemas.openxmlformats.org/drawingml/2006/main">
            <a:off x="1104900" y="323850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판단</a:t>
            </a:r>
          </a:p>
        </p:txBody>
      </p:sp>
      <p:sp>
        <p:nvSpPr>
          <p:cNvPr id="16" name="">
            <a:extLst xmlns:a="http://schemas.openxmlformats.org/drawingml/2006/main">
              <a:ext uri="{FF2B5EF4-FFF2-40B4-BE49-F238E27FC236}">
                <a16:creationId xmlns:a16="http://schemas.microsoft.com/office/drawing/2014/main" id="{2B6A42BA-BD09-48C6-894C-43CD429567B6}"/>
              </a:ext>
            </a:extLst>
          </p:cNvPr>
          <p:cNvSpPr>
            <a:spLocks xmlns:a="http://schemas.openxmlformats.org/drawingml/2006/main" noGrp="1"/>
          </p:cNvSpPr>
          <p:nvPr/>
        </p:nvSpPr>
        <p:spPr>
          <a:xfrm xmlns:a="http://schemas.openxmlformats.org/drawingml/2006/main">
            <a:off x="2343150" y="32385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관계를 고르고 생성·갱신·연결·회신 대기·완료·사용자 확인·무시 중 하나를 제안</a:t>
            </a:r>
          </a:p>
        </p:txBody>
      </p:sp>
      <p:sp>
        <p:nvSpPr>
          <p:cNvPr id="17" name="">
            <a:extLst xmlns:a="http://schemas.openxmlformats.org/drawingml/2006/main">
              <a:ext uri="{FF2B5EF4-FFF2-40B4-BE49-F238E27FC236}">
                <a16:creationId xmlns:a16="http://schemas.microsoft.com/office/drawing/2014/main" id="{BE5FCEEE-3E0B-452E-8BBD-2404921BFF77}"/>
              </a:ext>
            </a:extLst>
          </p:cNvPr>
          <p:cNvSpPr>
            <a:spLocks xmlns:a="http://schemas.openxmlformats.org/drawingml/2006/main" noGrp="1"/>
          </p:cNvSpPr>
          <p:nvPr/>
        </p:nvSpPr>
        <p:spPr>
          <a:xfrm xmlns:a="http://schemas.openxmlformats.org/drawingml/2006/main">
            <a:off x="571500" y="3695700"/>
            <a:ext cx="361950" cy="323850"/>
          </a:xfrm>
          <a:prstGeom xmlns:a="http://schemas.openxmlformats.org/drawingml/2006/main" prst="roundRect">
            <a:avLst>
              <a:gd name="adj" fmla="val 23529"/>
            </a:avLst>
          </a:prstGeom>
          <a:solidFill xmlns:a="http://schemas.openxmlformats.org/drawingml/2006/main">
            <a:srgbClr val="7657D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C08EED7-28D8-4BB9-AC59-3ADA95033F7B}"/>
              </a:ext>
            </a:extLst>
          </p:cNvPr>
          <p:cNvSpPr>
            <a:spLocks xmlns:a="http://schemas.openxmlformats.org/drawingml/2006/main" noGrp="1"/>
          </p:cNvSpPr>
          <p:nvPr/>
        </p:nvSpPr>
        <p:spPr>
          <a:xfrm xmlns:a="http://schemas.openxmlformats.org/drawingml/2006/main">
            <a:off x="609600" y="371475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3</a:t>
            </a:r>
          </a:p>
        </p:txBody>
      </p:sp>
      <p:sp>
        <p:nvSpPr>
          <p:cNvPr id="19" name="">
            <a:extLst xmlns:a="http://schemas.openxmlformats.org/drawingml/2006/main">
              <a:ext uri="{FF2B5EF4-FFF2-40B4-BE49-F238E27FC236}">
                <a16:creationId xmlns:a16="http://schemas.microsoft.com/office/drawing/2014/main" id="{6B28FBE2-E2D3-4081-B0A7-3EA4211AA32F}"/>
              </a:ext>
            </a:extLst>
          </p:cNvPr>
          <p:cNvSpPr>
            <a:spLocks xmlns:a="http://schemas.openxmlformats.org/drawingml/2006/main" noGrp="1"/>
          </p:cNvSpPr>
          <p:nvPr/>
        </p:nvSpPr>
        <p:spPr>
          <a:xfrm xmlns:a="http://schemas.openxmlformats.org/drawingml/2006/main">
            <a:off x="1104900" y="369570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재판단</a:t>
            </a:r>
          </a:p>
        </p:txBody>
      </p:sp>
      <p:sp>
        <p:nvSpPr>
          <p:cNvPr id="20" name="">
            <a:extLst xmlns:a="http://schemas.openxmlformats.org/drawingml/2006/main">
              <a:ext uri="{FF2B5EF4-FFF2-40B4-BE49-F238E27FC236}">
                <a16:creationId xmlns:a16="http://schemas.microsoft.com/office/drawing/2014/main" id="{10FBB889-5991-4E3C-88F2-A0AA3BAAEDC4}"/>
              </a:ext>
            </a:extLst>
          </p:cNvPr>
          <p:cNvSpPr>
            <a:spLocks xmlns:a="http://schemas.openxmlformats.org/drawingml/2006/main" noGrp="1"/>
          </p:cNvSpPr>
          <p:nvPr/>
        </p:nvSpPr>
        <p:spPr>
          <a:xfrm xmlns:a="http://schemas.openxmlformats.org/drawingml/2006/main">
            <a:off x="2343150" y="36957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AMBIGUOUS이거나 신뢰도 0.75 미만이면 Query Rewrite 후 재검색을 최대 1회 수행</a:t>
            </a:r>
          </a:p>
        </p:txBody>
      </p:sp>
      <p:sp>
        <p:nvSpPr>
          <p:cNvPr id="21" name="">
            <a:extLst xmlns:a="http://schemas.openxmlformats.org/drawingml/2006/main">
              <a:ext uri="{FF2B5EF4-FFF2-40B4-BE49-F238E27FC236}">
                <a16:creationId xmlns:a16="http://schemas.microsoft.com/office/drawing/2014/main" id="{F9210573-E247-4719-944C-2723AB839B90}"/>
              </a:ext>
            </a:extLst>
          </p:cNvPr>
          <p:cNvSpPr>
            <a:spLocks xmlns:a="http://schemas.openxmlformats.org/drawingml/2006/main" noGrp="1"/>
          </p:cNvSpPr>
          <p:nvPr/>
        </p:nvSpPr>
        <p:spPr>
          <a:xfrm xmlns:a="http://schemas.openxmlformats.org/drawingml/2006/main">
            <a:off x="571500" y="4152900"/>
            <a:ext cx="361950" cy="323850"/>
          </a:xfrm>
          <a:prstGeom xmlns:a="http://schemas.openxmlformats.org/drawingml/2006/main" prst="roundRect">
            <a:avLst>
              <a:gd name="adj" fmla="val 23529"/>
            </a:avLst>
          </a:prstGeom>
          <a:solidFill xmlns:a="http://schemas.openxmlformats.org/drawingml/2006/main">
            <a:srgbClr val="1769E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FC879F1-6FB5-49FF-BEA2-2AE498B47143}"/>
              </a:ext>
            </a:extLst>
          </p:cNvPr>
          <p:cNvSpPr>
            <a:spLocks xmlns:a="http://schemas.openxmlformats.org/drawingml/2006/main" noGrp="1"/>
          </p:cNvSpPr>
          <p:nvPr/>
        </p:nvSpPr>
        <p:spPr>
          <a:xfrm xmlns:a="http://schemas.openxmlformats.org/drawingml/2006/main">
            <a:off x="609600" y="417195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4</a:t>
            </a:r>
          </a:p>
        </p:txBody>
      </p:sp>
      <p:sp>
        <p:nvSpPr>
          <p:cNvPr id="23" name="">
            <a:extLst xmlns:a="http://schemas.openxmlformats.org/drawingml/2006/main">
              <a:ext uri="{FF2B5EF4-FFF2-40B4-BE49-F238E27FC236}">
                <a16:creationId xmlns:a16="http://schemas.microsoft.com/office/drawing/2014/main" id="{CD913219-6504-4483-B3CE-58BD6A726E92}"/>
              </a:ext>
            </a:extLst>
          </p:cNvPr>
          <p:cNvSpPr>
            <a:spLocks xmlns:a="http://schemas.openxmlformats.org/drawingml/2006/main" noGrp="1"/>
          </p:cNvSpPr>
          <p:nvPr/>
        </p:nvSpPr>
        <p:spPr>
          <a:xfrm xmlns:a="http://schemas.openxmlformats.org/drawingml/2006/main">
            <a:off x="1104900" y="415290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실행·관찰</a:t>
            </a:r>
          </a:p>
        </p:txBody>
      </p:sp>
      <p:sp>
        <p:nvSpPr>
          <p:cNvPr id="24" name="">
            <a:extLst xmlns:a="http://schemas.openxmlformats.org/drawingml/2006/main">
              <a:ext uri="{FF2B5EF4-FFF2-40B4-BE49-F238E27FC236}">
                <a16:creationId xmlns:a16="http://schemas.microsoft.com/office/drawing/2014/main" id="{22EFFACD-3AFE-4535-8314-A311E684AF09}"/>
              </a:ext>
            </a:extLst>
          </p:cNvPr>
          <p:cNvSpPr>
            <a:spLocks xmlns:a="http://schemas.openxmlformats.org/drawingml/2006/main" noGrp="1"/>
          </p:cNvSpPr>
          <p:nvPr/>
        </p:nvSpPr>
        <p:spPr>
          <a:xfrm xmlns:a="http://schemas.openxmlformats.org/drawingml/2006/main">
            <a:off x="2343150" y="41529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Python Guard 승인 또는 ASK_USER → DB 실행 → 실제 저장 상태 재조회</a:t>
            </a:r>
          </a:p>
        </p:txBody>
      </p:sp>
      <p:sp>
        <p:nvSpPr>
          <p:cNvPr id="25" name="">
            <a:extLst xmlns:a="http://schemas.openxmlformats.org/drawingml/2006/main">
              <a:ext uri="{FF2B5EF4-FFF2-40B4-BE49-F238E27FC236}">
                <a16:creationId xmlns:a16="http://schemas.microsoft.com/office/drawing/2014/main" id="{D8CF0486-E226-44D8-B5E1-6ED6B7118FCE}"/>
              </a:ext>
            </a:extLst>
          </p:cNvPr>
          <p:cNvSpPr>
            <a:spLocks xmlns:a="http://schemas.openxmlformats.org/drawingml/2006/main" noGrp="1"/>
          </p:cNvSpPr>
          <p:nvPr/>
        </p:nvSpPr>
        <p:spPr>
          <a:xfrm xmlns:a="http://schemas.openxmlformats.org/drawingml/2006/main">
            <a:off x="571500" y="4762500"/>
            <a:ext cx="819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7657D6"/>
                </a:solidFill>
                <a:latin typeface="Malgun Gothic"/>
                <a:ea typeface="Malgun Gothic"/>
                <a:cs typeface="Malgun Gothic"/>
              </a:defRPr>
            </a:pPr>
            <a:r>
              <a:rPr sz="1425" b="1">
                <a:solidFill>
                  <a:srgbClr val="7657D6"/>
                </a:solidFill>
                <a:latin typeface="Malgun Gothic"/>
                <a:ea typeface="Malgun Gothic"/>
                <a:cs typeface="Malgun Gothic"/>
              </a:rPr>
              <a:t>Agent 전용 Live 검증  |  Task Context 3/3  ·  Reply Planning 3/3  ·  Draft 1/1</a:t>
            </a:r>
          </a:p>
        </p:txBody>
      </p:sp>
      <p:sp>
        <p:nvSpPr>
          <p:cNvPr id="26" name="">
            <a:extLst xmlns:a="http://schemas.openxmlformats.org/drawingml/2006/main">
              <a:ext uri="{FF2B5EF4-FFF2-40B4-BE49-F238E27FC236}">
                <a16:creationId xmlns:a16="http://schemas.microsoft.com/office/drawing/2014/main" id="{D0D7E04A-D00A-47D6-AF69-B6187B468990}"/>
              </a:ext>
            </a:extLst>
          </p:cNvPr>
          <p:cNvSpPr>
            <a:spLocks xmlns:a="http://schemas.openxmlformats.org/drawingml/2006/main" noGrp="1"/>
          </p:cNvSpPr>
          <p:nvPr/>
        </p:nvSpPr>
        <p:spPr>
          <a:xfrm xmlns:a="http://schemas.openxmlformats.org/drawingml/2006/main">
            <a:off x="571500" y="514350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LIVE-RAG-01</a:t>
            </a:r>
          </a:p>
        </p:txBody>
      </p:sp>
      <p:sp>
        <p:nvSpPr>
          <p:cNvPr id="27" name="">
            <a:extLst xmlns:a="http://schemas.openxmlformats.org/drawingml/2006/main">
              <a:ext uri="{FF2B5EF4-FFF2-40B4-BE49-F238E27FC236}">
                <a16:creationId xmlns:a16="http://schemas.microsoft.com/office/drawing/2014/main" id="{8944F0C4-43E0-4398-9A34-3A7C3F9C5E15}"/>
              </a:ext>
            </a:extLst>
          </p:cNvPr>
          <p:cNvSpPr>
            <a:spLocks xmlns:a="http://schemas.openxmlformats.org/drawingml/2006/main" noGrp="1"/>
          </p:cNvSpPr>
          <p:nvPr/>
        </p:nvSpPr>
        <p:spPr>
          <a:xfrm xmlns:a="http://schemas.openxmlformats.org/drawingml/2006/main">
            <a:off x="571500" y="53911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SAME_TASK · UPDATE_TASK</a:t>
            </a:r>
          </a:p>
        </p:txBody>
      </p:sp>
      <p:sp>
        <p:nvSpPr>
          <p:cNvPr id="28" name="">
            <a:extLst xmlns:a="http://schemas.openxmlformats.org/drawingml/2006/main">
              <a:ext uri="{FF2B5EF4-FFF2-40B4-BE49-F238E27FC236}">
                <a16:creationId xmlns:a16="http://schemas.microsoft.com/office/drawing/2014/main" id="{EB8B9F6C-E173-4170-8096-2FFCA1EA94BF}"/>
              </a:ext>
            </a:extLst>
          </p:cNvPr>
          <p:cNvSpPr>
            <a:spLocks xmlns:a="http://schemas.openxmlformats.org/drawingml/2006/main" noGrp="1"/>
          </p:cNvSpPr>
          <p:nvPr/>
        </p:nvSpPr>
        <p:spPr>
          <a:xfrm xmlns:a="http://schemas.openxmlformats.org/drawingml/2006/main">
            <a:off x="571500" y="565785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신뢰도 0.90</a:t>
            </a:r>
          </a:p>
        </p:txBody>
      </p:sp>
      <p:sp>
        <p:nvSpPr>
          <p:cNvPr id="29" name="">
            <a:extLst xmlns:a="http://schemas.openxmlformats.org/drawingml/2006/main">
              <a:ext uri="{FF2B5EF4-FFF2-40B4-BE49-F238E27FC236}">
                <a16:creationId xmlns:a16="http://schemas.microsoft.com/office/drawing/2014/main" id="{01812DE0-8683-47DA-990F-84E81EE99676}"/>
              </a:ext>
            </a:extLst>
          </p:cNvPr>
          <p:cNvSpPr>
            <a:spLocks xmlns:a="http://schemas.openxmlformats.org/drawingml/2006/main" noGrp="1"/>
          </p:cNvSpPr>
          <p:nvPr/>
        </p:nvSpPr>
        <p:spPr>
          <a:xfrm xmlns:a="http://schemas.openxmlformats.org/drawingml/2006/main">
            <a:off x="4248150" y="514350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LIVE-RAG-02</a:t>
            </a:r>
          </a:p>
        </p:txBody>
      </p:sp>
      <p:sp>
        <p:nvSpPr>
          <p:cNvPr id="30" name="">
            <a:extLst xmlns:a="http://schemas.openxmlformats.org/drawingml/2006/main">
              <a:ext uri="{FF2B5EF4-FFF2-40B4-BE49-F238E27FC236}">
                <a16:creationId xmlns:a16="http://schemas.microsoft.com/office/drawing/2014/main" id="{E4B0F24D-42BA-4E4D-99DA-D396F8DC0482}"/>
              </a:ext>
            </a:extLst>
          </p:cNvPr>
          <p:cNvSpPr>
            <a:spLocks xmlns:a="http://schemas.openxmlformats.org/drawingml/2006/main" noGrp="1"/>
          </p:cNvSpPr>
          <p:nvPr/>
        </p:nvSpPr>
        <p:spPr>
          <a:xfrm xmlns:a="http://schemas.openxmlformats.org/drawingml/2006/main">
            <a:off x="4248150" y="53911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AMBIGUOUS · ASK_USER</a:t>
            </a:r>
          </a:p>
        </p:txBody>
      </p:sp>
      <p:sp>
        <p:nvSpPr>
          <p:cNvPr id="31" name="">
            <a:extLst xmlns:a="http://schemas.openxmlformats.org/drawingml/2006/main">
              <a:ext uri="{FF2B5EF4-FFF2-40B4-BE49-F238E27FC236}">
                <a16:creationId xmlns:a16="http://schemas.microsoft.com/office/drawing/2014/main" id="{3D8216B1-0845-46C2-9D4A-F81EF1A4DDC1}"/>
              </a:ext>
            </a:extLst>
          </p:cNvPr>
          <p:cNvSpPr>
            <a:spLocks xmlns:a="http://schemas.openxmlformats.org/drawingml/2006/main" noGrp="1"/>
          </p:cNvSpPr>
          <p:nvPr/>
        </p:nvSpPr>
        <p:spPr>
          <a:xfrm xmlns:a="http://schemas.openxmlformats.org/drawingml/2006/main">
            <a:off x="4248150" y="565785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0.60 · 재검색어 생성</a:t>
            </a:r>
          </a:p>
        </p:txBody>
      </p:sp>
      <p:sp>
        <p:nvSpPr>
          <p:cNvPr id="32" name="">
            <a:extLst xmlns:a="http://schemas.openxmlformats.org/drawingml/2006/main">
              <a:ext uri="{FF2B5EF4-FFF2-40B4-BE49-F238E27FC236}">
                <a16:creationId xmlns:a16="http://schemas.microsoft.com/office/drawing/2014/main" id="{BFF73466-29C8-4ACC-92D2-4BA454929770}"/>
              </a:ext>
            </a:extLst>
          </p:cNvPr>
          <p:cNvSpPr>
            <a:spLocks xmlns:a="http://schemas.openxmlformats.org/drawingml/2006/main" noGrp="1"/>
          </p:cNvSpPr>
          <p:nvPr/>
        </p:nvSpPr>
        <p:spPr>
          <a:xfrm xmlns:a="http://schemas.openxmlformats.org/drawingml/2006/main">
            <a:off x="7924800" y="514350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LIVE-RAG-03</a:t>
            </a:r>
          </a:p>
        </p:txBody>
      </p:sp>
      <p:sp>
        <p:nvSpPr>
          <p:cNvPr id="33" name="">
            <a:extLst xmlns:a="http://schemas.openxmlformats.org/drawingml/2006/main">
              <a:ext uri="{FF2B5EF4-FFF2-40B4-BE49-F238E27FC236}">
                <a16:creationId xmlns:a16="http://schemas.microsoft.com/office/drawing/2014/main" id="{179EF57D-BBE0-43D5-8E54-C69CA2AB4C55}"/>
              </a:ext>
            </a:extLst>
          </p:cNvPr>
          <p:cNvSpPr>
            <a:spLocks xmlns:a="http://schemas.openxmlformats.org/drawingml/2006/main" noGrp="1"/>
          </p:cNvSpPr>
          <p:nvPr/>
        </p:nvSpPr>
        <p:spPr>
          <a:xfrm xmlns:a="http://schemas.openxmlformats.org/drawingml/2006/main">
            <a:off x="7924800" y="53911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재판단 후 ASK_USER</a:t>
            </a:r>
          </a:p>
        </p:txBody>
      </p:sp>
      <p:sp>
        <p:nvSpPr>
          <p:cNvPr id="34" name="">
            <a:extLst xmlns:a="http://schemas.openxmlformats.org/drawingml/2006/main">
              <a:ext uri="{FF2B5EF4-FFF2-40B4-BE49-F238E27FC236}">
                <a16:creationId xmlns:a16="http://schemas.microsoft.com/office/drawing/2014/main" id="{9BF4ED58-6225-4DF7-94D9-9622C1985C97}"/>
              </a:ext>
            </a:extLst>
          </p:cNvPr>
          <p:cNvSpPr>
            <a:spLocks xmlns:a="http://schemas.openxmlformats.org/drawingml/2006/main" noGrp="1"/>
          </p:cNvSpPr>
          <p:nvPr/>
        </p:nvSpPr>
        <p:spPr>
          <a:xfrm xmlns:a="http://schemas.openxmlformats.org/drawingml/2006/main">
            <a:off x="7924800" y="565785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0.58 · 추가 재검색 중단</a:t>
            </a:r>
          </a:p>
        </p:txBody>
      </p:sp>
      <p:sp>
        <p:nvSpPr>
          <p:cNvPr id="35" name="">
            <a:extLst xmlns:a="http://schemas.openxmlformats.org/drawingml/2006/main">
              <a:ext uri="{FF2B5EF4-FFF2-40B4-BE49-F238E27FC236}">
                <a16:creationId xmlns:a16="http://schemas.microsoft.com/office/drawing/2014/main" id="{979C1EF4-FA3C-428B-AB74-C112EA7CA27A}"/>
              </a:ext>
            </a:extLst>
          </p:cNvPr>
          <p:cNvSpPr>
            <a:spLocks xmlns:a="http://schemas.openxmlformats.org/drawingml/2006/main" noGrp="1"/>
          </p:cNvSpPr>
          <p:nvPr/>
        </p:nvSpPr>
        <p:spPr>
          <a:xfrm xmlns:a="http://schemas.openxmlformats.org/drawingml/2006/main">
            <a:off x="571500" y="6010275"/>
            <a:ext cx="457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444"/>
          </a:bodyPr>
          <a:lstStyle xmlns:a="http://schemas.openxmlformats.org/drawingml/2006/main"/>
          <a:p xmlns:a="http://schemas.openxmlformats.org/drawingml/2006/main">
            <a:pPr algn="l">
              <a:defRPr sz="1125" b="1">
                <a:solidFill>
                  <a:srgbClr val="C73C34"/>
                </a:solidFill>
                <a:latin typeface="Malgun Gothic"/>
                <a:ea typeface="Malgun Gothic"/>
                <a:cs typeface="Malgun Gothic"/>
              </a:defRPr>
            </a:pPr>
            <a:r>
              <a:rPr sz="1125" b="1">
                <a:solidFill>
                  <a:srgbClr val="C73C34"/>
                </a:solidFill>
                <a:latin typeface="Malgun Gothic"/>
                <a:ea typeface="Malgun Gothic"/>
                <a:cs typeface="Malgun Gothic"/>
              </a:rPr>
              <a:t>실패  |  신규 수신 요청을 WAITING으로 오해</a:t>
            </a:r>
          </a:p>
        </p:txBody>
      </p:sp>
      <p:sp>
        <p:nvSpPr>
          <p:cNvPr id="36" name="">
            <a:extLst xmlns:a="http://schemas.openxmlformats.org/drawingml/2006/main">
              <a:ext uri="{FF2B5EF4-FFF2-40B4-BE49-F238E27FC236}">
                <a16:creationId xmlns:a16="http://schemas.microsoft.com/office/drawing/2014/main" id="{B3BDA1F3-67CE-40D3-9C7D-D537E685438D}"/>
              </a:ext>
            </a:extLst>
          </p:cNvPr>
          <p:cNvSpPr>
            <a:spLocks xmlns:a="http://schemas.openxmlformats.org/drawingml/2006/main" noGrp="1"/>
          </p:cNvSpPr>
          <p:nvPr/>
        </p:nvSpPr>
        <p:spPr>
          <a:xfrm xmlns:a="http://schemas.openxmlformats.org/drawingml/2006/main">
            <a:off x="5143500" y="6010275"/>
            <a:ext cx="647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444"/>
          </a:bodyPr>
          <a:lstStyle xmlns:a="http://schemas.openxmlformats.org/drawingml/2006/main"/>
          <a:p xmlns:a="http://schemas.openxmlformats.org/drawingml/2006/main">
            <a:pPr algn="l">
              <a:defRPr sz="1125" b="1">
                <a:solidFill>
                  <a:srgbClr val="138A62"/>
                </a:solidFill>
                <a:latin typeface="Malgun Gothic"/>
                <a:ea typeface="Malgun Gothic"/>
                <a:cs typeface="Malgun Gothic"/>
              </a:defRPr>
            </a:pPr>
            <a:r>
              <a:rPr sz="1125" b="1">
                <a:solidFill>
                  <a:srgbClr val="138A62"/>
                </a:solidFill>
                <a:latin typeface="Malgun Gothic"/>
                <a:ea typeface="Malgun Gothic"/>
                <a:cs typeface="Malgun Gothic"/>
              </a:rPr>
              <a:t>개선  |  의미 계약 재시도 보강 후 새 Gmail 요청의 자동 CREATE_TASK 재검증</a:t>
            </a:r>
          </a:p>
        </p:txBody>
      </p:sp>
    </p:spTree>
    <p:extLst>
      <p:ext uri="{BB962C8B-B14F-4D97-AF65-F5344CB8AC3E}">
        <p14:creationId xmlns:p14="http://schemas.microsoft.com/office/powerpoint/2010/main" val="20364181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2026-09-13T14:45:22.1740000Z</dcterms:created>
  <dcterms:modified xsi:type="dcterms:W3CDTF">2026-09-13T14:45:22.1740000Z</dcterms:modified>
</coreProperties>
</file>