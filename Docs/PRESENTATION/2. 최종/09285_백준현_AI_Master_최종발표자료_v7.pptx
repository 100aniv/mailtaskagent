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8b8b74e55a42d9" /><Relationship Type="http://schemas.openxmlformats.org/officeDocument/2006/relationships/extended-properties" Target="/docProps/app.xml" Id="R8d8478bc4a2d4ddb" /><Relationship Type="http://schemas.openxmlformats.org/officeDocument/2006/relationships/officeDocument" Target="/ppt/presentation.xml" Id="R3199bd63213b4b81" /></Relationships>
</file>

<file path=ppt/presentation.xml><?xml version="1.0" encoding="utf-8"?>
<p:presentation xmlns:p="http://schemas.openxmlformats.org/presentationml/2006/main">
  <p:sldMasterIdLst>
    <p:sldMasterId xmlns:r="http://schemas.openxmlformats.org/officeDocument/2006/relationships" id="2147483648" r:id="Rbb700efe82964092"/>
  </p:sldMasterIdLst>
  <p:notesMasterIdLst>
    <p:notesMasterId xmlns:r="http://schemas.openxmlformats.org/officeDocument/2006/relationships" r:id="Ra2eda374bc514b0c"/>
  </p:notesMasterIdLst>
  <p:sldIdLst>
    <p:sldId xmlns:r="http://schemas.openxmlformats.org/officeDocument/2006/relationships" id="256" r:id="Rfe856f2ea3be4c2d"/>
    <p:sldId xmlns:r="http://schemas.openxmlformats.org/officeDocument/2006/relationships" id="257" r:id="R1d4edf1e80134772"/>
    <p:sldId xmlns:r="http://schemas.openxmlformats.org/officeDocument/2006/relationships" id="258" r:id="R5a67f4b349ec4a3a"/>
    <p:sldId xmlns:r="http://schemas.openxmlformats.org/officeDocument/2006/relationships" id="259" r:id="R8c0369c2e6c245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d8ecb061bd435d" /><Relationship Type="http://schemas.openxmlformats.org/officeDocument/2006/relationships/slideMaster" Target="/ppt/slideMasters/slideMaster1.xml" Id="Rbb700efe82964092" /><Relationship Type="http://schemas.openxmlformats.org/officeDocument/2006/relationships/notesMaster" Target="/ppt/notesMasters/notesMaster1.xml" Id="Ra2eda374bc514b0c" /><Relationship Type="http://schemas.openxmlformats.org/officeDocument/2006/relationships/presProps" Target="/ppt/presProps.xml" Id="R5af83415c430488a" /><Relationship Type="http://schemas.openxmlformats.org/officeDocument/2006/relationships/tableStyles" Target="/ppt/tableStyles.xml" Id="R63923dc71bb4422a" /><Relationship Type="http://schemas.openxmlformats.org/officeDocument/2006/relationships/slide" Target="/ppt/slides/slide1.xml" Id="Rfe856f2ea3be4c2d" /><Relationship Type="http://schemas.openxmlformats.org/officeDocument/2006/relationships/slide" Target="/ppt/slides/slide2.xml" Id="R1d4edf1e80134772" /><Relationship Type="http://schemas.openxmlformats.org/officeDocument/2006/relationships/slide" Target="/ppt/slides/slide3.xml" Id="R5a67f4b349ec4a3a" /><Relationship Type="http://schemas.openxmlformats.org/officeDocument/2006/relationships/slide" Target="/ppt/slides/slide4.xml" Id="R8c0369c2e6c245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6353d9b52a4f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dd568d0afc493d" /><Relationship Type="http://schemas.openxmlformats.org/officeDocument/2006/relationships/notesMaster" Target="/ppt/notesMasters/notesMaster1.xml" Id="R96115b9656b24d7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b753ce0f834afc" /><Relationship Type="http://schemas.openxmlformats.org/officeDocument/2006/relationships/notesMaster" Target="/ppt/notesMasters/notesMaster1.xml" Id="R2df9bc6a26794a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c53b7d174d445f" /><Relationship Type="http://schemas.openxmlformats.org/officeDocument/2006/relationships/notesMaster" Target="/ppt/notesMasters/notesMaster1.xml" Id="Rcaeb9c99f89d43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fe7fd332dd45c9" /><Relationship Type="http://schemas.openxmlformats.org/officeDocument/2006/relationships/notesMaster" Target="/ppt/notesMasters/notesMaster1.xml" Id="R31e723d87a7d4c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MailTaskAgent는 메일을 요약하는 도구가 아닙니다. 새 메일과 기존 업무 상태를 함께 보고 다음 Action을 결정하고, 위험하거나 모호한 결정은 사용자에게 넘기는 Agentic AI 프로젝트입니다.</a:t>
            </a:r>
          </a:p>
          <a:p xmlns:a="http://schemas.openxmlformats.org/drawingml/2006/main">
            <a:r>
              <a:t/>
            </a:r>
          </a:p>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Docs/AI_MASTER/07_E2E서비스개발.md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문제는 메일을 읽는 행위보다, 요청을 Task로 옮기고 후속 변경을 놓치지 않는 데 있습니다. 메일이 들어오면 Agent가 의미를 구조화하고 관련 업무를 찾습니다. 확정하기 어려운 관계에서는 다음 Action을 제안합니다. 회신이 필요하면 별도 Reply Agent가 회신 방식과 필요한 사용자 입력을 정하고 회사 LLM이 초안을 작성합니다. 사용자가 수신자와 본문을 확인한 뒤 승인해야 Gmail에 발송되며, Task는 WAITING_REPLY로 전환됩니다. 오른쪽 수치는 서로 다른 정의된 검증 범위이므로 전체 Mailbox 정확도로 해석하지 않습니다.</a:t>
            </a:r>
          </a:p>
          <a:p xmlns:a="http://schemas.openxmlformats.org/drawingml/2006/main">
            <a:r>
              <a:t/>
            </a:r>
          </a:p>
          <a:p xmlns:a="http://schemas.openxmlformats.org/drawingml/2006/main">
            <a:r>
              <a:t>문제를 더 좁히면 이렇습니다. 하나의 업무가 여러 메일과 여러 Thread에 흩어져 도착하고, 기한 변경이나 자료 회신 같은 후속 메일은 표현이 매번 달라집니다. 사용자는 그때마다 과거 메일을 다시 찾아 이 메일이 새 업무인지 기존 업무의 변경인지 판단해야 합니다.</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 179는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evidence/final_submission_audit_2026-09-13_after_gmail_e2e.json</a:t>
            </a:r>
          </a:p>
          <a:p xmlns:a="http://schemas.openxmlformats.org/drawingml/2006/main">
            <a:r>
              <a:t>- evidence/gmail_final_e2e_2026-09-13.json</a:t>
            </a:r>
          </a:p>
          <a:p xmlns:a="http://schemas.openxmlformats.org/drawingml/2006/main">
            <a:r>
              <a:t>- evidence/gmail_fresh_auto_create_2026-09-13.json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M-01은 메일의 의미를 구조화합니다. M-02는 현재 SQLite에서 관련 Task, 최근 Mail 3건, History 5건까지 검색합니다. 동일 Thread처럼 확정 가능한 경우에는 규칙 경로를 사용합니다. 다른 Thread와 다른 표현 때문에 관계가 불확실할 때만 M-03 Task Context Agent가 관계, 대상 Task와 Action을 제안합니다. Action은 CREATE_TASK, UPDATE_TASK, LINK_TO_TASK, SET_WAITING, MARK_COMPLETED, ASK_USER, IGNORE의 7개입니다. 저신뢰 판단은 검색어를 한 번만 바꿔 재검색합니다. Python Guard는 Action을 승인하거나 ASK_USER로 올리고, 실행 후 DB를 재조회합니다.</a:t>
            </a:r>
          </a:p>
          <a:p xmlns:a="http://schemas.openxmlformats.org/drawingml/2006/main">
            <a:r>
              <a:t/>
            </a:r>
          </a:p>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회사 gpt-4.1-mini는 자유 서술이 아니라 Pydantic Schema로 강제했고, 구조가 깨지면 한 번 재시도한 뒤 실패하면 데이터를 바꾸지 않습니다. 모델 간 비교 실험은 하지 않았으므로 최적이라고 주장하지 않습니다.</a:t>
            </a:r>
          </a:p>
          <a:p xmlns:a="http://schemas.openxmlformats.org/drawingml/2006/main">
            <a:r>
              <a:t>세 번째가 이 프로젝트에서 가장 오래 고민한 Python Guard입니다. LLM은 제안만 하고 데이터베이스를 직접 바꾸지 않습니다. Guard는 Agent가 고른 업무 ID가 검색 후보 안에 있는지, 신규 업무인데 기존 ID를 넣지 않았는지, 메일 의도와 Action이 맞는지, 생성에 필요한 값이 있는지를 확인합니다. 하나라도 어긋나면 실행하지 않고 사용자 확인으로 올립니다. 완료, 취소, 기한 단축은 신뢰도와 무관하게 항상 승인을 거치고, 검색이나 모델 호출이 실패하면 조용히 넘어가지 않고 ASK_USER로 닫습니다.</a:t>
            </a:r>
          </a:p>
          <a:p xmlns:a="http://schemas.openxmlformats.org/drawingml/2006/main">
            <a:r>
              <a:t>회신도 같은 원칙입니다. 초안이 만들어져도 수신자와 원본 Thread를 잠그고 중복 발송을 막은 뒤, 사용자가 승인한 경우에만 발송하고 실제 Message ID를 확인한 다음에 상태를 바꿉니다.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기능들을 일반 Workflow로 구현하는 것이 불가능한 것은 아닙니다. 설계 이유는 모든 표현과 관계를 규칙으로 열거하기 어렵기 때문입니다. 확정 가능한 연결은 규칙으로 처리하고, 다른 Thread와 다른 표현에서는 현재 Mail과 검색 Context를 관찰해 관계와 Action을 제안하도록 제한했습니다. 낮은 신뢰도에서는 검색어를 다시 만들고 결과를 재관찰하며, 그래도 불확실하면 사람이 결정합니다. Reply Agent도 글만 생성하는 것이 아니라 회신 방식과 필요한 입력을 먼저 고릅니다. 실제 Gmail E2E에서는 DATE_REPLY 0.95 판단, 사용자 날짜 입력, LLM 초안, 수신자와 Thread 검증, 승인 발송, WAITING_REPLY 전환을 확인했습니다. 이는 자유로운 장기 계획 Agent가 아니라 결정론적 안전 경로와 제한된 Agent 판단을 결합한 하이브리드입니다.</a:t>
            </a:r>
          </a:p>
          <a:p xmlns:a="http://schemas.openxmlformats.org/drawingml/2006/main">
            <a:r>
              <a:t/>
            </a:r>
          </a:p>
          <a:p xmlns:a="http://schemas.openxmlformats.org/drawingml/2006/main">
            <a:r>
              <a:t>왜 규칙만으로 부족했는지부터 말씀드리겠습니다. 같은 업무라도 답장이 아니라 새 메일로 오면 Thread가 끊기고 제목과 표현이 바뀝니다. 제목 Token 규칙은 이 경우를 구분하지 못했습니다. 이 차이를 테스트로 고정해 두었습니다. Thread도 다르고 어휘도 겹치지 않는 동일 업무에서 규칙 경로는 사용자 확인으로 멈추고, Agent 경로는 올바른 기존 업무를 찾아 갱신합니다.</a:t>
            </a:r>
          </a:p>
          <a:p xmlns:a="http://schemas.openxmlformats.org/drawingml/2006/main">
            <a:r>
              <a:t>세 번째 단계를 봐 주십시오. 관계가 모호하거나 신뢰도가 0.75 미만이면 Agent가 스스로 검색어를 다시 만들어 한 번 더 검색하고 다시 판단합니다. 한 번으로 제한한 이유는 회복 기회는 주되 비용과 지연, 불안정한 자동 변경을 막기 위해서입니다. 참고로 화면의 신뢰도는 모델의 자기보고 값이지 검증된 정답 확률이 아닙니다. 그래서 1.0이어도 중요 변경은 자동 확정하지 않습니다.</a:t>
            </a:r>
          </a:p>
          <a:p xmlns:a="http://schemas.openxmlformats.org/drawingml/2006/main">
            <a:r>
              <a:t>실패 경험입니다. 실제 Gmail 신규 요청을 회사 LLM이 수신 메일인데도 회신 대기로 구조화한 적이 있습니다. Python Guard가 관계와 의도 불일치를 잡아 자동 생성을 막고 사용자 확인으로 올렸고, 업무 데이터는 바뀌지 않았습니다. 원인은 메일 방향과 의도의 의미 계약이 충분히 강제되지 않은 것이었고, 이를 재검증하는 재시도를 추가한 뒤 새 Gmail 원본 메일에서 사용자 개입 없이 TASK-010이 생성되는 것과 재조회 35건 전부 중복 차단을 다시 확인했습니다. 안전장치가 먼저 잡아냈다는 점이 핵심입니다.</a:t>
            </a:r>
          </a:p>
          <a:p xmlns:a="http://schemas.openxmlformats.org/drawingml/2006/main">
            <a:r>
              <a:t>수치를 읽을 때 주의할 점입니다. 179개는 코드 회귀 범위이고, Live 15/15와 28/28은 제가 정의한 합성 15개 Case에서 출력이 기대 구조와 단계를 충족했다는 뜻입니다. 같은 실행에서 Intent 진단 정확도는 13/15, 86.7퍼센트로 100퍼센트가 아니었고 이 수치도 함께 공개합니다.</a:t>
            </a:r>
          </a:p>
          <a:p xmlns:a="http://schemas.openxmlformats.org/drawingml/2006/main">
            <a:r>
              <a:t>마지막으로 하지 않은 선택입니다. 여러 계획을 만들어 비교하는 Tree of Thoughts나 장기 계획 시뮬레이션은 적용하지 않았습니다. 메일 한 건을 업무로 옮기는 판단은 단계가 깊지 않은 대신 틀렸을 때 비용이 업무 데이터 오변경이라, 탐색을 깊게 하기보다 판단은 얕게 하고 결정론적 Guard와 사용자 승인으로 막는 쪽을 택했습니다. 대신 관측과 재검색, 재판단, 실행 후 결과 관찰은 실제로 구현했습니다. Outlook 전환과 사내 인증, 운영 서버는 Post-MVP입니다.</a:t>
            </a:r>
          </a:p>
          <a:p xmlns:a="http://schemas.openxmlformats.org/drawingml/2006/main">
            <a:r>
              <a:t/>
            </a:r>
          </a:p>
          <a:p xmlns:a="http://schemas.openxmlformats.org/drawingml/2006/main">
            <a:r>
              <a:t>[근거]</a:t>
            </a:r>
          </a:p>
          <a:p xmlns:a="http://schemas.openxmlformats.org/drawingml/2006/main">
            <a:r>
              <a:t>- 멘토 피드백 2026-09</a:t>
            </a:r>
          </a:p>
          <a:p xmlns:a="http://schemas.openxmlformats.org/drawingml/2006/main">
            <a:r>
              <a:t>- evidence/task_context_rag_evaluation_2026-09-01.json</a:t>
            </a:r>
          </a:p>
          <a:p xmlns:a="http://schemas.openxmlformats.org/drawingml/2006/main">
            <a:r>
              <a:t>- evidence/mail_to_action_draft_evaluation_2026-09-06.json</a:t>
            </a:r>
          </a:p>
          <a:p xmlns:a="http://schemas.openxmlformats.org/drawingml/2006/main">
            <a:r>
              <a:t>- evidence/gmail_final_e2e_2026-09-13.json</a:t>
            </a:r>
          </a:p>
          <a:p xmlns:a="http://schemas.openxmlformats.org/drawingml/2006/main">
            <a:r>
              <a:t>- evidence/gmail_fresh_auto_create_2026-09-13.json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860ddc41bd46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0c1df63ce6424c" /><Relationship Type="http://schemas.openxmlformats.org/officeDocument/2006/relationships/slideLayout" Target="/ppt/slideLayouts/slideLayout1.xml" Id="R1665d483e01440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65d483e01440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1a90ab8c263463f" /><Relationship Type="http://schemas.openxmlformats.org/officeDocument/2006/relationships/notesSlide" Target="/ppt/notesSlides/notesSlide1.xml" Id="R379e6e2448a646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282aa37c9c4855" /><Relationship Type="http://schemas.openxmlformats.org/officeDocument/2006/relationships/notesSlide" Target="/ppt/notesSlides/notesSlide2.xml" Id="R07854ec4a89f4a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5e84ad23d3462e" /><Relationship Type="http://schemas.openxmlformats.org/officeDocument/2006/relationships/notesSlide" Target="/ppt/notesSlides/notesSlide3.xml" Id="R3b98116e69a242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45b443ba208449d" /><Relationship Type="http://schemas.openxmlformats.org/officeDocument/2006/relationships/notesSlide" Target="/ppt/notesSlides/notesSlide4.xml" Id="R83e327c359e841dc"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ACC5B1-049C-4CDE-AF2D-82062371EC20}"/>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163ABD-9A80-4C3C-AAA2-EF3FA5525E82}"/>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1712826A-E623-48EB-A064-95E679B24B0B}"/>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CC62F5F2-7D0E-4A07-9DAE-97B4221725B4}"/>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85FA3E33-829C-4D9E-9AED-8382923C4EA2}"/>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AD5F14-CE8C-49FC-934E-A61614A04ECA}"/>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AF3402F0-3B94-4983-89CF-AF2C5E060BCD}"/>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FE73329F-B8E4-4960-8209-C11BAFE99C3C}"/>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15642894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C2096D2F-F404-4D37-8366-73DA4CB855EB}"/>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ECA95C-9EB1-4964-B6C9-F066DF5BFA12}"/>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201390CD-9E25-4175-96D5-159E1C8D0398}"/>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E6E2DF3-1A4A-4BA5-8A7A-5B3D213E9CF9}"/>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A541B75C-0FC1-49CC-BFD4-C76CC11A047B}"/>
              </a:ext>
            </a:extLst>
          </p:cNvPr>
          <p:cNvSpPr>
            <a:spLocks xmlns:a="http://schemas.openxmlformats.org/drawingml/2006/main" noGrp="1"/>
          </p:cNvSpPr>
          <p:nvPr/>
        </p:nvSpPr>
        <p:spPr>
          <a:xfrm xmlns:a="http://schemas.openxmlformats.org/drawingml/2006/main">
            <a:off x="571500" y="1238250"/>
            <a:ext cx="762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lgn="l">
              <a:defRPr sz="1800" b="1">
                <a:solidFill>
                  <a:srgbClr val="1769E0"/>
                </a:solidFill>
                <a:latin typeface="Malgun Gothic"/>
                <a:ea typeface="Malgun Gothic"/>
                <a:cs typeface="Malgun Gothic"/>
              </a:defRPr>
            </a:pPr>
            <a:r>
              <a:rPr sz="1800" b="1">
                <a:solidFill>
                  <a:srgbClr val="1769E0"/>
                </a:solidFill>
                <a:latin typeface="Malgun Gothic"/>
                <a:ea typeface="Malgun Gothic"/>
                <a:cs typeface="Malgun Gothic"/>
              </a:rPr>
              <a:t>메일함에서 놓치기 쉬운 요청을 Task Lifecycle로 관리</a:t>
            </a:r>
          </a:p>
        </p:txBody>
      </p:sp>
      <p:sp>
        <p:nvSpPr>
          <p:cNvPr id="6" name="">
            <a:extLst xmlns:a="http://schemas.openxmlformats.org/drawingml/2006/main">
              <a:ext uri="{FF2B5EF4-FFF2-40B4-BE49-F238E27FC236}">
                <a16:creationId xmlns:a16="http://schemas.microsoft.com/office/drawing/2014/main" id="{F00D8CCA-422A-4CCF-8CF8-3FC532534EBE}"/>
              </a:ext>
            </a:extLst>
          </p:cNvPr>
          <p:cNvSpPr>
            <a:spLocks xmlns:a="http://schemas.openxmlformats.org/drawingml/2006/main" noGrp="1"/>
          </p:cNvSpPr>
          <p:nvPr/>
        </p:nvSpPr>
        <p:spPr>
          <a:xfrm xmlns:a="http://schemas.openxmlformats.org/drawingml/2006/main">
            <a:off x="571500" y="16002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657187"/>
                </a:solidFill>
                <a:latin typeface="Malgun Gothic"/>
                <a:ea typeface="Malgun Gothic"/>
                <a:cs typeface="Malgun Gothic"/>
              </a:defRPr>
            </a:pPr>
            <a:r>
              <a:rPr sz="1350" b="0">
                <a:solidFill>
                  <a:srgbClr val="657187"/>
                </a:solidFill>
                <a:latin typeface="Malgun Gothic"/>
                <a:ea typeface="Malgun Gothic"/>
                <a:cs typeface="Malgun Gothic"/>
              </a:rPr>
              <a:t>수작업 전환 누락과 후속 메일 추적 부담을 줄이고, 위험한 변경은 사용자 승인 뒤 반영합니다.</a:t>
            </a:r>
          </a:p>
        </p:txBody>
      </p:sp>
      <p:sp>
        <p:nvSpPr>
          <p:cNvPr id="7" name="">
            <a:extLst xmlns:a="http://schemas.openxmlformats.org/drawingml/2006/main">
              <a:ext uri="{FF2B5EF4-FFF2-40B4-BE49-F238E27FC236}">
                <a16:creationId xmlns:a16="http://schemas.microsoft.com/office/drawing/2014/main" id="{31991806-D39E-4D08-9643-31AD1178100E}"/>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077764FA-CF22-42C5-B553-00F0C27DB7BB}"/>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2C1E24-982D-4DB8-A423-4C7F6559142C}"/>
              </a:ext>
            </a:extLst>
          </p:cNvPr>
          <p:cNvSpPr>
            <a:spLocks xmlns:a="http://schemas.openxmlformats.org/drawingml/2006/main" noGrp="1"/>
          </p:cNvSpPr>
          <p:nvPr/>
        </p:nvSpPr>
        <p:spPr>
          <a:xfrm xmlns:a="http://schemas.openxmlformats.org/drawingml/2006/main">
            <a:off x="800100" y="2543175"/>
            <a:ext cx="144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333"/>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메일 관찰</a:t>
            </a:r>
          </a:p>
        </p:txBody>
      </p:sp>
      <p:sp>
        <p:nvSpPr>
          <p:cNvPr id="10" name="">
            <a:extLst xmlns:a="http://schemas.openxmlformats.org/drawingml/2006/main">
              <a:ext uri="{FF2B5EF4-FFF2-40B4-BE49-F238E27FC236}">
                <a16:creationId xmlns:a16="http://schemas.microsoft.com/office/drawing/2014/main" id="{FD8234B0-205F-4B14-8675-BE771617ED59}"/>
              </a:ext>
            </a:extLst>
          </p:cNvPr>
          <p:cNvSpPr>
            <a:spLocks xmlns:a="http://schemas.openxmlformats.org/drawingml/2006/main" noGrp="1"/>
          </p:cNvSpPr>
          <p:nvPr/>
        </p:nvSpPr>
        <p:spPr>
          <a:xfrm xmlns:a="http://schemas.openxmlformats.org/drawingml/2006/main">
            <a:off x="800100" y="2867025"/>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Gmail 수신·발신</a:t>
            </a:r>
          </a:p>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Thread와 참여자</a:t>
            </a:r>
          </a:p>
        </p:txBody>
      </p:sp>
      <p:sp>
        <p:nvSpPr>
          <p:cNvPr id="11" name="">
            <a:extLst xmlns:a="http://schemas.openxmlformats.org/drawingml/2006/main">
              <a:ext uri="{FF2B5EF4-FFF2-40B4-BE49-F238E27FC236}">
                <a16:creationId xmlns:a16="http://schemas.microsoft.com/office/drawing/2014/main" id="{6B0B2CCC-54C7-4DD4-97B5-BE8FA4F8C112}"/>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F30768F-AF9E-4163-BB42-E9C036FF7EE9}"/>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F5B8C2A4-6BA3-4B7C-949D-342B03E86321}"/>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63C67D-E95D-45E3-9B63-0C6082CB216F}"/>
              </a:ext>
            </a:extLst>
          </p:cNvPr>
          <p:cNvSpPr>
            <a:spLocks xmlns:a="http://schemas.openxmlformats.org/drawingml/2006/main" noGrp="1"/>
          </p:cNvSpPr>
          <p:nvPr/>
        </p:nvSpPr>
        <p:spPr>
          <a:xfrm xmlns:a="http://schemas.openxmlformats.org/drawingml/2006/main">
            <a:off x="3086100" y="2543175"/>
            <a:ext cx="144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333"/>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의미 분석</a:t>
            </a:r>
          </a:p>
        </p:txBody>
      </p:sp>
      <p:sp>
        <p:nvSpPr>
          <p:cNvPr id="15" name="">
            <a:extLst xmlns:a="http://schemas.openxmlformats.org/drawingml/2006/main">
              <a:ext uri="{FF2B5EF4-FFF2-40B4-BE49-F238E27FC236}">
                <a16:creationId xmlns:a16="http://schemas.microsoft.com/office/drawing/2014/main" id="{46C7206D-910C-4196-B2E7-0AB9118BD927}"/>
              </a:ext>
            </a:extLst>
          </p:cNvPr>
          <p:cNvSpPr>
            <a:spLocks xmlns:a="http://schemas.openxmlformats.org/drawingml/2006/main" noGrp="1"/>
          </p:cNvSpPr>
          <p:nvPr/>
        </p:nvSpPr>
        <p:spPr>
          <a:xfrm xmlns:a="http://schemas.openxmlformats.org/drawingml/2006/main">
            <a:off x="3086100" y="2867025"/>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요청·기한·Intent</a:t>
            </a:r>
          </a:p>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회사 LLM 구조화</a:t>
            </a:r>
          </a:p>
        </p:txBody>
      </p:sp>
      <p:sp>
        <p:nvSpPr>
          <p:cNvPr id="16" name="">
            <a:extLst xmlns:a="http://schemas.openxmlformats.org/drawingml/2006/main">
              <a:ext uri="{FF2B5EF4-FFF2-40B4-BE49-F238E27FC236}">
                <a16:creationId xmlns:a16="http://schemas.microsoft.com/office/drawing/2014/main" id="{48670380-66EA-44C5-A2FF-F0E3A99C18C2}"/>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207648B-F033-40B9-83F2-8D075A511610}"/>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7E2CF6F7-14AA-4145-9AF5-27613523CB5F}"/>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1C4DF09-AAE8-447B-A0BE-98AD2ED8B1C3}"/>
              </a:ext>
            </a:extLst>
          </p:cNvPr>
          <p:cNvSpPr>
            <a:spLocks xmlns:a="http://schemas.openxmlformats.org/drawingml/2006/main" noGrp="1"/>
          </p:cNvSpPr>
          <p:nvPr/>
        </p:nvSpPr>
        <p:spPr>
          <a:xfrm xmlns:a="http://schemas.openxmlformats.org/drawingml/2006/main">
            <a:off x="5372100" y="2543175"/>
            <a:ext cx="144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333"/>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관계 판단</a:t>
            </a:r>
          </a:p>
        </p:txBody>
      </p:sp>
      <p:sp>
        <p:nvSpPr>
          <p:cNvPr id="20" name="">
            <a:extLst xmlns:a="http://schemas.openxmlformats.org/drawingml/2006/main">
              <a:ext uri="{FF2B5EF4-FFF2-40B4-BE49-F238E27FC236}">
                <a16:creationId xmlns:a16="http://schemas.microsoft.com/office/drawing/2014/main" id="{053A7535-9A3F-45D7-9CD9-598A48B08FC2}"/>
              </a:ext>
            </a:extLst>
          </p:cNvPr>
          <p:cNvSpPr>
            <a:spLocks xmlns:a="http://schemas.openxmlformats.org/drawingml/2006/main" noGrp="1"/>
          </p:cNvSpPr>
          <p:nvPr/>
        </p:nvSpPr>
        <p:spPr>
          <a:xfrm xmlns:a="http://schemas.openxmlformats.org/drawingml/2006/main">
            <a:off x="5372100" y="2867025"/>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Task Context RAG</a:t>
            </a:r>
          </a:p>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Action Proposal</a:t>
            </a:r>
          </a:p>
        </p:txBody>
      </p:sp>
      <p:sp>
        <p:nvSpPr>
          <p:cNvPr id="21" name="">
            <a:extLst xmlns:a="http://schemas.openxmlformats.org/drawingml/2006/main">
              <a:ext uri="{FF2B5EF4-FFF2-40B4-BE49-F238E27FC236}">
                <a16:creationId xmlns:a16="http://schemas.microsoft.com/office/drawing/2014/main" id="{D6F03F62-02A5-4C2C-A531-8ABBB0E25547}"/>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B8090E-FE79-4BAC-A6B7-07D442EB3B39}"/>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9B1CE60E-16AC-431D-956F-4A17B5EE63FB}"/>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A3E16A5-A243-4A5D-9474-32C64712CBB5}"/>
              </a:ext>
            </a:extLst>
          </p:cNvPr>
          <p:cNvSpPr>
            <a:spLocks xmlns:a="http://schemas.openxmlformats.org/drawingml/2006/main" noGrp="1"/>
          </p:cNvSpPr>
          <p:nvPr/>
        </p:nvSpPr>
        <p:spPr>
          <a:xfrm xmlns:a="http://schemas.openxmlformats.org/drawingml/2006/main">
            <a:off x="7658100" y="2543175"/>
            <a:ext cx="144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333"/>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안전 실행</a:t>
            </a:r>
          </a:p>
        </p:txBody>
      </p:sp>
      <p:sp>
        <p:nvSpPr>
          <p:cNvPr id="25" name="">
            <a:extLst xmlns:a="http://schemas.openxmlformats.org/drawingml/2006/main">
              <a:ext uri="{FF2B5EF4-FFF2-40B4-BE49-F238E27FC236}">
                <a16:creationId xmlns:a16="http://schemas.microsoft.com/office/drawing/2014/main" id="{9691EBA7-75DE-4404-9BA5-D8A9769842E4}"/>
              </a:ext>
            </a:extLst>
          </p:cNvPr>
          <p:cNvSpPr>
            <a:spLocks xmlns:a="http://schemas.openxmlformats.org/drawingml/2006/main" noGrp="1"/>
          </p:cNvSpPr>
          <p:nvPr/>
        </p:nvSpPr>
        <p:spPr>
          <a:xfrm xmlns:a="http://schemas.openxmlformats.org/drawingml/2006/main">
            <a:off x="7658100" y="2867025"/>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Python Guard</a:t>
            </a:r>
          </a:p>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필요 시 회신·승인</a:t>
            </a:r>
          </a:p>
        </p:txBody>
      </p:sp>
      <p:sp>
        <p:nvSpPr>
          <p:cNvPr id="26" name="">
            <a:extLst xmlns:a="http://schemas.openxmlformats.org/drawingml/2006/main">
              <a:ext uri="{FF2B5EF4-FFF2-40B4-BE49-F238E27FC236}">
                <a16:creationId xmlns:a16="http://schemas.microsoft.com/office/drawing/2014/main" id="{B728FA17-DCBE-451F-9E8B-271C8F4931D4}"/>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225C17E-6422-4865-A511-728A7FA5E121}"/>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0DD2C548-EB4C-4648-A98F-1359768A5403}"/>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0F6C708-C1C3-40D8-A1EE-B9156B52419A}"/>
              </a:ext>
            </a:extLst>
          </p:cNvPr>
          <p:cNvSpPr>
            <a:spLocks xmlns:a="http://schemas.openxmlformats.org/drawingml/2006/main" noGrp="1"/>
          </p:cNvSpPr>
          <p:nvPr/>
        </p:nvSpPr>
        <p:spPr>
          <a:xfrm xmlns:a="http://schemas.openxmlformats.org/drawingml/2006/main">
            <a:off x="9944100" y="2543175"/>
            <a:ext cx="144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333"/>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결과 기억</a:t>
            </a:r>
          </a:p>
        </p:txBody>
      </p:sp>
      <p:sp>
        <p:nvSpPr>
          <p:cNvPr id="30" name="">
            <a:extLst xmlns:a="http://schemas.openxmlformats.org/drawingml/2006/main">
              <a:ext uri="{FF2B5EF4-FFF2-40B4-BE49-F238E27FC236}">
                <a16:creationId xmlns:a16="http://schemas.microsoft.com/office/drawing/2014/main" id="{7A1E5CEC-5571-4C29-8685-B9572366FF74}"/>
              </a:ext>
            </a:extLst>
          </p:cNvPr>
          <p:cNvSpPr>
            <a:spLocks xmlns:a="http://schemas.openxmlformats.org/drawingml/2006/main" noGrp="1"/>
          </p:cNvSpPr>
          <p:nvPr/>
        </p:nvSpPr>
        <p:spPr>
          <a:xfrm xmlns:a="http://schemas.openxmlformats.org/drawingml/2006/main">
            <a:off x="9944100" y="2867025"/>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883"/>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Gmail 발송·후속 Mail</a:t>
            </a:r>
          </a:p>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Task·History·Trace</a:t>
            </a:r>
          </a:p>
        </p:txBody>
      </p:sp>
      <p:sp>
        <p:nvSpPr>
          <p:cNvPr id="31" name="">
            <a:extLst xmlns:a="http://schemas.openxmlformats.org/drawingml/2006/main">
              <a:ext uri="{FF2B5EF4-FFF2-40B4-BE49-F238E27FC236}">
                <a16:creationId xmlns:a16="http://schemas.microsoft.com/office/drawing/2014/main" id="{BC1B44AC-7A59-4770-90B5-61C7A6573584}"/>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E06F06E2-8923-4A89-B0F4-1A43DA51B669}"/>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C10A451F-7296-4D2B-A38E-C13448CCB705}"/>
              </a:ext>
            </a:extLst>
          </p:cNvPr>
          <p:cNvSpPr>
            <a:spLocks xmlns:a="http://schemas.openxmlformats.org/drawingml/2006/main" noGrp="1"/>
          </p:cNvSpPr>
          <p:nvPr/>
        </p:nvSpPr>
        <p:spPr>
          <a:xfrm xmlns:a="http://schemas.openxmlformats.org/drawingml/2006/main">
            <a:off x="571500" y="4295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7EC6BAF6-27F3-4809-8502-13D47E7D8452}"/>
              </a:ext>
            </a:extLst>
          </p:cNvPr>
          <p:cNvSpPr>
            <a:spLocks xmlns:a="http://schemas.openxmlformats.org/drawingml/2006/main" noGrp="1"/>
          </p:cNvSpPr>
          <p:nvPr/>
        </p:nvSpPr>
        <p:spPr>
          <a:xfrm xmlns:a="http://schemas.openxmlformats.org/drawingml/2006/main">
            <a:off x="5715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8D335F00-06B5-404C-91DE-4FB5995E083D}"/>
              </a:ext>
            </a:extLst>
          </p:cNvPr>
          <p:cNvSpPr>
            <a:spLocks xmlns:a="http://schemas.openxmlformats.org/drawingml/2006/main" noGrp="1"/>
          </p:cNvSpPr>
          <p:nvPr/>
        </p:nvSpPr>
        <p:spPr>
          <a:xfrm xmlns:a="http://schemas.openxmlformats.org/drawingml/2006/main">
            <a:off x="5715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F1AD89C2-C05D-4CC2-A2C6-4946E1F8A2EE}"/>
              </a:ext>
            </a:extLst>
          </p:cNvPr>
          <p:cNvSpPr>
            <a:spLocks xmlns:a="http://schemas.openxmlformats.org/drawingml/2006/main" noGrp="1"/>
          </p:cNvSpPr>
          <p:nvPr/>
        </p:nvSpPr>
        <p:spPr>
          <a:xfrm xmlns:a="http://schemas.openxmlformats.org/drawingml/2006/main">
            <a:off x="321945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2C7DE9F1-E307-4C87-BEB8-2841B1CFF4F3}"/>
              </a:ext>
            </a:extLst>
          </p:cNvPr>
          <p:cNvSpPr>
            <a:spLocks xmlns:a="http://schemas.openxmlformats.org/drawingml/2006/main" noGrp="1"/>
          </p:cNvSpPr>
          <p:nvPr/>
        </p:nvSpPr>
        <p:spPr>
          <a:xfrm xmlns:a="http://schemas.openxmlformats.org/drawingml/2006/main">
            <a:off x="321945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9FE8B89C-6B74-48B8-9488-3AE748EA9604}"/>
              </a:ext>
            </a:extLst>
          </p:cNvPr>
          <p:cNvSpPr>
            <a:spLocks xmlns:a="http://schemas.openxmlformats.org/drawingml/2006/main" noGrp="1"/>
          </p:cNvSpPr>
          <p:nvPr/>
        </p:nvSpPr>
        <p:spPr>
          <a:xfrm xmlns:a="http://schemas.openxmlformats.org/drawingml/2006/main">
            <a:off x="58674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20275ABF-159A-4AF8-8B0C-240B1077B4ED}"/>
              </a:ext>
            </a:extLst>
          </p:cNvPr>
          <p:cNvSpPr>
            <a:spLocks xmlns:a="http://schemas.openxmlformats.org/drawingml/2006/main" noGrp="1"/>
          </p:cNvSpPr>
          <p:nvPr/>
        </p:nvSpPr>
        <p:spPr>
          <a:xfrm xmlns:a="http://schemas.openxmlformats.org/drawingml/2006/main">
            <a:off x="58674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400DCB73-B3B5-42A6-93F9-A7B59C7D663A}"/>
              </a:ext>
            </a:extLst>
          </p:cNvPr>
          <p:cNvSpPr>
            <a:spLocks xmlns:a="http://schemas.openxmlformats.org/drawingml/2006/main" noGrp="1"/>
          </p:cNvSpPr>
          <p:nvPr/>
        </p:nvSpPr>
        <p:spPr>
          <a:xfrm xmlns:a="http://schemas.openxmlformats.org/drawingml/2006/main">
            <a:off x="8572500" y="462915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18"/>
          </a:bodyPr>
          <a:lstStyle xmlns:a="http://schemas.openxmlformats.org/drawingml/2006/main"/>
          <a:p xmlns:a="http://schemas.openxmlformats.org/drawingml/2006/main">
            <a:pPr algn="r">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보조 검증  |  pytest 179 passed  ·  중복 재조회 35/35</a:t>
            </a:r>
          </a:p>
        </p:txBody>
      </p:sp>
      <p:sp>
        <p:nvSpPr>
          <p:cNvPr id="41" name="">
            <a:extLst xmlns:a="http://schemas.openxmlformats.org/drawingml/2006/main">
              <a:ext uri="{FF2B5EF4-FFF2-40B4-BE49-F238E27FC236}">
                <a16:creationId xmlns:a16="http://schemas.microsoft.com/office/drawing/2014/main" id="{C1E3F6A2-E740-4E80-A26B-55EF75F6F2B6}"/>
              </a:ext>
            </a:extLst>
          </p:cNvPr>
          <p:cNvSpPr>
            <a:spLocks xmlns:a="http://schemas.openxmlformats.org/drawingml/2006/main" noGrp="1"/>
          </p:cNvSpPr>
          <p:nvPr/>
        </p:nvSpPr>
        <p:spPr>
          <a:xfrm xmlns:a="http://schemas.openxmlformats.org/drawingml/2006/main">
            <a:off x="8572500" y="4914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524"/>
          </a:bodyPr>
          <a:lstStyle xmlns:a="http://schemas.openxmlformats.org/drawingml/2006/main"/>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Reply Planning 3/3  ·  Draft 1/1</a:t>
            </a:r>
          </a:p>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사용자 승인 실제 Gmail 발송 1건</a:t>
            </a:r>
          </a:p>
        </p:txBody>
      </p:sp>
      <p:sp>
        <p:nvSpPr>
          <p:cNvPr id="42" name="">
            <a:extLst xmlns:a="http://schemas.openxmlformats.org/drawingml/2006/main">
              <a:ext uri="{FF2B5EF4-FFF2-40B4-BE49-F238E27FC236}">
                <a16:creationId xmlns:a16="http://schemas.microsoft.com/office/drawing/2014/main" id="{F25336FA-DEA1-4F80-A73F-CA8B328BE30C}"/>
              </a:ext>
            </a:extLst>
          </p:cNvPr>
          <p:cNvSpPr>
            <a:spLocks xmlns:a="http://schemas.openxmlformats.org/drawingml/2006/main" noGrp="1"/>
          </p:cNvSpPr>
          <p:nvPr/>
        </p:nvSpPr>
        <p:spPr>
          <a:xfrm xmlns:a="http://schemas.openxmlformats.org/drawingml/2006/main">
            <a:off x="8572500" y="53149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r">
              <a:defRPr sz="900" b="0">
                <a:solidFill>
                  <a:srgbClr val="657187"/>
                </a:solidFill>
                <a:latin typeface="Malgun Gothic"/>
                <a:ea typeface="Malgun Gothic"/>
                <a:cs typeface="Malgun Gothic"/>
              </a:defRPr>
            </a:pPr>
            <a:r>
              <a:rPr sz="900" b="0">
                <a:solidFill>
                  <a:srgbClr val="657187"/>
                </a:solidFill>
                <a:latin typeface="Malgun Gothic"/>
                <a:ea typeface="Malgun Gothic"/>
                <a:cs typeface="Malgun Gothic"/>
              </a:rPr>
              <a:t>사용자 체감 시간은 미측정입니다.</a:t>
            </a:r>
          </a:p>
        </p:txBody>
      </p:sp>
      <p:sp>
        <p:nvSpPr>
          <p:cNvPr id="43" name="">
            <a:extLst xmlns:a="http://schemas.openxmlformats.org/drawingml/2006/main">
              <a:ext uri="{FF2B5EF4-FFF2-40B4-BE49-F238E27FC236}">
                <a16:creationId xmlns:a16="http://schemas.microsoft.com/office/drawing/2014/main" id="{AAF5A1D1-94F9-4E93-9385-31E85616933E}"/>
              </a:ext>
            </a:extLst>
          </p:cNvPr>
          <p:cNvSpPr>
            <a:spLocks xmlns:a="http://schemas.openxmlformats.org/drawingml/2006/main" noGrp="1"/>
          </p:cNvSpPr>
          <p:nvPr/>
        </p:nvSpPr>
        <p:spPr>
          <a:xfrm xmlns:a="http://schemas.openxmlformats.org/drawingml/2006/main">
            <a:off x="571500" y="5562600"/>
            <a:ext cx="11049000" cy="457200"/>
          </a:xfrm>
          <a:prstGeom xmlns:a="http://schemas.openxmlformats.org/drawingml/2006/main" prst="roundRect">
            <a:avLst>
              <a:gd name="adj" fmla="val 16667"/>
            </a:avLst>
          </a:prstGeom>
          <a:solidFill xmlns:a="http://schemas.openxmlformats.org/drawingml/2006/main">
            <a:srgbClr val="EFF5FD"/>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05A08259-9FD5-4685-BD5B-654291A16348}"/>
              </a:ext>
            </a:extLst>
          </p:cNvPr>
          <p:cNvSpPr>
            <a:spLocks xmlns:a="http://schemas.openxmlformats.org/drawingml/2006/main" noGrp="1"/>
          </p:cNvSpPr>
          <p:nvPr/>
        </p:nvSpPr>
        <p:spPr>
          <a:xfrm xmlns:a="http://schemas.openxmlformats.org/drawingml/2006/main">
            <a:off x="781050" y="56483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핵심 메시지  |  불확실한 업무 관계와 필요한 회신 방식은 Agent가 판단하고, Python과 사용자가 실행 위험을 통제합니다.</a:t>
            </a:r>
          </a:p>
        </p:txBody>
      </p:sp>
    </p:spTree>
    <p:extLst>
      <p:ext uri="{BB962C8B-B14F-4D97-AF65-F5344CB8AC3E}">
        <p14:creationId xmlns:p14="http://schemas.microsoft.com/office/powerpoint/2010/main" val="11031028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3752D432-E62A-40A4-B878-7B1F6340AF00}"/>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3D3150-CCF2-434A-868A-7F7CAF44DC9F}"/>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15F0EDC9-DD9A-48A2-B25F-E7D8294B5CF4}"/>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E859399-3BF0-4155-B5BA-CDB0183D30EB}"/>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C401FFA7-8CF2-4550-8B1E-9A67261309A8}"/>
              </a:ext>
            </a:extLst>
          </p:cNvPr>
          <p:cNvSpPr>
            <a:spLocks xmlns:a="http://schemas.openxmlformats.org/drawingml/2006/main" noGrp="1"/>
          </p:cNvSpPr>
          <p:nvPr/>
        </p:nvSpPr>
        <p:spPr>
          <a:xfrm xmlns:a="http://schemas.openxmlformats.org/drawingml/2006/main">
            <a:off x="571500" y="12001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769E0"/>
                </a:solidFill>
                <a:latin typeface="Malgun Gothic"/>
                <a:ea typeface="Malgun Gothic"/>
                <a:cs typeface="Malgun Gothic"/>
              </a:defRPr>
            </a:pPr>
            <a:r>
              <a:rPr sz="1575" b="1">
                <a:solidFill>
                  <a:srgbClr val="1769E0"/>
                </a:solidFill>
                <a:latin typeface="Malgun Gothic"/>
                <a:ea typeface="Malgun Gothic"/>
                <a:cs typeface="Malgun Gothic"/>
              </a:rPr>
              <a:t>결정론적 경로와 Agent 판단 경로를 함께 사용하는 단일 Agent 구조</a:t>
            </a:r>
          </a:p>
        </p:txBody>
      </p:sp>
      <p:sp>
        <p:nvSpPr>
          <p:cNvPr id="6" name="">
            <a:extLst xmlns:a="http://schemas.openxmlformats.org/drawingml/2006/main">
              <a:ext uri="{FF2B5EF4-FFF2-40B4-BE49-F238E27FC236}">
                <a16:creationId xmlns:a16="http://schemas.microsoft.com/office/drawing/2014/main" id="{D20F9289-DBE4-4E21-A29A-45C9491CB343}"/>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16D37CC9-282A-4B26-A80D-EC770D0EC0E4}"/>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B776C38-B381-4AC2-A524-95A6E2895ABE}"/>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7778F9A3-162A-45CC-842C-15F822859CD0}"/>
              </a:ext>
            </a:extLst>
          </p:cNvPr>
          <p:cNvSpPr>
            <a:spLocks xmlns:a="http://schemas.openxmlformats.org/drawingml/2006/main" noGrp="1"/>
          </p:cNvSpPr>
          <p:nvPr/>
        </p:nvSpPr>
        <p:spPr>
          <a:xfrm xmlns:a="http://schemas.openxmlformats.org/drawingml/2006/main">
            <a:off x="74295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3AE4C20D-4881-473A-A8AC-7A4BCF96523F}"/>
              </a:ext>
            </a:extLst>
          </p:cNvPr>
          <p:cNvSpPr>
            <a:spLocks xmlns:a="http://schemas.openxmlformats.org/drawingml/2006/main" noGrp="1"/>
          </p:cNvSpPr>
          <p:nvPr/>
        </p:nvSpPr>
        <p:spPr>
          <a:xfrm xmlns:a="http://schemas.openxmlformats.org/drawingml/2006/main">
            <a:off x="74295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E831492E-996E-4D8B-8D45-A276E2D3599E}"/>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68086F-50CF-4FDF-A04E-F34432398CD5}"/>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B2D57267-688E-4EEA-8178-4E608710220C}"/>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E9E32F-1279-43EB-8F43-EECF7FF3A003}"/>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A75F5F9E-BBAB-4B21-A882-0E0B5E0AAEA3}"/>
              </a:ext>
            </a:extLst>
          </p:cNvPr>
          <p:cNvSpPr>
            <a:spLocks xmlns:a="http://schemas.openxmlformats.org/drawingml/2006/main" noGrp="1"/>
          </p:cNvSpPr>
          <p:nvPr/>
        </p:nvSpPr>
        <p:spPr>
          <a:xfrm xmlns:a="http://schemas.openxmlformats.org/drawingml/2006/main">
            <a:off x="255270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7325A5E5-AC75-4111-B5CA-19837898AA53}"/>
              </a:ext>
            </a:extLst>
          </p:cNvPr>
          <p:cNvSpPr>
            <a:spLocks xmlns:a="http://schemas.openxmlformats.org/drawingml/2006/main" noGrp="1"/>
          </p:cNvSpPr>
          <p:nvPr/>
        </p:nvSpPr>
        <p:spPr>
          <a:xfrm xmlns:a="http://schemas.openxmlformats.org/drawingml/2006/main">
            <a:off x="255270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3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28308685-2323-4175-80ED-8FFC73A62A81}"/>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11493FF-057B-4C3B-B047-E67CC36E76D3}"/>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859E6A83-C1C7-4099-A579-122CF7928A3B}"/>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3876BEE-C939-4E48-BB57-330D8B5FF02D}"/>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0BDD2E05-BAC5-4E7E-8849-A4B9915A8FFC}"/>
              </a:ext>
            </a:extLst>
          </p:cNvPr>
          <p:cNvSpPr>
            <a:spLocks xmlns:a="http://schemas.openxmlformats.org/drawingml/2006/main" noGrp="1"/>
          </p:cNvSpPr>
          <p:nvPr/>
        </p:nvSpPr>
        <p:spPr>
          <a:xfrm xmlns:a="http://schemas.openxmlformats.org/drawingml/2006/main">
            <a:off x="436245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3547"/>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AAF78B8B-B77F-44FF-A3EB-A9EAD4534427}"/>
              </a:ext>
            </a:extLst>
          </p:cNvPr>
          <p:cNvSpPr>
            <a:spLocks xmlns:a="http://schemas.openxmlformats.org/drawingml/2006/main" noGrp="1"/>
          </p:cNvSpPr>
          <p:nvPr/>
        </p:nvSpPr>
        <p:spPr>
          <a:xfrm xmlns:a="http://schemas.openxmlformats.org/drawingml/2006/main">
            <a:off x="436245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관계·Action 제안</a:t>
            </a:r>
          </a:p>
        </p:txBody>
      </p:sp>
      <p:sp>
        <p:nvSpPr>
          <p:cNvPr id="23" name="">
            <a:extLst xmlns:a="http://schemas.openxmlformats.org/drawingml/2006/main">
              <a:ext uri="{FF2B5EF4-FFF2-40B4-BE49-F238E27FC236}">
                <a16:creationId xmlns:a16="http://schemas.microsoft.com/office/drawing/2014/main" id="{BAC42BC7-8797-431F-ACA9-7159B88C6DA3}"/>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3DD8B25-51C5-4FBA-B1F0-9643719CB6C7}"/>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5E5605A2-0D96-4A54-8A27-038DFBEE744A}"/>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8AE1BEF-60D2-49BF-B3C9-51203DC9E269}"/>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CCA7D8B4-11A1-4CD6-8E57-A7DF962B94D7}"/>
              </a:ext>
            </a:extLst>
          </p:cNvPr>
          <p:cNvSpPr>
            <a:spLocks xmlns:a="http://schemas.openxmlformats.org/drawingml/2006/main" noGrp="1"/>
          </p:cNvSpPr>
          <p:nvPr/>
        </p:nvSpPr>
        <p:spPr>
          <a:xfrm xmlns:a="http://schemas.openxmlformats.org/drawingml/2006/main">
            <a:off x="617220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0A6F9DB0-5540-49AD-B520-4382840B97AA}"/>
              </a:ext>
            </a:extLst>
          </p:cNvPr>
          <p:cNvSpPr>
            <a:spLocks xmlns:a="http://schemas.openxmlformats.org/drawingml/2006/main" noGrp="1"/>
          </p:cNvSpPr>
          <p:nvPr/>
        </p:nvSpPr>
        <p:spPr>
          <a:xfrm xmlns:a="http://schemas.openxmlformats.org/drawingml/2006/main">
            <a:off x="617220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646"/>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7F0DC953-10C5-4258-B651-7FD5519F4999}"/>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998C52ED-72C5-4E91-A999-32D3806C17D1}"/>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6AEA5EFF-3F6D-43C4-9DEC-D618AFF37EC9}"/>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62B96BF6-01AB-43A6-AED7-1128F8517F8B}"/>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D7B9C0B5-3F1E-4460-80CA-CA1D916667D9}"/>
              </a:ext>
            </a:extLst>
          </p:cNvPr>
          <p:cNvSpPr>
            <a:spLocks xmlns:a="http://schemas.openxmlformats.org/drawingml/2006/main" noGrp="1"/>
          </p:cNvSpPr>
          <p:nvPr/>
        </p:nvSpPr>
        <p:spPr>
          <a:xfrm xmlns:a="http://schemas.openxmlformats.org/drawingml/2006/main">
            <a:off x="798195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097E1479-F147-4F9F-B317-0FCEB6EE1B6D}"/>
              </a:ext>
            </a:extLst>
          </p:cNvPr>
          <p:cNvSpPr>
            <a:spLocks xmlns:a="http://schemas.openxmlformats.org/drawingml/2006/main" noGrp="1"/>
          </p:cNvSpPr>
          <p:nvPr/>
        </p:nvSpPr>
        <p:spPr>
          <a:xfrm xmlns:a="http://schemas.openxmlformats.org/drawingml/2006/main">
            <a:off x="798195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95913269-915E-4EDB-85A3-005E231BD490}"/>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49CA4AD-1B00-46ED-BE4F-149DD6CDDB31}"/>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3C12EAC3-5683-464B-8A05-4AA52A8F14EE}"/>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5C105674-31E1-4A42-894C-245CFF6A6C8C}"/>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08C8CCD3-AFA9-4228-A1B9-781B64CD3A44}"/>
              </a:ext>
            </a:extLst>
          </p:cNvPr>
          <p:cNvSpPr>
            <a:spLocks xmlns:a="http://schemas.openxmlformats.org/drawingml/2006/main" noGrp="1"/>
          </p:cNvSpPr>
          <p:nvPr/>
        </p:nvSpPr>
        <p:spPr>
          <a:xfrm xmlns:a="http://schemas.openxmlformats.org/drawingml/2006/main">
            <a:off x="9791700" y="2343150"/>
            <a:ext cx="1181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864"/>
          </a:bodyPr>
          <a:lstStyle xmlns:a="http://schemas.openxmlformats.org/drawingml/2006/main"/>
          <a:p xmlns:a="http://schemas.openxmlformats.org/drawingml/2006/main">
            <a:pPr algn="l">
              <a:defRPr sz="1350" b="1">
                <a:solidFill>
                  <a:srgbClr val="10243E"/>
                </a:solidFill>
                <a:latin typeface="Malgun Gothic"/>
                <a:ea typeface="Malgun Gothic"/>
                <a:cs typeface="Malgun Gothic"/>
              </a:defRPr>
            </a:pPr>
            <a:r>
              <a:rPr sz="1350" b="1">
                <a:solidFill>
                  <a:srgbClr val="10243E"/>
                </a:solidFill>
                <a:latin typeface="Malgun Gothic"/>
                <a:ea typeface="Malgun Gothic"/>
                <a:cs typeface="Malgun Gothic"/>
              </a:rPr>
              <a:t>Review &amp; Trace</a:t>
            </a:r>
          </a:p>
        </p:txBody>
      </p:sp>
      <p:sp>
        <p:nvSpPr>
          <p:cNvPr id="40" name="">
            <a:extLst xmlns:a="http://schemas.openxmlformats.org/drawingml/2006/main">
              <a:ext uri="{FF2B5EF4-FFF2-40B4-BE49-F238E27FC236}">
                <a16:creationId xmlns:a16="http://schemas.microsoft.com/office/drawing/2014/main" id="{05CA5F1F-B986-42B9-BEA6-B1E79557D228}"/>
              </a:ext>
            </a:extLst>
          </p:cNvPr>
          <p:cNvSpPr>
            <a:spLocks xmlns:a="http://schemas.openxmlformats.org/drawingml/2006/main" noGrp="1"/>
          </p:cNvSpPr>
          <p:nvPr/>
        </p:nvSpPr>
        <p:spPr>
          <a:xfrm xmlns:a="http://schemas.openxmlformats.org/drawingml/2006/main">
            <a:off x="9791700" y="2647950"/>
            <a:ext cx="1181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1996"/>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사용자 확인·Dashboard</a:t>
            </a:r>
          </a:p>
        </p:txBody>
      </p:sp>
      <p:sp>
        <p:nvSpPr>
          <p:cNvPr id="41" name="">
            <a:extLst xmlns:a="http://schemas.openxmlformats.org/drawingml/2006/main">
              <a:ext uri="{FF2B5EF4-FFF2-40B4-BE49-F238E27FC236}">
                <a16:creationId xmlns:a16="http://schemas.microsoft.com/office/drawing/2014/main" id="{945FFE53-5B77-4854-B5BD-EE4FCF72EA37}"/>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BA6F91B4-B821-40A2-B81E-E7EC0A527894}"/>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B2D6863F-224E-4496-AB72-1B9685AEAEB8}"/>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A0B86241-35B7-4FF7-A1B8-8368ACB94A71}"/>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RAG Context로 관계·대상·Action 제안</a:t>
            </a:r>
          </a:p>
        </p:txBody>
      </p:sp>
      <p:sp>
        <p:nvSpPr>
          <p:cNvPr id="45" name="">
            <a:extLst xmlns:a="http://schemas.openxmlformats.org/drawingml/2006/main">
              <a:ext uri="{FF2B5EF4-FFF2-40B4-BE49-F238E27FC236}">
                <a16:creationId xmlns:a16="http://schemas.microsoft.com/office/drawing/2014/main" id="{DA43D1D0-01B7-4D9B-9FEC-862BFCEF0E19}"/>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705C96CC-7900-446C-A77C-B79B10BA68A7}"/>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04D8FA94-E26B-4F10-A0D8-EB36E71FEAAB}"/>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BE0A1A5A-03CC-4D63-A3D8-38B8D214CF53}"/>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87CB1295-8017-41FD-BA33-9BCC316FAB9B}"/>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5D1206C2-9061-4DBC-8939-CBDCD283EA0D}"/>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A4C68966-9589-49DD-90F0-0EE67862850B}"/>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6CC079AC-456B-4FBA-95AC-138494547978}"/>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446E9909-844B-483F-894C-BAB861630448}"/>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ID·Intent·상태 전이·중요 변경을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LLM과 DB 실행 권한을 분리</a:t>
            </a:r>
          </a:p>
        </p:txBody>
      </p:sp>
      <p:sp>
        <p:nvSpPr>
          <p:cNvPr id="54" name="">
            <a:extLst xmlns:a="http://schemas.openxmlformats.org/drawingml/2006/main">
              <a:ext uri="{FF2B5EF4-FFF2-40B4-BE49-F238E27FC236}">
                <a16:creationId xmlns:a16="http://schemas.microsoft.com/office/drawing/2014/main" id="{C0C23343-69CB-4F33-B156-BCAC30ACDB2B}"/>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6E61DA6E-3F5E-4642-B7C3-8F289177DA82}"/>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20493388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4DC01C66-16E9-4795-AFBF-DAC64CDD36DC}"/>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08EA6-2ADD-4FBD-8A13-C4ECD992098F}"/>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E87120EE-129E-467E-87DD-89AD87FFFB59}"/>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DF7FAB7-FF12-41AD-8D00-C933B71FD508}"/>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F30A85CD-6D68-4F87-921B-E51AF6D36691}"/>
              </a:ext>
            </a:extLst>
          </p:cNvPr>
          <p:cNvSpPr>
            <a:spLocks xmlns:a="http://schemas.openxmlformats.org/drawingml/2006/main" noGrp="1"/>
          </p:cNvSpPr>
          <p:nvPr/>
        </p:nvSpPr>
        <p:spPr>
          <a:xfrm xmlns:a="http://schemas.openxmlformats.org/drawingml/2006/main">
            <a:off x="571500" y="1257300"/>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Workflow만으로 부족했는가</a:t>
            </a:r>
          </a:p>
        </p:txBody>
      </p:sp>
      <p:sp>
        <p:nvSpPr>
          <p:cNvPr id="6" name="">
            <a:extLst xmlns:a="http://schemas.openxmlformats.org/drawingml/2006/main">
              <a:ext uri="{FF2B5EF4-FFF2-40B4-BE49-F238E27FC236}">
                <a16:creationId xmlns:a16="http://schemas.microsoft.com/office/drawing/2014/main" id="{9EBF2DEB-31B1-43BD-9D64-4CDB7112DD49}"/>
              </a:ext>
            </a:extLst>
          </p:cNvPr>
          <p:cNvSpPr>
            <a:spLocks xmlns:a="http://schemas.openxmlformats.org/drawingml/2006/main" noGrp="1"/>
          </p:cNvSpPr>
          <p:nvPr/>
        </p:nvSpPr>
        <p:spPr>
          <a:xfrm xmlns:a="http://schemas.openxmlformats.org/drawingml/2006/main">
            <a:off x="571500" y="1600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2033"/>
                </a:solidFill>
                <a:latin typeface="Malgun Gothic"/>
                <a:ea typeface="Malgun Gothic"/>
                <a:cs typeface="Malgun Gothic"/>
              </a:defRPr>
            </a:pPr>
            <a:r>
              <a:rPr sz="1350" b="0">
                <a:solidFill>
                  <a:srgbClr val="172033"/>
                </a:solidFill>
                <a:latin typeface="Malgun Gothic"/>
                <a:ea typeface="Malgun Gothic"/>
                <a:cs typeface="Malgun Gothic"/>
              </a:rPr>
              <a:t>동일 업무도 Thread와 표현이 달라집니다. 제목 Token 규칙만으로는 기존 Task 연결과 신규 Task 생성을 구분하기 어렵습니다.</a:t>
            </a:r>
          </a:p>
        </p:txBody>
      </p:sp>
      <p:sp>
        <p:nvSpPr>
          <p:cNvPr id="7" name="">
            <a:extLst xmlns:a="http://schemas.openxmlformats.org/drawingml/2006/main">
              <a:ext uri="{FF2B5EF4-FFF2-40B4-BE49-F238E27FC236}">
                <a16:creationId xmlns:a16="http://schemas.microsoft.com/office/drawing/2014/main" id="{8A985CFA-6D0B-4587-9048-A2B2572165C9}"/>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7ABF5E-3277-4681-8CA4-CF0F1EAC0C3C}"/>
              </a:ext>
            </a:extLst>
          </p:cNvPr>
          <p:cNvSpPr>
            <a:spLocks xmlns:a="http://schemas.openxmlformats.org/drawingml/2006/main" noGrp="1"/>
          </p:cNvSpPr>
          <p:nvPr/>
        </p:nvSpPr>
        <p:spPr>
          <a:xfrm xmlns:a="http://schemas.openxmlformats.org/drawingml/2006/main">
            <a:off x="571500" y="2400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FECAC424-FB32-4321-895B-5C4819962D9A}"/>
              </a:ext>
            </a:extLst>
          </p:cNvPr>
          <p:cNvSpPr>
            <a:spLocks xmlns:a="http://schemas.openxmlformats.org/drawingml/2006/main" noGrp="1"/>
          </p:cNvSpPr>
          <p:nvPr/>
        </p:nvSpPr>
        <p:spPr>
          <a:xfrm xmlns:a="http://schemas.openxmlformats.org/drawingml/2006/main">
            <a:off x="571500" y="27813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FBC4A1F-BBA0-416B-8175-7FDEBAA5346D}"/>
              </a:ext>
            </a:extLst>
          </p:cNvPr>
          <p:cNvSpPr>
            <a:spLocks xmlns:a="http://schemas.openxmlformats.org/drawingml/2006/main" noGrp="1"/>
          </p:cNvSpPr>
          <p:nvPr/>
        </p:nvSpPr>
        <p:spPr>
          <a:xfrm xmlns:a="http://schemas.openxmlformats.org/drawingml/2006/main">
            <a:off x="609600" y="28003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1" name="">
            <a:extLst xmlns:a="http://schemas.openxmlformats.org/drawingml/2006/main">
              <a:ext uri="{FF2B5EF4-FFF2-40B4-BE49-F238E27FC236}">
                <a16:creationId xmlns:a16="http://schemas.microsoft.com/office/drawing/2014/main" id="{3FFE41B4-30A1-41B8-A1C5-5F145B9AA014}"/>
              </a:ext>
            </a:extLst>
          </p:cNvPr>
          <p:cNvSpPr>
            <a:spLocks xmlns:a="http://schemas.openxmlformats.org/drawingml/2006/main" noGrp="1"/>
          </p:cNvSpPr>
          <p:nvPr/>
        </p:nvSpPr>
        <p:spPr>
          <a:xfrm xmlns:a="http://schemas.openxmlformats.org/drawingml/2006/main">
            <a:off x="1104900" y="27813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2" name="">
            <a:extLst xmlns:a="http://schemas.openxmlformats.org/drawingml/2006/main">
              <a:ext uri="{FF2B5EF4-FFF2-40B4-BE49-F238E27FC236}">
                <a16:creationId xmlns:a16="http://schemas.microsoft.com/office/drawing/2014/main" id="{1CC5E17B-A2F0-470D-ABEB-B3D81EBA643C}"/>
              </a:ext>
            </a:extLst>
          </p:cNvPr>
          <p:cNvSpPr>
            <a:spLocks xmlns:a="http://schemas.openxmlformats.org/drawingml/2006/main" noGrp="1"/>
          </p:cNvSpPr>
          <p:nvPr/>
        </p:nvSpPr>
        <p:spPr>
          <a:xfrm xmlns:a="http://schemas.openxmlformats.org/drawingml/2006/main">
            <a:off x="2343150" y="27813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3" name="">
            <a:extLst xmlns:a="http://schemas.openxmlformats.org/drawingml/2006/main">
              <a:ext uri="{FF2B5EF4-FFF2-40B4-BE49-F238E27FC236}">
                <a16:creationId xmlns:a16="http://schemas.microsoft.com/office/drawing/2014/main" id="{2739638D-AC2D-4480-A4BC-90024BDAB6EB}"/>
              </a:ext>
            </a:extLst>
          </p:cNvPr>
          <p:cNvSpPr>
            <a:spLocks xmlns:a="http://schemas.openxmlformats.org/drawingml/2006/main" noGrp="1"/>
          </p:cNvSpPr>
          <p:nvPr/>
        </p:nvSpPr>
        <p:spPr>
          <a:xfrm xmlns:a="http://schemas.openxmlformats.org/drawingml/2006/main">
            <a:off x="571500" y="32385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7300FE-53AB-4F2F-8B19-559B5ED14595}"/>
              </a:ext>
            </a:extLst>
          </p:cNvPr>
          <p:cNvSpPr>
            <a:spLocks xmlns:a="http://schemas.openxmlformats.org/drawingml/2006/main" noGrp="1"/>
          </p:cNvSpPr>
          <p:nvPr/>
        </p:nvSpPr>
        <p:spPr>
          <a:xfrm xmlns:a="http://schemas.openxmlformats.org/drawingml/2006/main">
            <a:off x="609600" y="32575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5" name="">
            <a:extLst xmlns:a="http://schemas.openxmlformats.org/drawingml/2006/main">
              <a:ext uri="{FF2B5EF4-FFF2-40B4-BE49-F238E27FC236}">
                <a16:creationId xmlns:a16="http://schemas.microsoft.com/office/drawing/2014/main" id="{B10DA750-41FD-4C9A-8A2C-FF58DC193BAC}"/>
              </a:ext>
            </a:extLst>
          </p:cNvPr>
          <p:cNvSpPr>
            <a:spLocks xmlns:a="http://schemas.openxmlformats.org/drawingml/2006/main" noGrp="1"/>
          </p:cNvSpPr>
          <p:nvPr/>
        </p:nvSpPr>
        <p:spPr>
          <a:xfrm xmlns:a="http://schemas.openxmlformats.org/drawingml/2006/main">
            <a:off x="1104900" y="32385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판단</a:t>
            </a:r>
          </a:p>
        </p:txBody>
      </p:sp>
      <p:sp>
        <p:nvSpPr>
          <p:cNvPr id="16" name="">
            <a:extLst xmlns:a="http://schemas.openxmlformats.org/drawingml/2006/main">
              <a:ext uri="{FF2B5EF4-FFF2-40B4-BE49-F238E27FC236}">
                <a16:creationId xmlns:a16="http://schemas.microsoft.com/office/drawing/2014/main" id="{2B6A42BA-BD09-48C6-894C-43CD429567B6}"/>
              </a:ext>
            </a:extLst>
          </p:cNvPr>
          <p:cNvSpPr>
            <a:spLocks xmlns:a="http://schemas.openxmlformats.org/drawingml/2006/main" noGrp="1"/>
          </p:cNvSpPr>
          <p:nvPr/>
        </p:nvSpPr>
        <p:spPr>
          <a:xfrm xmlns:a="http://schemas.openxmlformats.org/drawingml/2006/main">
            <a:off x="2343150" y="32385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관계를 고르고 생성·갱신·연결·회신 대기·완료·사용자 확인·무시 중 하나를 제안</a:t>
            </a:r>
          </a:p>
        </p:txBody>
      </p:sp>
      <p:sp>
        <p:nvSpPr>
          <p:cNvPr id="17" name="">
            <a:extLst xmlns:a="http://schemas.openxmlformats.org/drawingml/2006/main">
              <a:ext uri="{FF2B5EF4-FFF2-40B4-BE49-F238E27FC236}">
                <a16:creationId xmlns:a16="http://schemas.microsoft.com/office/drawing/2014/main" id="{BE5FCEEE-3E0B-452E-8BBD-2404921BFF77}"/>
              </a:ext>
            </a:extLst>
          </p:cNvPr>
          <p:cNvSpPr>
            <a:spLocks xmlns:a="http://schemas.openxmlformats.org/drawingml/2006/main" noGrp="1"/>
          </p:cNvSpPr>
          <p:nvPr/>
        </p:nvSpPr>
        <p:spPr>
          <a:xfrm xmlns:a="http://schemas.openxmlformats.org/drawingml/2006/main">
            <a:off x="571500" y="369570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C08EED7-28D8-4BB9-AC59-3ADA95033F7B}"/>
              </a:ext>
            </a:extLst>
          </p:cNvPr>
          <p:cNvSpPr>
            <a:spLocks xmlns:a="http://schemas.openxmlformats.org/drawingml/2006/main" noGrp="1"/>
          </p:cNvSpPr>
          <p:nvPr/>
        </p:nvSpPr>
        <p:spPr>
          <a:xfrm xmlns:a="http://schemas.openxmlformats.org/drawingml/2006/main">
            <a:off x="609600" y="37147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6B28FBE2-E2D3-4081-B0A7-3EA4211AA32F}"/>
              </a:ext>
            </a:extLst>
          </p:cNvPr>
          <p:cNvSpPr>
            <a:spLocks xmlns:a="http://schemas.openxmlformats.org/drawingml/2006/main" noGrp="1"/>
          </p:cNvSpPr>
          <p:nvPr/>
        </p:nvSpPr>
        <p:spPr>
          <a:xfrm xmlns:a="http://schemas.openxmlformats.org/drawingml/2006/main">
            <a:off x="1104900" y="36957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0" name="">
            <a:extLst xmlns:a="http://schemas.openxmlformats.org/drawingml/2006/main">
              <a:ext uri="{FF2B5EF4-FFF2-40B4-BE49-F238E27FC236}">
                <a16:creationId xmlns:a16="http://schemas.microsoft.com/office/drawing/2014/main" id="{10FBB889-5991-4E3C-88F2-A0AA3BAAEDC4}"/>
              </a:ext>
            </a:extLst>
          </p:cNvPr>
          <p:cNvSpPr>
            <a:spLocks xmlns:a="http://schemas.openxmlformats.org/drawingml/2006/main" noGrp="1"/>
          </p:cNvSpPr>
          <p:nvPr/>
        </p:nvSpPr>
        <p:spPr>
          <a:xfrm xmlns:a="http://schemas.openxmlformats.org/drawingml/2006/main">
            <a:off x="2343150" y="36957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AMBIGUOUS이거나 신뢰도 0.75 미만이면 Query Rewrite 후 재검색을 최대 1회 수행</a:t>
            </a:r>
          </a:p>
        </p:txBody>
      </p:sp>
      <p:sp>
        <p:nvSpPr>
          <p:cNvPr id="21" name="">
            <a:extLst xmlns:a="http://schemas.openxmlformats.org/drawingml/2006/main">
              <a:ext uri="{FF2B5EF4-FFF2-40B4-BE49-F238E27FC236}">
                <a16:creationId xmlns:a16="http://schemas.microsoft.com/office/drawing/2014/main" id="{F9210573-E247-4719-944C-2723AB839B90}"/>
              </a:ext>
            </a:extLst>
          </p:cNvPr>
          <p:cNvSpPr>
            <a:spLocks xmlns:a="http://schemas.openxmlformats.org/drawingml/2006/main" noGrp="1"/>
          </p:cNvSpPr>
          <p:nvPr/>
        </p:nvSpPr>
        <p:spPr>
          <a:xfrm xmlns:a="http://schemas.openxmlformats.org/drawingml/2006/main">
            <a:off x="571500" y="41529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FC879F1-6FB5-49FF-BEA2-2AE498B47143}"/>
              </a:ext>
            </a:extLst>
          </p:cNvPr>
          <p:cNvSpPr>
            <a:spLocks xmlns:a="http://schemas.openxmlformats.org/drawingml/2006/main" noGrp="1"/>
          </p:cNvSpPr>
          <p:nvPr/>
        </p:nvSpPr>
        <p:spPr>
          <a:xfrm xmlns:a="http://schemas.openxmlformats.org/drawingml/2006/main">
            <a:off x="609600" y="41719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3" name="">
            <a:extLst xmlns:a="http://schemas.openxmlformats.org/drawingml/2006/main">
              <a:ext uri="{FF2B5EF4-FFF2-40B4-BE49-F238E27FC236}">
                <a16:creationId xmlns:a16="http://schemas.microsoft.com/office/drawing/2014/main" id="{CD913219-6504-4483-B3CE-58BD6A726E92}"/>
              </a:ext>
            </a:extLst>
          </p:cNvPr>
          <p:cNvSpPr>
            <a:spLocks xmlns:a="http://schemas.openxmlformats.org/drawingml/2006/main" noGrp="1"/>
          </p:cNvSpPr>
          <p:nvPr/>
        </p:nvSpPr>
        <p:spPr>
          <a:xfrm xmlns:a="http://schemas.openxmlformats.org/drawingml/2006/main">
            <a:off x="1104900" y="41529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24" name="">
            <a:extLst xmlns:a="http://schemas.openxmlformats.org/drawingml/2006/main">
              <a:ext uri="{FF2B5EF4-FFF2-40B4-BE49-F238E27FC236}">
                <a16:creationId xmlns:a16="http://schemas.microsoft.com/office/drawing/2014/main" id="{22EFFACD-3AFE-4535-8314-A311E684AF09}"/>
              </a:ext>
            </a:extLst>
          </p:cNvPr>
          <p:cNvSpPr>
            <a:spLocks xmlns:a="http://schemas.openxmlformats.org/drawingml/2006/main" noGrp="1"/>
          </p:cNvSpPr>
          <p:nvPr/>
        </p:nvSpPr>
        <p:spPr>
          <a:xfrm xmlns:a="http://schemas.openxmlformats.org/drawingml/2006/main">
            <a:off x="2343150" y="41529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25" name="">
            <a:extLst xmlns:a="http://schemas.openxmlformats.org/drawingml/2006/main">
              <a:ext uri="{FF2B5EF4-FFF2-40B4-BE49-F238E27FC236}">
                <a16:creationId xmlns:a16="http://schemas.microsoft.com/office/drawing/2014/main" id="{D8CF0486-E226-44D8-B5E1-6ED6B7118FCE}"/>
              </a:ext>
            </a:extLst>
          </p:cNvPr>
          <p:cNvSpPr>
            <a:spLocks xmlns:a="http://schemas.openxmlformats.org/drawingml/2006/main" noGrp="1"/>
          </p:cNvSpPr>
          <p:nvPr/>
        </p:nvSpPr>
        <p:spPr>
          <a:xfrm xmlns:a="http://schemas.openxmlformats.org/drawingml/2006/main">
            <a:off x="571500" y="47625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Agent 전용 Live 검증  |  Task Context 3/3  ·  Reply Planning 3/3  ·  Draft 1/1</a:t>
            </a:r>
          </a:p>
        </p:txBody>
      </p:sp>
      <p:sp>
        <p:nvSpPr>
          <p:cNvPr id="26" name="">
            <a:extLst xmlns:a="http://schemas.openxmlformats.org/drawingml/2006/main">
              <a:ext uri="{FF2B5EF4-FFF2-40B4-BE49-F238E27FC236}">
                <a16:creationId xmlns:a16="http://schemas.microsoft.com/office/drawing/2014/main" id="{D0D7E04A-D00A-47D6-AF69-B6187B468990}"/>
              </a:ext>
            </a:extLst>
          </p:cNvPr>
          <p:cNvSpPr>
            <a:spLocks xmlns:a="http://schemas.openxmlformats.org/drawingml/2006/main" noGrp="1"/>
          </p:cNvSpPr>
          <p:nvPr/>
        </p:nvSpPr>
        <p:spPr>
          <a:xfrm xmlns:a="http://schemas.openxmlformats.org/drawingml/2006/main">
            <a:off x="571500" y="51435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LIVE-RAG-01</a:t>
            </a:r>
          </a:p>
        </p:txBody>
      </p:sp>
      <p:sp>
        <p:nvSpPr>
          <p:cNvPr id="27" name="">
            <a:extLst xmlns:a="http://schemas.openxmlformats.org/drawingml/2006/main">
              <a:ext uri="{FF2B5EF4-FFF2-40B4-BE49-F238E27FC236}">
                <a16:creationId xmlns:a16="http://schemas.microsoft.com/office/drawing/2014/main" id="{8944F0C4-43E0-4398-9A34-3A7C3F9C5E15}"/>
              </a:ext>
            </a:extLst>
          </p:cNvPr>
          <p:cNvSpPr>
            <a:spLocks xmlns:a="http://schemas.openxmlformats.org/drawingml/2006/main" noGrp="1"/>
          </p:cNvSpPr>
          <p:nvPr/>
        </p:nvSpPr>
        <p:spPr>
          <a:xfrm xmlns:a="http://schemas.openxmlformats.org/drawingml/2006/main">
            <a:off x="571500" y="53911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SAME_TASK · UPDATE_TASK</a:t>
            </a:r>
          </a:p>
        </p:txBody>
      </p:sp>
      <p:sp>
        <p:nvSpPr>
          <p:cNvPr id="28" name="">
            <a:extLst xmlns:a="http://schemas.openxmlformats.org/drawingml/2006/main">
              <a:ext uri="{FF2B5EF4-FFF2-40B4-BE49-F238E27FC236}">
                <a16:creationId xmlns:a16="http://schemas.microsoft.com/office/drawing/2014/main" id="{EB8B9F6C-E173-4170-8096-2FFCA1EA94BF}"/>
              </a:ext>
            </a:extLst>
          </p:cNvPr>
          <p:cNvSpPr>
            <a:spLocks xmlns:a="http://schemas.openxmlformats.org/drawingml/2006/main" noGrp="1"/>
          </p:cNvSpPr>
          <p:nvPr/>
        </p:nvSpPr>
        <p:spPr>
          <a:xfrm xmlns:a="http://schemas.openxmlformats.org/drawingml/2006/main">
            <a:off x="571500" y="56578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신뢰도 0.90</a:t>
            </a:r>
          </a:p>
        </p:txBody>
      </p:sp>
      <p:sp>
        <p:nvSpPr>
          <p:cNvPr id="29" name="">
            <a:extLst xmlns:a="http://schemas.openxmlformats.org/drawingml/2006/main">
              <a:ext uri="{FF2B5EF4-FFF2-40B4-BE49-F238E27FC236}">
                <a16:creationId xmlns:a16="http://schemas.microsoft.com/office/drawing/2014/main" id="{01812DE0-8683-47DA-990F-84E81EE99676}"/>
              </a:ext>
            </a:extLst>
          </p:cNvPr>
          <p:cNvSpPr>
            <a:spLocks xmlns:a="http://schemas.openxmlformats.org/drawingml/2006/main" noGrp="1"/>
          </p:cNvSpPr>
          <p:nvPr/>
        </p:nvSpPr>
        <p:spPr>
          <a:xfrm xmlns:a="http://schemas.openxmlformats.org/drawingml/2006/main">
            <a:off x="4248150" y="51435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LIVE-RAG-02</a:t>
            </a:r>
          </a:p>
        </p:txBody>
      </p:sp>
      <p:sp>
        <p:nvSpPr>
          <p:cNvPr id="30" name="">
            <a:extLst xmlns:a="http://schemas.openxmlformats.org/drawingml/2006/main">
              <a:ext uri="{FF2B5EF4-FFF2-40B4-BE49-F238E27FC236}">
                <a16:creationId xmlns:a16="http://schemas.microsoft.com/office/drawing/2014/main" id="{E4B0F24D-42BA-4E4D-99DA-D396F8DC0482}"/>
              </a:ext>
            </a:extLst>
          </p:cNvPr>
          <p:cNvSpPr>
            <a:spLocks xmlns:a="http://schemas.openxmlformats.org/drawingml/2006/main" noGrp="1"/>
          </p:cNvSpPr>
          <p:nvPr/>
        </p:nvSpPr>
        <p:spPr>
          <a:xfrm xmlns:a="http://schemas.openxmlformats.org/drawingml/2006/main">
            <a:off x="4248150" y="53911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AMBIGUOUS · ASK_USER</a:t>
            </a:r>
          </a:p>
        </p:txBody>
      </p:sp>
      <p:sp>
        <p:nvSpPr>
          <p:cNvPr id="31" name="">
            <a:extLst xmlns:a="http://schemas.openxmlformats.org/drawingml/2006/main">
              <a:ext uri="{FF2B5EF4-FFF2-40B4-BE49-F238E27FC236}">
                <a16:creationId xmlns:a16="http://schemas.microsoft.com/office/drawing/2014/main" id="{3D8216B1-0845-46C2-9D4A-F81EF1A4DDC1}"/>
              </a:ext>
            </a:extLst>
          </p:cNvPr>
          <p:cNvSpPr>
            <a:spLocks xmlns:a="http://schemas.openxmlformats.org/drawingml/2006/main" noGrp="1"/>
          </p:cNvSpPr>
          <p:nvPr/>
        </p:nvSpPr>
        <p:spPr>
          <a:xfrm xmlns:a="http://schemas.openxmlformats.org/drawingml/2006/main">
            <a:off x="4248150" y="56578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0.60 · 재검색어 생성</a:t>
            </a:r>
          </a:p>
        </p:txBody>
      </p:sp>
      <p:sp>
        <p:nvSpPr>
          <p:cNvPr id="32" name="">
            <a:extLst xmlns:a="http://schemas.openxmlformats.org/drawingml/2006/main">
              <a:ext uri="{FF2B5EF4-FFF2-40B4-BE49-F238E27FC236}">
                <a16:creationId xmlns:a16="http://schemas.microsoft.com/office/drawing/2014/main" id="{BFF73466-29C8-4ACC-92D2-4BA454929770}"/>
              </a:ext>
            </a:extLst>
          </p:cNvPr>
          <p:cNvSpPr>
            <a:spLocks xmlns:a="http://schemas.openxmlformats.org/drawingml/2006/main" noGrp="1"/>
          </p:cNvSpPr>
          <p:nvPr/>
        </p:nvSpPr>
        <p:spPr>
          <a:xfrm xmlns:a="http://schemas.openxmlformats.org/drawingml/2006/main">
            <a:off x="7924800" y="51435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LIVE-RAG-03</a:t>
            </a:r>
          </a:p>
        </p:txBody>
      </p:sp>
      <p:sp>
        <p:nvSpPr>
          <p:cNvPr id="33" name="">
            <a:extLst xmlns:a="http://schemas.openxmlformats.org/drawingml/2006/main">
              <a:ext uri="{FF2B5EF4-FFF2-40B4-BE49-F238E27FC236}">
                <a16:creationId xmlns:a16="http://schemas.microsoft.com/office/drawing/2014/main" id="{179EF57D-BBE0-43D5-8E54-C69CA2AB4C55}"/>
              </a:ext>
            </a:extLst>
          </p:cNvPr>
          <p:cNvSpPr>
            <a:spLocks xmlns:a="http://schemas.openxmlformats.org/drawingml/2006/main" noGrp="1"/>
          </p:cNvSpPr>
          <p:nvPr/>
        </p:nvSpPr>
        <p:spPr>
          <a:xfrm xmlns:a="http://schemas.openxmlformats.org/drawingml/2006/main">
            <a:off x="7924800" y="53911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 후 ASK_USER</a:t>
            </a:r>
          </a:p>
        </p:txBody>
      </p:sp>
      <p:sp>
        <p:nvSpPr>
          <p:cNvPr id="34" name="">
            <a:extLst xmlns:a="http://schemas.openxmlformats.org/drawingml/2006/main">
              <a:ext uri="{FF2B5EF4-FFF2-40B4-BE49-F238E27FC236}">
                <a16:creationId xmlns:a16="http://schemas.microsoft.com/office/drawing/2014/main" id="{9BF4ED58-6225-4DF7-94D9-9622C1985C97}"/>
              </a:ext>
            </a:extLst>
          </p:cNvPr>
          <p:cNvSpPr>
            <a:spLocks xmlns:a="http://schemas.openxmlformats.org/drawingml/2006/main" noGrp="1"/>
          </p:cNvSpPr>
          <p:nvPr/>
        </p:nvSpPr>
        <p:spPr>
          <a:xfrm xmlns:a="http://schemas.openxmlformats.org/drawingml/2006/main">
            <a:off x="7924800" y="56578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0.58 · 추가 재검색 중단</a:t>
            </a:r>
          </a:p>
        </p:txBody>
      </p:sp>
      <p:sp>
        <p:nvSpPr>
          <p:cNvPr id="35" name="">
            <a:extLst xmlns:a="http://schemas.openxmlformats.org/drawingml/2006/main">
              <a:ext uri="{FF2B5EF4-FFF2-40B4-BE49-F238E27FC236}">
                <a16:creationId xmlns:a16="http://schemas.microsoft.com/office/drawing/2014/main" id="{979C1EF4-FA3C-428B-AB74-C112EA7CA27A}"/>
              </a:ext>
            </a:extLst>
          </p:cNvPr>
          <p:cNvSpPr>
            <a:spLocks xmlns:a="http://schemas.openxmlformats.org/drawingml/2006/main" noGrp="1"/>
          </p:cNvSpPr>
          <p:nvPr/>
        </p:nvSpPr>
        <p:spPr>
          <a:xfrm xmlns:a="http://schemas.openxmlformats.org/drawingml/2006/main">
            <a:off x="571500" y="6010275"/>
            <a:ext cx="4572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C73C34"/>
                </a:solidFill>
                <a:latin typeface="Malgun Gothic"/>
                <a:ea typeface="Malgun Gothic"/>
                <a:cs typeface="Malgun Gothic"/>
              </a:defRPr>
            </a:pPr>
            <a:r>
              <a:rPr sz="1125" b="1">
                <a:solidFill>
                  <a:srgbClr val="C73C34"/>
                </a:solidFill>
                <a:latin typeface="Malgun Gothic"/>
                <a:ea typeface="Malgun Gothic"/>
                <a:cs typeface="Malgun Gothic"/>
              </a:rPr>
              <a:t>실패  |  신규 수신 요청을 WAITING으로 오해</a:t>
            </a:r>
          </a:p>
        </p:txBody>
      </p:sp>
      <p:sp>
        <p:nvSpPr>
          <p:cNvPr id="36" name="">
            <a:extLst xmlns:a="http://schemas.openxmlformats.org/drawingml/2006/main">
              <a:ext uri="{FF2B5EF4-FFF2-40B4-BE49-F238E27FC236}">
                <a16:creationId xmlns:a16="http://schemas.microsoft.com/office/drawing/2014/main" id="{B3BDA1F3-67CE-40D3-9C7D-D537E685438D}"/>
              </a:ext>
            </a:extLst>
          </p:cNvPr>
          <p:cNvSpPr>
            <a:spLocks xmlns:a="http://schemas.openxmlformats.org/drawingml/2006/main" noGrp="1"/>
          </p:cNvSpPr>
          <p:nvPr/>
        </p:nvSpPr>
        <p:spPr>
          <a:xfrm xmlns:a="http://schemas.openxmlformats.org/drawingml/2006/main">
            <a:off x="5143500" y="6010275"/>
            <a:ext cx="6477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개선  |  의미 계약 재시도 보강 후 새 Gmail 요청의 자동 CREATE_TASK 재검증</a:t>
            </a:r>
          </a:p>
        </p:txBody>
      </p:sp>
    </p:spTree>
    <p:extLst>
      <p:ext uri="{BB962C8B-B14F-4D97-AF65-F5344CB8AC3E}">
        <p14:creationId xmlns:p14="http://schemas.microsoft.com/office/powerpoint/2010/main" val="20364181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2026-09-13T14:45:22.1740000Z</dcterms:created>
  <dcterms:modified xsi:type="dcterms:W3CDTF">2026-09-13T14:45:22.1740000Z</dcterms:modified>
</coreProperties>
</file>