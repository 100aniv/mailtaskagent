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a9a93d68fe42df" /><Relationship Type="http://schemas.openxmlformats.org/officeDocument/2006/relationships/extended-properties" Target="/docProps/app.xml" Id="Rc0d037f7c8af450a" /><Relationship Type="http://schemas.openxmlformats.org/officeDocument/2006/relationships/officeDocument" Target="/ppt/presentation.xml" Id="R3edb9e1700244591" /></Relationships>
</file>

<file path=ppt/presentation.xml><?xml version="1.0" encoding="utf-8"?>
<p:presentation xmlns:p="http://schemas.openxmlformats.org/presentationml/2006/main">
  <p:sldMasterIdLst>
    <p:sldMasterId xmlns:r="http://schemas.openxmlformats.org/officeDocument/2006/relationships" id="2147483648" r:id="Rfcf27fd5c8d54038"/>
  </p:sldMasterIdLst>
  <p:notesMasterIdLst>
    <p:notesMasterId xmlns:r="http://schemas.openxmlformats.org/officeDocument/2006/relationships" r:id="R0a8184bb296747da"/>
  </p:notesMasterIdLst>
  <p:sldIdLst>
    <p:sldId xmlns:r="http://schemas.openxmlformats.org/officeDocument/2006/relationships" id="256" r:id="Rd92f558f5b0e4caf"/>
    <p:sldId xmlns:r="http://schemas.openxmlformats.org/officeDocument/2006/relationships" id="257" r:id="Rc956308a99d24fb3"/>
    <p:sldId xmlns:r="http://schemas.openxmlformats.org/officeDocument/2006/relationships" id="258" r:id="Rf3ba52f8f75248c3"/>
    <p:sldId xmlns:r="http://schemas.openxmlformats.org/officeDocument/2006/relationships" id="259" r:id="Rfb7794da1f4f42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de0ae2eb3d4f38" /><Relationship Type="http://schemas.openxmlformats.org/officeDocument/2006/relationships/slideMaster" Target="/ppt/slideMasters/slideMaster1.xml" Id="Rfcf27fd5c8d54038" /><Relationship Type="http://schemas.openxmlformats.org/officeDocument/2006/relationships/notesMaster" Target="/ppt/notesMasters/notesMaster1.xml" Id="R0a8184bb296747da" /><Relationship Type="http://schemas.openxmlformats.org/officeDocument/2006/relationships/presProps" Target="/ppt/presProps.xml" Id="R366afb8c4bfe4f62" /><Relationship Type="http://schemas.openxmlformats.org/officeDocument/2006/relationships/tableStyles" Target="/ppt/tableStyles.xml" Id="Rb1635267487b41bd" /><Relationship Type="http://schemas.openxmlformats.org/officeDocument/2006/relationships/slide" Target="/ppt/slides/slide1.xml" Id="Rd92f558f5b0e4caf" /><Relationship Type="http://schemas.openxmlformats.org/officeDocument/2006/relationships/slide" Target="/ppt/slides/slide2.xml" Id="Rc956308a99d24fb3" /><Relationship Type="http://schemas.openxmlformats.org/officeDocument/2006/relationships/slide" Target="/ppt/slides/slide3.xml" Id="Rf3ba52f8f75248c3" /><Relationship Type="http://schemas.openxmlformats.org/officeDocument/2006/relationships/slide" Target="/ppt/slides/slide4.xml" Id="Rfb7794da1f4f42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3ff0765de24d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aacab9066a41c2" /><Relationship Type="http://schemas.openxmlformats.org/officeDocument/2006/relationships/notesMaster" Target="/ppt/notesMasters/notesMaster1.xml" Id="R80941ac350784d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9b4f0d48c04b9f" /><Relationship Type="http://schemas.openxmlformats.org/officeDocument/2006/relationships/notesMaster" Target="/ppt/notesMasters/notesMaster1.xml" Id="R5cbcf6edfc8d47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da955e630a4a54" /><Relationship Type="http://schemas.openxmlformats.org/officeDocument/2006/relationships/notesMaster" Target="/ppt/notesMasters/notesMaster1.xml" Id="R1cf9528e75be4a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cd9cb3f39f4f0f" /><Relationship Type="http://schemas.openxmlformats.org/officeDocument/2006/relationships/notesMaster" Target="/ppt/notesMasters/notesMaster1.xml" Id="R0f4846f41e9c42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개요 2분, 아키텍처 4분, 핵심 기술 과제 4분. 슬라이드를 넘기기 전에 시간을 확인한다.</a:t>
            </a:r>
          </a:p>
          <a:p xmlns:a="http://schemas.openxmlformats.org/drawingml/2006/main">
            <a:r>
              <a:t/>
            </a:r>
          </a:p>
          <a:p xmlns:a="http://schemas.openxmlformats.org/drawingml/2006/main">
            <a:r>
              <a:t>[근거]</a:t>
            </a:r>
          </a:p>
          <a:p xmlns:a="http://schemas.openxmlformats.org/drawingml/2006/main">
            <a:r>
              <a:t>- Docs/PRESENTATION/2. 최종/09285_백준현_최종시연_스크립트.md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문제를 좁히면 이렇습니다. 하나의 업무가 여러 메일과 여러 Thread에 흩어져 도착하고, 기한 변경이나 자료 회신 같은 후속 메일은 표현이 매번 달라집니다. 사용자는 그때마다 과거 메일을 다시 찾아 이 메일이 새 업무인지 기존 업무의 변경인지 판단해야 합니다.</a:t>
            </a:r>
          </a:p>
          <a:p xmlns:a="http://schemas.openxmlformats.org/drawingml/2006/main">
            <a:r>
              <a:t/>
            </a:r>
          </a:p>
          <a:p xmlns:a="http://schemas.openxmlformats.org/drawingml/2006/main">
            <a:r>
              <a:t>가운데 흐름은 왼쪽부터 읽으시면 됩니다. 메일을 관찰하고, 의미를 구조화하고, 기존 업무와의 관계를 판단하고, 위험한 실행은 막고, 결과를 기억합니다. 이 다섯 단계가 뒤에 나올 M-01부터 M-05까지에 그대로 대응합니다.</a:t>
            </a:r>
          </a:p>
          <a:p xmlns:a="http://schemas.openxmlformats.org/drawingml/2006/main">
            <a:r>
              <a:t/>
            </a:r>
          </a:p>
          <a:p xmlns:a="http://schemas.openxmlformats.org/drawingml/2006/main">
            <a:r>
              <a:t>아래 수치는 분모가 서로 다르니 합쳐 읽지 말아 주십시오. 28/28은 회사 LLM Live 15개 Case에서 나온 Action 단계, 3/3은 Task Context Agent 전용 Live, 20/20은 테스트 Gmail의 비식별 합성 메일 수용시험, pytest는 코드 회귀입니다. 회사 메일함 전체 정확도가 아닙니다. 체감 시간은 신뢰할 Baseline을 얻지 못해 추정치 대신 미측정으로 적었습니다.</a:t>
            </a:r>
          </a:p>
          <a:p xmlns:a="http://schemas.openxmlformats.org/drawingml/2006/main">
            <a:r>
              <a:t/>
            </a:r>
          </a:p>
          <a:p xmlns:a="http://schemas.openxmlformats.org/drawingml/2006/main">
            <a:r>
              <a:t>[근거]</a:t>
            </a:r>
          </a:p>
          <a:p xmlns:a="http://schemas.openxmlformats.org/drawingml/2006/main">
            <a:r>
              <a:t>- Docs/AI_MASTER/02_문제정의및서비스기획.md</a:t>
            </a:r>
          </a:p>
          <a:p xmlns:a="http://schemas.openxmlformats.org/drawingml/2006/main">
            <a:r>
              <a:t>- evidence/final_audit_live_2026-09-13_after_inbound_intent_guard.json</a:t>
            </a:r>
          </a:p>
          <a:p xmlns:a="http://schemas.openxmlformats.org/drawingml/2006/main">
            <a:r>
              <a:t>- evidence/final_mvp_acceptance_2026-09-08.json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중요한 설계 결정부터 말씀드리겠습니다. 모든 메일을 Agent에게 맡기지 않았습니다. 경로가 셋으로 갈립니다. 같은 Thread에 활성 업무가 정확히 하나면 규칙이 바로 연결하고 검색과 Agent 판단을 아예 호출하지 않습니다. 관련 업무를 찾아야 할 때만 RAG 경로로 가고, 업무 요청이 아니면 기존 규칙 경로로 처리합니다. 입력에 따라 호출 자체가 달라지는 것이 고정 Workflow와의 차이입니다.</a:t>
            </a:r>
          </a:p>
          <a:p xmlns:a="http://schemas.openxmlformats.org/drawingml/2006/main">
            <a:r>
              <a:t/>
            </a:r>
          </a:p>
          <a:p xmlns:a="http://schemas.openxmlformats.org/drawingml/2006/main">
            <a:r>
              <a:t>M-03을 한 번의 호출로 두지 않은 이유가 중요합니다. 후보와 승자를 한 응답에서 같이 받으면, 모델이 실제로 후보를 견주었는지 결론을 먼저 정하고 설명을 붙였는지 구분할 방법이 없습니다. 그래서 생성과 평가를 다른 호출로 나눴습니다. 생성 단계는 후보 두세 개를 근거와 함께 내고 점수는 매기지 않습니다. Python이 후보 ID와 관계 계약을 검증하고, 통과한 후보만 평가 단계로 넘어가 지지도를 받습니다. 상위 두 지지도의 차이는 Python이 계산합니다.</a:t>
            </a:r>
          </a:p>
          <a:p xmlns:a="http://schemas.openxmlformats.org/drawingml/2006/main">
            <a:r>
              <a:t/>
            </a:r>
          </a:p>
          <a:p xmlns:a="http://schemas.openxmlformats.org/drawingml/2006/main">
            <a:r>
              <a:t>M-02 검색은 외부 문서가 아니라 제 SQLite를 봅니다. 활성 업무 다섯 건, 각 업무의 최근 메일 세 건과 변경 이력 다섯 건, 그리고 사용자가 과거에 확정한 결정을 함께 가져옵니다. 지난 결정이 다음 판단의 근거로 다시 들어갑니다.</a:t>
            </a:r>
          </a:p>
          <a:p xmlns:a="http://schemas.openxmlformats.org/drawingml/2006/main">
            <a:r>
              <a:t/>
            </a:r>
          </a:p>
          <a:p xmlns:a="http://schemas.openxmlformats.org/drawingml/2006/main">
            <a:r>
              <a:t>기술 선택 이유입니다. Vector DB와 외부 Embedding은 쓰지 않았습니다. 개인의 활성 업무는 수십 건 규모라 SQLite 조회만으로 충분했고, 구성요소를 늘리는 비용이 더 컸습니다. 대신 검색이 어휘 겹침에 의존한다는 한계가 남습니다. 모델 간 비교 실험은 하지 않았으므로 최적이라고 주장하지 않습니다.</a:t>
            </a:r>
          </a:p>
          <a:p xmlns:a="http://schemas.openxmlformats.org/drawingml/2006/main">
            <a:r>
              <a:t/>
            </a:r>
          </a:p>
          <a:p xmlns:a="http://schemas.openxmlformats.org/drawingml/2006/main">
            <a:r>
              <a:t>세 번째가 가장 오래 고민한 Python Guard입니다. LLM은 제안만 하고 데이터베이스를 직접 바꾸지 않습니다. Guard는 고른 업무 ID가 검색 후보 안에 있는지, 메일 의도와 Action이 맞는지, 생성에 필요한 값이 있는지를 확인하고, 하나라도 어긋나면 사용자 확인으로 올립니다. 완료·취소·기한 단축은 신뢰도와 무관하게 항상 승인을 거칩니다.</a:t>
            </a:r>
          </a:p>
          <a:p xmlns:a="http://schemas.openxmlformats.org/drawingml/2006/main">
            <a:r>
              <a:t/>
            </a:r>
          </a:p>
          <a:p xmlns:a="http://schemas.openxmlformats.org/drawingml/2006/main">
            <a:r>
              <a:t>[근거]</a:t>
            </a:r>
          </a:p>
          <a:p xmlns:a="http://schemas.openxmlformats.org/drawingml/2006/main">
            <a:r>
              <a:t>- Docs/AI_MASTER/04_상세설계및개발환경.md</a:t>
            </a:r>
          </a:p>
          <a:p xmlns:a="http://schemas.openxmlformats.org/drawingml/2006/main">
            <a:r>
              <a:t>- src/mailtaskagent/workflow.py</a:t>
            </a:r>
          </a:p>
          <a:p xmlns:a="http://schemas.openxmlformats.org/drawingml/2006/main">
            <a:r>
              <a:t>- src/mailtaskagent/task_context_agent.py</a:t>
            </a:r>
          </a:p>
          <a:p xmlns:a="http://schemas.openxmlformats.org/drawingml/2006/main">
            <a:r>
              <a:t>- src/mailtaskagent/deliberation.py</a:t>
            </a:r>
          </a:p>
          <a:p xmlns:a="http://schemas.openxmlformats.org/drawingml/2006/main">
            <a:r>
              <a:t>- src/mailtaskagent/decision.py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왜 규칙만으로 부족했는지부터 말씀드리겠습니다. 같은 업무라도 답장이 아니라 새 메일로 오면 Thread가 끊기고 제목과 표현이 바뀝니다. 제목 Token 규칙은 이 경우를 구분하지 못했습니다. 이 차이를 테스트로 고정해 두었습니다. Thread도 다르고 어휘도 겹치지 않는 동일 업무에서 규칙 경로는 사용자 확인으로 멈추고, Agent 경로는 올바른 기존 업무를 찾아 갱신합니다.</a:t>
            </a:r>
          </a:p>
          <a:p xmlns:a="http://schemas.openxmlformats.org/drawingml/2006/main">
            <a:r>
              <a:t/>
            </a:r>
          </a:p>
          <a:p xmlns:a="http://schemas.openxmlformats.org/drawingml/2006/main">
            <a:r>
              <a:t>효과는 같은 코드에서 기능만 껐다 켜서 측정했습니다. 기존 열다섯 개 Case는 양쪽이 똑같이 15/15, Action 28/28이고 소요시간만 약 삼십 퍼센트 늘었습니다. 숙고가 실제 발동하는 전용 네 개 Case에서는 켠 쪽이 4/4, 끈 쪽이 3/4였습니다. 차이는 한 건입니다. 요청자가 같고 대상 시스템만 다른 유사 업무가 둘 있을 때, 단일 결론 경로는 둘 중 하나에 그대로 연결했고, 두 단계 경로는 지지도가 갈리지 않아 재검색 후 사용자 확인으로 닫았습니다. 성능이 올라갔다는 주장이 아니라 잘못된 업무에 조용히 붙던 경우가 사람에게 넘어갔다는 뜻입니다.</a:t>
            </a:r>
          </a:p>
          <a:p xmlns:a="http://schemas.openxmlformats.org/drawingml/2006/main">
            <a:r>
              <a:t/>
            </a:r>
          </a:p>
          <a:p xmlns:a="http://schemas.openxmlformats.org/drawingml/2006/main">
            <a:r>
              <a:t>실패도 말씀드리겠습니다. 처음 구현에서 응답 검증을 재시도 루프 밖에 두었습니다. 그래서 모델이 필드 하나를 배열로 돌려준 것만으로 판단 전체가 실패했고, 저장해 둔 실제 Gmail 서른다섯 건을 다시 흘려보냈을 때 판단 네 건이 사라졌습니다. 합성 테스트로는 드러나지 않았고 실제 데이터 재생에서 잡혔습니다. 검증을 루프 안으로 옮긴 뒤 유실은 0건입니다.</a:t>
            </a:r>
          </a:p>
          <a:p xmlns:a="http://schemas.openxmlformats.org/drawingml/2006/main">
            <a:r>
              <a:t/>
            </a:r>
          </a:p>
          <a:p xmlns:a="http://schemas.openxmlformats.org/drawingml/2006/main">
            <a:r>
              <a:t>수치를 읽을 때 주의할 점입니다. 화면의 신뢰도와 지지도는 모델의 자기보고 값이지 검증된 정답 확률이 아닙니다. 그래서 값이 높아도 중요 변경은 자동 확정하지 않습니다. 같은 실행에서 Intent 진단 정확도는 13/15, 86.7퍼센트로 100퍼센트가 아니었고 이 수치도 함께 공개합니다.</a:t>
            </a:r>
          </a:p>
          <a:p xmlns:a="http://schemas.openxmlformats.org/drawingml/2006/main">
            <a:r>
              <a:t/>
            </a:r>
          </a:p>
          <a:p xmlns:a="http://schemas.openxmlformats.org/drawingml/2006/main">
            <a:r>
              <a:t>마지막으로 하지 않은 선택입니다. 여러 계획을 만들어 비교하는 Tree of Thoughts는 적용하지 않았습니다. 메일 한 건을 업무로 옮기는 판단은 단계가 깊지 않은 대신 틀렸을 때 비용이 업무 데이터 오변경이라, 후보를 두세 개로 제한하고 평가와 재검색을 각각 한 번으로 묶은 뒤 결정론적 Guard와 사용자 승인으로 막는 쪽을 택했습니다. 문서에도 구현했다고 쓰지 않고 거기서 착안한 제한적 후보 탐색·평가라고 적었습니다.</a:t>
            </a:r>
          </a:p>
          <a:p xmlns:a="http://schemas.openxmlformats.org/drawingml/2006/main">
            <a:r>
              <a:t/>
            </a:r>
          </a:p>
          <a:p xmlns:a="http://schemas.openxmlformats.org/drawingml/2006/main">
            <a:r>
              <a:t>[근거]</a:t>
            </a:r>
          </a:p>
          <a:p xmlns:a="http://schemas.openxmlformats.org/drawingml/2006/main">
            <a:r>
              <a:t>- evidence/deliberation_ab_2026-09-15.json</a:t>
            </a:r>
          </a:p>
          <a:p xmlns:a="http://schemas.openxmlformats.org/drawingml/2006/main">
            <a:r>
              <a:t>- evidence/gmail_replay_deliberation_2026-09-15.json</a:t>
            </a:r>
          </a:p>
          <a:p xmlns:a="http://schemas.openxmlformats.org/drawingml/2006/main">
            <a:r>
              <a:t>- evidence/final_audit_live_2026-09-13_after_inbound_intent_guard.json</a:t>
            </a:r>
          </a:p>
          <a:p xmlns:a="http://schemas.openxmlformats.org/drawingml/2006/main">
            <a:r>
              <a:t>- tests/test_deliberation.py</a:t>
            </a:r>
          </a:p>
          <a:p xmlns:a="http://schemas.openxmlformats.org/drawingml/2006/main">
            <a:r>
              <a:t>- tests/test_agent_deliberation.py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885997284c46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b998e35f3c4436" /><Relationship Type="http://schemas.openxmlformats.org/officeDocument/2006/relationships/slideLayout" Target="/ppt/slideLayouts/slideLayout1.xml" Id="Re46a3b60ec2e48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6a3b60ec2e48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b0d9d8c8ca4ee4" /><Relationship Type="http://schemas.openxmlformats.org/officeDocument/2006/relationships/notesSlide" Target="/ppt/notesSlides/notesSlide1.xml" Id="R15ff0c70632941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08abb9316448d7" /><Relationship Type="http://schemas.openxmlformats.org/officeDocument/2006/relationships/notesSlide" Target="/ppt/notesSlides/notesSlide2.xml" Id="R240cd2406b3f42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41a05ad0d749e8" /><Relationship Type="http://schemas.openxmlformats.org/officeDocument/2006/relationships/notesSlide" Target="/ppt/notesSlides/notesSlide3.xml" Id="Re2f10a8096e342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680bcac78c4938" /><Relationship Type="http://schemas.openxmlformats.org/officeDocument/2006/relationships/notesSlide" Target="/ppt/notesSlides/notesSlide4.xml" Id="R3a47c8bd33e2488c" /></Relationships>
</file>

<file path=ppt/slides/slide1.xml><?xml version="1.0" encoding="utf-8"?>
<p:sld xmlns:p="http://schemas.openxmlformats.org/presentationml/2006/main">
  <p:cSld>
    <p:bg>
      <p:bgPr>
        <a:solidFill xmlns:a="http://schemas.openxmlformats.org/drawingml/2006/main">
          <a:srgbClr val="1024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FEFBF4-C522-4E35-A2FE-2A8C91DA4D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0B8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EADA74-C853-4C0F-9190-B28B8E2F6273}"/>
              </a:ext>
            </a:extLst>
          </p:cNvPr>
          <p:cNvSpPr>
            <a:spLocks xmlns:a="http://schemas.openxmlformats.org/drawingml/2006/main" noGrp="1"/>
          </p:cNvSpPr>
          <p:nvPr/>
        </p:nvSpPr>
        <p:spPr>
          <a:xfrm xmlns:a="http://schemas.openxmlformats.org/drawingml/2006/main">
            <a:off x="685800" y="6858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0B8C7"/>
                </a:solidFill>
                <a:latin typeface="Malgun Gothic"/>
                <a:ea typeface="Malgun Gothic"/>
                <a:cs typeface="Malgun Gothic"/>
              </a:defRPr>
            </a:pPr>
            <a:r>
              <a:rPr sz="1500" b="1">
                <a:solidFill>
                  <a:srgbClr val="20B8C7"/>
                </a:solidFill>
                <a:latin typeface="Malgun Gothic"/>
                <a:ea typeface="Malgun Gothic"/>
                <a:cs typeface="Malgun Gothic"/>
              </a:rPr>
              <a:t>AI Master Project</a:t>
            </a:r>
          </a:p>
        </p:txBody>
      </p:sp>
      <p:sp>
        <p:nvSpPr>
          <p:cNvPr id="3" name="">
            <a:extLst xmlns:a="http://schemas.openxmlformats.org/drawingml/2006/main">
              <a:ext uri="{FF2B5EF4-FFF2-40B4-BE49-F238E27FC236}">
                <a16:creationId xmlns:a16="http://schemas.microsoft.com/office/drawing/2014/main" id="{B30BCFC0-1A72-4DC6-A27D-792F184C53B8}"/>
              </a:ext>
            </a:extLst>
          </p:cNvPr>
          <p:cNvSpPr>
            <a:spLocks xmlns:a="http://schemas.openxmlformats.org/drawingml/2006/main" noGrp="1"/>
          </p:cNvSpPr>
          <p:nvPr/>
        </p:nvSpPr>
        <p:spPr>
          <a:xfrm xmlns:a="http://schemas.openxmlformats.org/drawingml/2006/main">
            <a:off x="685800" y="1476375"/>
            <a:ext cx="762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MailTaskAgent</a:t>
            </a:r>
          </a:p>
        </p:txBody>
      </p:sp>
      <p:sp>
        <p:nvSpPr>
          <p:cNvPr id="4" name="">
            <a:extLst xmlns:a="http://schemas.openxmlformats.org/drawingml/2006/main">
              <a:ext uri="{FF2B5EF4-FFF2-40B4-BE49-F238E27FC236}">
                <a16:creationId xmlns:a16="http://schemas.microsoft.com/office/drawing/2014/main" id="{55D62BA0-ADA9-4568-8C40-43743C1AE6D3}"/>
              </a:ext>
            </a:extLst>
          </p:cNvPr>
          <p:cNvSpPr>
            <a:spLocks xmlns:a="http://schemas.openxmlformats.org/drawingml/2006/main" noGrp="1"/>
          </p:cNvSpPr>
          <p:nvPr/>
        </p:nvSpPr>
        <p:spPr>
          <a:xfrm xmlns:a="http://schemas.openxmlformats.org/drawingml/2006/main">
            <a:off x="685800" y="2381250"/>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D9E6F8"/>
                </a:solidFill>
                <a:latin typeface="Malgun Gothic"/>
                <a:ea typeface="Malgun Gothic"/>
                <a:cs typeface="Malgun Gothic"/>
              </a:defRPr>
            </a:pPr>
            <a:r>
              <a:rPr sz="2025" b="0">
                <a:solidFill>
                  <a:srgbClr val="D9E6F8"/>
                </a:solidFill>
                <a:latin typeface="Malgun Gothic"/>
                <a:ea typeface="Malgun Gothic"/>
                <a:cs typeface="Malgun Gothic"/>
              </a:rPr>
              <a:t>메일을 업무로 해석하고 다음 행동을 결정하는 개인 업무관리 Agent</a:t>
            </a:r>
          </a:p>
        </p:txBody>
      </p:sp>
      <p:sp>
        <p:nvSpPr>
          <p:cNvPr id="5" name="">
            <a:extLst xmlns:a="http://schemas.openxmlformats.org/drawingml/2006/main">
              <a:ext uri="{FF2B5EF4-FFF2-40B4-BE49-F238E27FC236}">
                <a16:creationId xmlns:a16="http://schemas.microsoft.com/office/drawing/2014/main" id="{7BF29381-0FAF-4258-B081-638B2CAEBB18}"/>
              </a:ext>
            </a:extLst>
          </p:cNvPr>
          <p:cNvSpPr>
            <a:spLocks xmlns:a="http://schemas.openxmlformats.org/drawingml/2006/main" noGrp="1"/>
          </p:cNvSpPr>
          <p:nvPr/>
        </p:nvSpPr>
        <p:spPr>
          <a:xfrm xmlns:a="http://schemas.openxmlformats.org/drawingml/2006/main">
            <a:off x="685800" y="3714750"/>
            <a:ext cx="10477500" cy="19050"/>
          </a:xfrm>
          <a:prstGeom xmlns:a="http://schemas.openxmlformats.org/drawingml/2006/main" prst="rect">
            <a:avLst/>
          </a:prstGeom>
          <a:solidFill xmlns:a="http://schemas.openxmlformats.org/drawingml/2006/main">
            <a:srgbClr val="3550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DAF7A5D-C140-4A03-B095-04D48640C65C}"/>
              </a:ext>
            </a:extLst>
          </p:cNvPr>
          <p:cNvSpPr>
            <a:spLocks xmlns:a="http://schemas.openxmlformats.org/drawingml/2006/main" noGrp="1"/>
          </p:cNvSpPr>
          <p:nvPr/>
        </p:nvSpPr>
        <p:spPr>
          <a:xfrm xmlns:a="http://schemas.openxmlformats.org/drawingml/2006/main">
            <a:off x="68580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백준현  |  09285</a:t>
            </a:r>
          </a:p>
        </p:txBody>
      </p:sp>
      <p:sp>
        <p:nvSpPr>
          <p:cNvPr id="7" name="">
            <a:extLst xmlns:a="http://schemas.openxmlformats.org/drawingml/2006/main">
              <a:ext uri="{FF2B5EF4-FFF2-40B4-BE49-F238E27FC236}">
                <a16:creationId xmlns:a16="http://schemas.microsoft.com/office/drawing/2014/main" id="{87EA95CA-D328-4410-817F-D8E83C02C13A}"/>
              </a:ext>
            </a:extLst>
          </p:cNvPr>
          <p:cNvSpPr>
            <a:spLocks xmlns:a="http://schemas.openxmlformats.org/drawingml/2006/main" noGrp="1"/>
          </p:cNvSpPr>
          <p:nvPr/>
        </p:nvSpPr>
        <p:spPr>
          <a:xfrm xmlns:a="http://schemas.openxmlformats.org/drawingml/2006/main">
            <a:off x="685800" y="45148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B9C9DD"/>
                </a:solidFill>
                <a:latin typeface="Malgun Gothic"/>
                <a:ea typeface="Malgun Gothic"/>
                <a:cs typeface="Malgun Gothic"/>
              </a:defRPr>
            </a:pPr>
            <a:r>
              <a:rPr sz="1350" b="0">
                <a:solidFill>
                  <a:srgbClr val="B9C9DD"/>
                </a:solidFill>
                <a:latin typeface="Malgun Gothic"/>
                <a:ea typeface="Malgun Gothic"/>
                <a:cs typeface="Malgun Gothic"/>
              </a:rPr>
              <a:t>AI Master 7기  |  멘토 이유경</a:t>
            </a:r>
          </a:p>
        </p:txBody>
      </p:sp>
      <p:sp>
        <p:nvSpPr>
          <p:cNvPr id="8" name="">
            <a:extLst xmlns:a="http://schemas.openxmlformats.org/drawingml/2006/main">
              <a:ext uri="{FF2B5EF4-FFF2-40B4-BE49-F238E27FC236}">
                <a16:creationId xmlns:a16="http://schemas.microsoft.com/office/drawing/2014/main" id="{A71FC11B-8331-49EE-A160-E08A6260D51D}"/>
              </a:ext>
            </a:extLst>
          </p:cNvPr>
          <p:cNvSpPr>
            <a:spLocks xmlns:a="http://schemas.openxmlformats.org/drawingml/2006/main" noGrp="1"/>
          </p:cNvSpPr>
          <p:nvPr/>
        </p:nvSpPr>
        <p:spPr>
          <a:xfrm xmlns:a="http://schemas.openxmlformats.org/drawingml/2006/main">
            <a:off x="685800" y="5810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20B8C7"/>
                </a:solidFill>
                <a:latin typeface="Malgun Gothic"/>
                <a:ea typeface="Malgun Gothic"/>
                <a:cs typeface="Malgun Gothic"/>
              </a:defRPr>
            </a:pPr>
            <a:r>
              <a:rPr sz="1350" b="1">
                <a:solidFill>
                  <a:srgbClr val="20B8C7"/>
                </a:solidFill>
                <a:latin typeface="Malgun Gothic"/>
                <a:ea typeface="Malgun Gothic"/>
                <a:cs typeface="Malgun Gothic"/>
              </a:rPr>
              <a:t>최종 발표</a:t>
            </a:r>
          </a:p>
        </p:txBody>
      </p:sp>
    </p:spTree>
    <p:extLst>
      <p:ext uri="{BB962C8B-B14F-4D97-AF65-F5344CB8AC3E}">
        <p14:creationId xmlns:p14="http://schemas.microsoft.com/office/powerpoint/2010/main" val="12014969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3D9DFC07-2B0C-46AE-8F33-B5DE06E3DF03}"/>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D2931A-A20B-4EAD-97AF-8782727B198C}"/>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프로젝트 개요</a:t>
            </a:r>
          </a:p>
        </p:txBody>
      </p:sp>
      <p:sp>
        <p:nvSpPr>
          <p:cNvPr id="3" name="">
            <a:extLst xmlns:a="http://schemas.openxmlformats.org/drawingml/2006/main">
              <a:ext uri="{FF2B5EF4-FFF2-40B4-BE49-F238E27FC236}">
                <a16:creationId xmlns:a16="http://schemas.microsoft.com/office/drawing/2014/main" id="{0FE89F47-4A2D-4C1E-8F98-1DDA4A513738}"/>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3FE3F9-1284-4B0B-BE3C-3346E413923E}"/>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02</a:t>
            </a:r>
          </a:p>
        </p:txBody>
      </p:sp>
      <p:sp>
        <p:nvSpPr>
          <p:cNvPr id="5" name="">
            <a:extLst xmlns:a="http://schemas.openxmlformats.org/drawingml/2006/main">
              <a:ext uri="{FF2B5EF4-FFF2-40B4-BE49-F238E27FC236}">
                <a16:creationId xmlns:a16="http://schemas.microsoft.com/office/drawing/2014/main" id="{455FEE0A-5D2A-4C93-A39D-E50DEA31CA51}"/>
              </a:ext>
            </a:extLst>
          </p:cNvPr>
          <p:cNvSpPr>
            <a:spLocks xmlns:a="http://schemas.openxmlformats.org/drawingml/2006/main" noGrp="1"/>
          </p:cNvSpPr>
          <p:nvPr/>
        </p:nvSpPr>
        <p:spPr>
          <a:xfrm xmlns:a="http://schemas.openxmlformats.org/drawingml/2006/main">
            <a:off x="571500" y="123825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769E0"/>
                </a:solidFill>
                <a:latin typeface="Malgun Gothic"/>
                <a:ea typeface="Malgun Gothic"/>
                <a:cs typeface="Malgun Gothic"/>
              </a:defRPr>
            </a:pPr>
            <a:r>
              <a:rPr sz="1800" b="1">
                <a:solidFill>
                  <a:srgbClr val="1769E0"/>
                </a:solidFill>
                <a:latin typeface="Malgun Gothic"/>
                <a:ea typeface="Malgun Gothic"/>
                <a:cs typeface="Malgun Gothic"/>
              </a:rPr>
              <a:t>메일함에서 놓치기 쉬운 요청을 Task Lifecycle로 관리</a:t>
            </a:r>
          </a:p>
        </p:txBody>
      </p:sp>
      <p:sp>
        <p:nvSpPr>
          <p:cNvPr id="6" name="">
            <a:extLst xmlns:a="http://schemas.openxmlformats.org/drawingml/2006/main">
              <a:ext uri="{FF2B5EF4-FFF2-40B4-BE49-F238E27FC236}">
                <a16:creationId xmlns:a16="http://schemas.microsoft.com/office/drawing/2014/main" id="{79FB2027-8F12-4585-90D2-799B2730D509}"/>
              </a:ext>
            </a:extLst>
          </p:cNvPr>
          <p:cNvSpPr>
            <a:spLocks xmlns:a="http://schemas.openxmlformats.org/drawingml/2006/main" noGrp="1"/>
          </p:cNvSpPr>
          <p:nvPr/>
        </p:nvSpPr>
        <p:spPr>
          <a:xfrm xmlns:a="http://schemas.openxmlformats.org/drawingml/2006/main">
            <a:off x="571500" y="16002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57187"/>
                </a:solidFill>
                <a:latin typeface="Malgun Gothic"/>
                <a:ea typeface="Malgun Gothic"/>
                <a:cs typeface="Malgun Gothic"/>
              </a:defRPr>
            </a:pPr>
            <a:r>
              <a:rPr sz="1350" b="0">
                <a:solidFill>
                  <a:srgbClr val="657187"/>
                </a:solidFill>
                <a:latin typeface="Malgun Gothic"/>
                <a:ea typeface="Malgun Gothic"/>
                <a:cs typeface="Malgun Gothic"/>
              </a:rPr>
              <a:t>수작업 전환 누락과 후속 메일 추적 부담을 줄이고, 위험한 변경은 사용자 승인 뒤 반영합니다.</a:t>
            </a:r>
          </a:p>
        </p:txBody>
      </p:sp>
      <p:sp>
        <p:nvSpPr>
          <p:cNvPr id="7" name="">
            <a:extLst xmlns:a="http://schemas.openxmlformats.org/drawingml/2006/main">
              <a:ext uri="{FF2B5EF4-FFF2-40B4-BE49-F238E27FC236}">
                <a16:creationId xmlns:a16="http://schemas.microsoft.com/office/drawing/2014/main" id="{70959FAC-E80F-446A-8CBA-8EA5F7876D5A}"/>
              </a:ext>
            </a:extLst>
          </p:cNvPr>
          <p:cNvSpPr>
            <a:spLocks xmlns:a="http://schemas.openxmlformats.org/drawingml/2006/main" noGrp="1"/>
          </p:cNvSpPr>
          <p:nvPr/>
        </p:nvSpPr>
        <p:spPr>
          <a:xfrm xmlns:a="http://schemas.openxmlformats.org/drawingml/2006/main">
            <a:off x="571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8" name="">
            <a:extLst xmlns:a="http://schemas.openxmlformats.org/drawingml/2006/main">
              <a:ext uri="{FF2B5EF4-FFF2-40B4-BE49-F238E27FC236}">
                <a16:creationId xmlns:a16="http://schemas.microsoft.com/office/drawing/2014/main" id="{EC3DA6EE-BA4D-49FA-84BF-E1AAB818E376}"/>
              </a:ext>
            </a:extLst>
          </p:cNvPr>
          <p:cNvSpPr>
            <a:spLocks xmlns:a="http://schemas.openxmlformats.org/drawingml/2006/main" noGrp="1"/>
          </p:cNvSpPr>
          <p:nvPr/>
        </p:nvSpPr>
        <p:spPr>
          <a:xfrm xmlns:a="http://schemas.openxmlformats.org/drawingml/2006/main">
            <a:off x="571500" y="2381250"/>
            <a:ext cx="76200" cy="1104900"/>
          </a:xfrm>
          <a:prstGeom xmlns:a="http://schemas.openxmlformats.org/drawingml/2006/main" prst="roundRect">
            <a:avLst>
              <a:gd name="adj" fmla="val 50000"/>
            </a:avLst>
          </a:prstGeom>
          <a:solidFill xmlns:a="http://schemas.openxmlformats.org/drawingml/2006/main">
            <a:srgbClr val="1769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277F404-733F-4E89-B1D1-3515852D902C}"/>
              </a:ext>
            </a:extLst>
          </p:cNvPr>
          <p:cNvSpPr>
            <a:spLocks xmlns:a="http://schemas.openxmlformats.org/drawingml/2006/main" noGrp="1"/>
          </p:cNvSpPr>
          <p:nvPr/>
        </p:nvSpPr>
        <p:spPr>
          <a:xfrm xmlns:a="http://schemas.openxmlformats.org/drawingml/2006/main">
            <a:off x="762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메일 관찰</a:t>
            </a:r>
          </a:p>
        </p:txBody>
      </p:sp>
      <p:sp>
        <p:nvSpPr>
          <p:cNvPr id="10" name="">
            <a:extLst xmlns:a="http://schemas.openxmlformats.org/drawingml/2006/main">
              <a:ext uri="{FF2B5EF4-FFF2-40B4-BE49-F238E27FC236}">
                <a16:creationId xmlns:a16="http://schemas.microsoft.com/office/drawing/2014/main" id="{3115DB86-F1EC-4B0E-B1E5-A5ABD7AB3AC9}"/>
              </a:ext>
            </a:extLst>
          </p:cNvPr>
          <p:cNvSpPr>
            <a:spLocks xmlns:a="http://schemas.openxmlformats.org/drawingml/2006/main" noGrp="1"/>
          </p:cNvSpPr>
          <p:nvPr/>
        </p:nvSpPr>
        <p:spPr>
          <a:xfrm xmlns:a="http://schemas.openxmlformats.org/drawingml/2006/main">
            <a:off x="762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Gmail 수신·발신</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Thread와 참여자</a:t>
            </a:r>
          </a:p>
        </p:txBody>
      </p:sp>
      <p:sp>
        <p:nvSpPr>
          <p:cNvPr id="11" name="">
            <a:extLst xmlns:a="http://schemas.openxmlformats.org/drawingml/2006/main">
              <a:ext uri="{FF2B5EF4-FFF2-40B4-BE49-F238E27FC236}">
                <a16:creationId xmlns:a16="http://schemas.microsoft.com/office/drawing/2014/main" id="{85D9F9FC-0A6E-43A6-B3D4-D2F685C2D316}"/>
              </a:ext>
            </a:extLst>
          </p:cNvPr>
          <p:cNvSpPr>
            <a:spLocks xmlns:a="http://schemas.openxmlformats.org/drawingml/2006/main" noGrp="1"/>
          </p:cNvSpPr>
          <p:nvPr/>
        </p:nvSpPr>
        <p:spPr>
          <a:xfrm xmlns:a="http://schemas.openxmlformats.org/drawingml/2006/main">
            <a:off x="2457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B56FB75-4DCF-4F16-A8A6-94FDF70503F9}"/>
              </a:ext>
            </a:extLst>
          </p:cNvPr>
          <p:cNvSpPr>
            <a:spLocks xmlns:a="http://schemas.openxmlformats.org/drawingml/2006/main" noGrp="1"/>
          </p:cNvSpPr>
          <p:nvPr/>
        </p:nvSpPr>
        <p:spPr>
          <a:xfrm xmlns:a="http://schemas.openxmlformats.org/drawingml/2006/main">
            <a:off x="2857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58BDF5D2-ACB8-44DC-A080-D090AF9A4084}"/>
              </a:ext>
            </a:extLst>
          </p:cNvPr>
          <p:cNvSpPr>
            <a:spLocks xmlns:a="http://schemas.openxmlformats.org/drawingml/2006/main" noGrp="1"/>
          </p:cNvSpPr>
          <p:nvPr/>
        </p:nvSpPr>
        <p:spPr>
          <a:xfrm xmlns:a="http://schemas.openxmlformats.org/drawingml/2006/main">
            <a:off x="2857500" y="2381250"/>
            <a:ext cx="76200" cy="1104900"/>
          </a:xfrm>
          <a:prstGeom xmlns:a="http://schemas.openxmlformats.org/drawingml/2006/main" prst="roundRect">
            <a:avLst>
              <a:gd name="adj" fmla="val 50000"/>
            </a:avLst>
          </a:prstGeom>
          <a:solidFill xmlns:a="http://schemas.openxmlformats.org/drawingml/2006/main">
            <a:srgbClr val="20B8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034939E-2665-41C3-9330-8E4F560AF908}"/>
              </a:ext>
            </a:extLst>
          </p:cNvPr>
          <p:cNvSpPr>
            <a:spLocks xmlns:a="http://schemas.openxmlformats.org/drawingml/2006/main" noGrp="1"/>
          </p:cNvSpPr>
          <p:nvPr/>
        </p:nvSpPr>
        <p:spPr>
          <a:xfrm xmlns:a="http://schemas.openxmlformats.org/drawingml/2006/main">
            <a:off x="3048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의미 분석</a:t>
            </a:r>
          </a:p>
        </p:txBody>
      </p:sp>
      <p:sp>
        <p:nvSpPr>
          <p:cNvPr id="15" name="">
            <a:extLst xmlns:a="http://schemas.openxmlformats.org/drawingml/2006/main">
              <a:ext uri="{FF2B5EF4-FFF2-40B4-BE49-F238E27FC236}">
                <a16:creationId xmlns:a16="http://schemas.microsoft.com/office/drawing/2014/main" id="{DE7B30FF-0BEB-487E-A963-A8C46B0AE132}"/>
              </a:ext>
            </a:extLst>
          </p:cNvPr>
          <p:cNvSpPr>
            <a:spLocks xmlns:a="http://schemas.openxmlformats.org/drawingml/2006/main" noGrp="1"/>
          </p:cNvSpPr>
          <p:nvPr/>
        </p:nvSpPr>
        <p:spPr>
          <a:xfrm xmlns:a="http://schemas.openxmlformats.org/drawingml/2006/main">
            <a:off x="3048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요청·기한·Intent</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회사 LLM 구조화</a:t>
            </a:r>
          </a:p>
        </p:txBody>
      </p:sp>
      <p:sp>
        <p:nvSpPr>
          <p:cNvPr id="16" name="">
            <a:extLst xmlns:a="http://schemas.openxmlformats.org/drawingml/2006/main">
              <a:ext uri="{FF2B5EF4-FFF2-40B4-BE49-F238E27FC236}">
                <a16:creationId xmlns:a16="http://schemas.microsoft.com/office/drawing/2014/main" id="{3D9BA0D2-2B4E-449C-92BC-F65CDF8412B9}"/>
              </a:ext>
            </a:extLst>
          </p:cNvPr>
          <p:cNvSpPr>
            <a:spLocks xmlns:a="http://schemas.openxmlformats.org/drawingml/2006/main" noGrp="1"/>
          </p:cNvSpPr>
          <p:nvPr/>
        </p:nvSpPr>
        <p:spPr>
          <a:xfrm xmlns:a="http://schemas.openxmlformats.org/drawingml/2006/main">
            <a:off x="4743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A85CCF3-32FB-4FF3-99C8-5BCF8AB57471}"/>
              </a:ext>
            </a:extLst>
          </p:cNvPr>
          <p:cNvSpPr>
            <a:spLocks xmlns:a="http://schemas.openxmlformats.org/drawingml/2006/main" noGrp="1"/>
          </p:cNvSpPr>
          <p:nvPr/>
        </p:nvSpPr>
        <p:spPr>
          <a:xfrm xmlns:a="http://schemas.openxmlformats.org/drawingml/2006/main">
            <a:off x="5143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18" name="">
            <a:extLst xmlns:a="http://schemas.openxmlformats.org/drawingml/2006/main">
              <a:ext uri="{FF2B5EF4-FFF2-40B4-BE49-F238E27FC236}">
                <a16:creationId xmlns:a16="http://schemas.microsoft.com/office/drawing/2014/main" id="{86A2A5EE-E030-4DB3-975D-0C0949061BF7}"/>
              </a:ext>
            </a:extLst>
          </p:cNvPr>
          <p:cNvSpPr>
            <a:spLocks xmlns:a="http://schemas.openxmlformats.org/drawingml/2006/main" noGrp="1"/>
          </p:cNvSpPr>
          <p:nvPr/>
        </p:nvSpPr>
        <p:spPr>
          <a:xfrm xmlns:a="http://schemas.openxmlformats.org/drawingml/2006/main">
            <a:off x="5143500" y="2381250"/>
            <a:ext cx="76200" cy="1104900"/>
          </a:xfrm>
          <a:prstGeom xmlns:a="http://schemas.openxmlformats.org/drawingml/2006/main" prst="roundRect">
            <a:avLst>
              <a:gd name="adj" fmla="val 50000"/>
            </a:avLst>
          </a:prstGeom>
          <a:solidFill xmlns:a="http://schemas.openxmlformats.org/drawingml/2006/main">
            <a:srgbClr val="7657D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A75E61A-EA54-4ADE-B944-1966CB25F13F}"/>
              </a:ext>
            </a:extLst>
          </p:cNvPr>
          <p:cNvSpPr>
            <a:spLocks xmlns:a="http://schemas.openxmlformats.org/drawingml/2006/main" noGrp="1"/>
          </p:cNvSpPr>
          <p:nvPr/>
        </p:nvSpPr>
        <p:spPr>
          <a:xfrm xmlns:a="http://schemas.openxmlformats.org/drawingml/2006/main">
            <a:off x="5334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관계 판단</a:t>
            </a:r>
          </a:p>
        </p:txBody>
      </p:sp>
      <p:sp>
        <p:nvSpPr>
          <p:cNvPr id="20" name="">
            <a:extLst xmlns:a="http://schemas.openxmlformats.org/drawingml/2006/main">
              <a:ext uri="{FF2B5EF4-FFF2-40B4-BE49-F238E27FC236}">
                <a16:creationId xmlns:a16="http://schemas.microsoft.com/office/drawing/2014/main" id="{38DD47E5-C400-4C3B-93D7-AB138512E83E}"/>
              </a:ext>
            </a:extLst>
          </p:cNvPr>
          <p:cNvSpPr>
            <a:spLocks xmlns:a="http://schemas.openxmlformats.org/drawingml/2006/main" noGrp="1"/>
          </p:cNvSpPr>
          <p:nvPr/>
        </p:nvSpPr>
        <p:spPr>
          <a:xfrm xmlns:a="http://schemas.openxmlformats.org/drawingml/2006/main">
            <a:off x="5334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Task Context RAG</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Action Proposal</a:t>
            </a:r>
          </a:p>
        </p:txBody>
      </p:sp>
      <p:sp>
        <p:nvSpPr>
          <p:cNvPr id="21" name="">
            <a:extLst xmlns:a="http://schemas.openxmlformats.org/drawingml/2006/main">
              <a:ext uri="{FF2B5EF4-FFF2-40B4-BE49-F238E27FC236}">
                <a16:creationId xmlns:a16="http://schemas.microsoft.com/office/drawing/2014/main" id="{265E6D86-85F9-4D72-953A-33FAA9959267}"/>
              </a:ext>
            </a:extLst>
          </p:cNvPr>
          <p:cNvSpPr>
            <a:spLocks xmlns:a="http://schemas.openxmlformats.org/drawingml/2006/main" noGrp="1"/>
          </p:cNvSpPr>
          <p:nvPr/>
        </p:nvSpPr>
        <p:spPr>
          <a:xfrm xmlns:a="http://schemas.openxmlformats.org/drawingml/2006/main">
            <a:off x="7029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1D82F41-7741-44FC-B303-337B6F92F7F3}"/>
              </a:ext>
            </a:extLst>
          </p:cNvPr>
          <p:cNvSpPr>
            <a:spLocks xmlns:a="http://schemas.openxmlformats.org/drawingml/2006/main" noGrp="1"/>
          </p:cNvSpPr>
          <p:nvPr/>
        </p:nvSpPr>
        <p:spPr>
          <a:xfrm xmlns:a="http://schemas.openxmlformats.org/drawingml/2006/main">
            <a:off x="7429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3" name="">
            <a:extLst xmlns:a="http://schemas.openxmlformats.org/drawingml/2006/main">
              <a:ext uri="{FF2B5EF4-FFF2-40B4-BE49-F238E27FC236}">
                <a16:creationId xmlns:a16="http://schemas.microsoft.com/office/drawing/2014/main" id="{E5CCBAF8-572D-464D-B559-2D0D644DB15B}"/>
              </a:ext>
            </a:extLst>
          </p:cNvPr>
          <p:cNvSpPr>
            <a:spLocks xmlns:a="http://schemas.openxmlformats.org/drawingml/2006/main" noGrp="1"/>
          </p:cNvSpPr>
          <p:nvPr/>
        </p:nvSpPr>
        <p:spPr>
          <a:xfrm xmlns:a="http://schemas.openxmlformats.org/drawingml/2006/main">
            <a:off x="7429500" y="2381250"/>
            <a:ext cx="76200" cy="1104900"/>
          </a:xfrm>
          <a:prstGeom xmlns:a="http://schemas.openxmlformats.org/drawingml/2006/main" prst="roundRect">
            <a:avLst>
              <a:gd name="adj" fmla="val 50000"/>
            </a:avLst>
          </a:prstGeom>
          <a:solidFill xmlns:a="http://schemas.openxmlformats.org/drawingml/2006/main">
            <a:srgbClr val="C77B0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82488D9-2D26-4634-B513-89FA91B3FAB5}"/>
              </a:ext>
            </a:extLst>
          </p:cNvPr>
          <p:cNvSpPr>
            <a:spLocks xmlns:a="http://schemas.openxmlformats.org/drawingml/2006/main" noGrp="1"/>
          </p:cNvSpPr>
          <p:nvPr/>
        </p:nvSpPr>
        <p:spPr>
          <a:xfrm xmlns:a="http://schemas.openxmlformats.org/drawingml/2006/main">
            <a:off x="7620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안전 실행</a:t>
            </a:r>
          </a:p>
        </p:txBody>
      </p:sp>
      <p:sp>
        <p:nvSpPr>
          <p:cNvPr id="25" name="">
            <a:extLst xmlns:a="http://schemas.openxmlformats.org/drawingml/2006/main">
              <a:ext uri="{FF2B5EF4-FFF2-40B4-BE49-F238E27FC236}">
                <a16:creationId xmlns:a16="http://schemas.microsoft.com/office/drawing/2014/main" id="{417F4FF7-D710-49C6-92DB-739870C523BA}"/>
              </a:ext>
            </a:extLst>
          </p:cNvPr>
          <p:cNvSpPr>
            <a:spLocks xmlns:a="http://schemas.openxmlformats.org/drawingml/2006/main" noGrp="1"/>
          </p:cNvSpPr>
          <p:nvPr/>
        </p:nvSpPr>
        <p:spPr>
          <a:xfrm xmlns:a="http://schemas.openxmlformats.org/drawingml/2006/main">
            <a:off x="7620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Python Guard</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필요 시 회신·승인</a:t>
            </a:r>
          </a:p>
        </p:txBody>
      </p:sp>
      <p:sp>
        <p:nvSpPr>
          <p:cNvPr id="26" name="">
            <a:extLst xmlns:a="http://schemas.openxmlformats.org/drawingml/2006/main">
              <a:ext uri="{FF2B5EF4-FFF2-40B4-BE49-F238E27FC236}">
                <a16:creationId xmlns:a16="http://schemas.microsoft.com/office/drawing/2014/main" id="{B7E5F08B-FCE4-4D0E-BB08-664F399F6A4D}"/>
              </a:ext>
            </a:extLst>
          </p:cNvPr>
          <p:cNvSpPr>
            <a:spLocks xmlns:a="http://schemas.openxmlformats.org/drawingml/2006/main" noGrp="1"/>
          </p:cNvSpPr>
          <p:nvPr/>
        </p:nvSpPr>
        <p:spPr>
          <a:xfrm xmlns:a="http://schemas.openxmlformats.org/drawingml/2006/main">
            <a:off x="9315450" y="2819400"/>
            <a:ext cx="2667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30C8417-98F9-4BCA-BC76-D3C96126E4D3}"/>
              </a:ext>
            </a:extLst>
          </p:cNvPr>
          <p:cNvSpPr>
            <a:spLocks xmlns:a="http://schemas.openxmlformats.org/drawingml/2006/main" noGrp="1"/>
          </p:cNvSpPr>
          <p:nvPr/>
        </p:nvSpPr>
        <p:spPr>
          <a:xfrm xmlns:a="http://schemas.openxmlformats.org/drawingml/2006/main">
            <a:off x="9715500" y="2381250"/>
            <a:ext cx="1809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E1EF"/>
            </a:solidFill>
          </a:ln>
        </p:spPr>
      </p:sp>
      <p:sp>
        <p:nvSpPr>
          <p:cNvPr id="28" name="">
            <a:extLst xmlns:a="http://schemas.openxmlformats.org/drawingml/2006/main">
              <a:ext uri="{FF2B5EF4-FFF2-40B4-BE49-F238E27FC236}">
                <a16:creationId xmlns:a16="http://schemas.microsoft.com/office/drawing/2014/main" id="{A41B2833-003B-45B1-B1B1-545BC7A60887}"/>
              </a:ext>
            </a:extLst>
          </p:cNvPr>
          <p:cNvSpPr>
            <a:spLocks xmlns:a="http://schemas.openxmlformats.org/drawingml/2006/main" noGrp="1"/>
          </p:cNvSpPr>
          <p:nvPr/>
        </p:nvSpPr>
        <p:spPr>
          <a:xfrm xmlns:a="http://schemas.openxmlformats.org/drawingml/2006/main">
            <a:off x="9715500" y="2381250"/>
            <a:ext cx="76200" cy="1104900"/>
          </a:xfrm>
          <a:prstGeom xmlns:a="http://schemas.openxmlformats.org/drawingml/2006/main" prst="roundRect">
            <a:avLst>
              <a:gd name="adj" fmla="val 50000"/>
            </a:avLst>
          </a:prstGeom>
          <a:solidFill xmlns:a="http://schemas.openxmlformats.org/drawingml/2006/main">
            <a:srgbClr val="138A6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DAEF5DC-3857-43FC-80AF-CB9A634E8C0B}"/>
              </a:ext>
            </a:extLst>
          </p:cNvPr>
          <p:cNvSpPr>
            <a:spLocks xmlns:a="http://schemas.openxmlformats.org/drawingml/2006/main" noGrp="1"/>
          </p:cNvSpPr>
          <p:nvPr/>
        </p:nvSpPr>
        <p:spPr>
          <a:xfrm xmlns:a="http://schemas.openxmlformats.org/drawingml/2006/main">
            <a:off x="9906000" y="25431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10243E"/>
                </a:solidFill>
                <a:latin typeface="Malgun Gothic"/>
                <a:ea typeface="Malgun Gothic"/>
                <a:cs typeface="Malgun Gothic"/>
              </a:defRPr>
            </a:pPr>
            <a:r>
              <a:rPr sz="1425" b="1">
                <a:solidFill>
                  <a:srgbClr val="10243E"/>
                </a:solidFill>
                <a:latin typeface="Malgun Gothic"/>
                <a:ea typeface="Malgun Gothic"/>
                <a:cs typeface="Malgun Gothic"/>
              </a:rPr>
              <a:t>결과 기억</a:t>
            </a:r>
          </a:p>
        </p:txBody>
      </p:sp>
      <p:sp>
        <p:nvSpPr>
          <p:cNvPr id="30" name="">
            <a:extLst xmlns:a="http://schemas.openxmlformats.org/drawingml/2006/main">
              <a:ext uri="{FF2B5EF4-FFF2-40B4-BE49-F238E27FC236}">
                <a16:creationId xmlns:a16="http://schemas.microsoft.com/office/drawing/2014/main" id="{3A527159-EAF2-4DBC-A6E8-9BC33819F10E}"/>
              </a:ext>
            </a:extLst>
          </p:cNvPr>
          <p:cNvSpPr>
            <a:spLocks xmlns:a="http://schemas.openxmlformats.org/drawingml/2006/main" noGrp="1"/>
          </p:cNvSpPr>
          <p:nvPr/>
        </p:nvSpPr>
        <p:spPr>
          <a:xfrm xmlns:a="http://schemas.openxmlformats.org/drawingml/2006/main">
            <a:off x="9906000" y="2867025"/>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Gmail 발송·후속 Mail</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Task·History·Trace</a:t>
            </a:r>
          </a:p>
        </p:txBody>
      </p:sp>
      <p:sp>
        <p:nvSpPr>
          <p:cNvPr id="31" name="">
            <a:extLst xmlns:a="http://schemas.openxmlformats.org/drawingml/2006/main">
              <a:ext uri="{FF2B5EF4-FFF2-40B4-BE49-F238E27FC236}">
                <a16:creationId xmlns:a16="http://schemas.microsoft.com/office/drawing/2014/main" id="{3797B6C4-17D2-48E7-97F2-584DD0621808}"/>
              </a:ext>
            </a:extLst>
          </p:cNvPr>
          <p:cNvSpPr>
            <a:spLocks xmlns:a="http://schemas.openxmlformats.org/drawingml/2006/main" noGrp="1"/>
          </p:cNvSpPr>
          <p:nvPr/>
        </p:nvSpPr>
        <p:spPr>
          <a:xfrm xmlns:a="http://schemas.openxmlformats.org/drawingml/2006/main">
            <a:off x="571500" y="385762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핵심 기술</a:t>
            </a:r>
          </a:p>
        </p:txBody>
      </p:sp>
      <p:sp>
        <p:nvSpPr>
          <p:cNvPr id="32" name="">
            <a:extLst xmlns:a="http://schemas.openxmlformats.org/drawingml/2006/main">
              <a:ext uri="{FF2B5EF4-FFF2-40B4-BE49-F238E27FC236}">
                <a16:creationId xmlns:a16="http://schemas.microsoft.com/office/drawing/2014/main" id="{CC7B37C7-BFEA-4084-B289-B0488F873BCD}"/>
              </a:ext>
            </a:extLst>
          </p:cNvPr>
          <p:cNvSpPr>
            <a:spLocks xmlns:a="http://schemas.openxmlformats.org/drawingml/2006/main" noGrp="1"/>
          </p:cNvSpPr>
          <p:nvPr/>
        </p:nvSpPr>
        <p:spPr>
          <a:xfrm xmlns:a="http://schemas.openxmlformats.org/drawingml/2006/main">
            <a:off x="1952625" y="3857625"/>
            <a:ext cx="928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657187"/>
                </a:solidFill>
                <a:latin typeface="Malgun Gothic"/>
                <a:ea typeface="Malgun Gothic"/>
                <a:cs typeface="Malgun Gothic"/>
              </a:defRPr>
            </a:pPr>
            <a:r>
              <a:rPr sz="1200" b="1">
                <a:solidFill>
                  <a:srgbClr val="657187"/>
                </a:solidFill>
                <a:latin typeface="Malgun Gothic"/>
                <a:ea typeface="Malgun Gothic"/>
                <a:cs typeface="Malgun Gothic"/>
              </a:rPr>
              <a:t>회사 gpt-4.1-mini  ·  Python + Pydantic  ·  SQLite Task Context  ·  Gmail API  ·  Streamlit</a:t>
            </a:r>
          </a:p>
        </p:txBody>
      </p:sp>
      <p:sp>
        <p:nvSpPr>
          <p:cNvPr id="33" name="">
            <a:extLst xmlns:a="http://schemas.openxmlformats.org/drawingml/2006/main">
              <a:ext uri="{FF2B5EF4-FFF2-40B4-BE49-F238E27FC236}">
                <a16:creationId xmlns:a16="http://schemas.microsoft.com/office/drawing/2014/main" id="{0ADD6516-84F6-46D4-92EB-FF4EB4698BD3}"/>
              </a:ext>
            </a:extLst>
          </p:cNvPr>
          <p:cNvSpPr>
            <a:spLocks xmlns:a="http://schemas.openxmlformats.org/drawingml/2006/main" noGrp="1"/>
          </p:cNvSpPr>
          <p:nvPr/>
        </p:nvSpPr>
        <p:spPr>
          <a:xfrm xmlns:a="http://schemas.openxmlformats.org/drawingml/2006/main">
            <a:off x="571500" y="42957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0243E"/>
                </a:solidFill>
                <a:latin typeface="Malgun Gothic"/>
                <a:ea typeface="Malgun Gothic"/>
                <a:cs typeface="Malgun Gothic"/>
              </a:defRPr>
            </a:pPr>
            <a:r>
              <a:rPr sz="1575" b="1">
                <a:solidFill>
                  <a:srgbClr val="10243E"/>
                </a:solidFill>
                <a:latin typeface="Malgun Gothic"/>
                <a:ea typeface="Malgun Gothic"/>
                <a:cs typeface="Malgun Gothic"/>
              </a:rPr>
              <a:t>검증 결과</a:t>
            </a:r>
          </a:p>
        </p:txBody>
      </p:sp>
      <p:sp>
        <p:nvSpPr>
          <p:cNvPr id="34" name="">
            <a:extLst xmlns:a="http://schemas.openxmlformats.org/drawingml/2006/main">
              <a:ext uri="{FF2B5EF4-FFF2-40B4-BE49-F238E27FC236}">
                <a16:creationId xmlns:a16="http://schemas.microsoft.com/office/drawing/2014/main" id="{8D2E41B3-789B-4BCF-9804-1D3F43D845EE}"/>
              </a:ext>
            </a:extLst>
          </p:cNvPr>
          <p:cNvSpPr>
            <a:spLocks xmlns:a="http://schemas.openxmlformats.org/drawingml/2006/main" noGrp="1"/>
          </p:cNvSpPr>
          <p:nvPr/>
        </p:nvSpPr>
        <p:spPr>
          <a:xfrm xmlns:a="http://schemas.openxmlformats.org/drawingml/2006/main">
            <a:off x="57150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28/28</a:t>
            </a:r>
          </a:p>
        </p:txBody>
      </p:sp>
      <p:sp>
        <p:nvSpPr>
          <p:cNvPr id="35" name="">
            <a:extLst xmlns:a="http://schemas.openxmlformats.org/drawingml/2006/main">
              <a:ext uri="{FF2B5EF4-FFF2-40B4-BE49-F238E27FC236}">
                <a16:creationId xmlns:a16="http://schemas.microsoft.com/office/drawing/2014/main" id="{94A49C27-B905-41A1-AAA9-64010C344BCF}"/>
              </a:ext>
            </a:extLst>
          </p:cNvPr>
          <p:cNvSpPr>
            <a:spLocks xmlns:a="http://schemas.openxmlformats.org/drawingml/2006/main" noGrp="1"/>
          </p:cNvSpPr>
          <p:nvPr/>
        </p:nvSpPr>
        <p:spPr>
          <a:xfrm xmlns:a="http://schemas.openxmlformats.org/drawingml/2006/main">
            <a:off x="57150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Action 단계</a:t>
            </a:r>
          </a:p>
        </p:txBody>
      </p:sp>
      <p:sp>
        <p:nvSpPr>
          <p:cNvPr id="36" name="">
            <a:extLst xmlns:a="http://schemas.openxmlformats.org/drawingml/2006/main">
              <a:ext uri="{FF2B5EF4-FFF2-40B4-BE49-F238E27FC236}">
                <a16:creationId xmlns:a16="http://schemas.microsoft.com/office/drawing/2014/main" id="{5918798C-16E9-4F68-AB98-0ABB5F684ED2}"/>
              </a:ext>
            </a:extLst>
          </p:cNvPr>
          <p:cNvSpPr>
            <a:spLocks xmlns:a="http://schemas.openxmlformats.org/drawingml/2006/main" noGrp="1"/>
          </p:cNvSpPr>
          <p:nvPr/>
        </p:nvSpPr>
        <p:spPr>
          <a:xfrm xmlns:a="http://schemas.openxmlformats.org/drawingml/2006/main">
            <a:off x="321945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769E0"/>
                </a:solidFill>
                <a:latin typeface="Malgun Gothic"/>
                <a:ea typeface="Malgun Gothic"/>
                <a:cs typeface="Malgun Gothic"/>
              </a:defRPr>
            </a:pPr>
            <a:r>
              <a:rPr sz="2400" b="1">
                <a:solidFill>
                  <a:srgbClr val="1769E0"/>
                </a:solidFill>
                <a:latin typeface="Malgun Gothic"/>
                <a:ea typeface="Malgun Gothic"/>
                <a:cs typeface="Malgun Gothic"/>
              </a:rPr>
              <a:t>3/3</a:t>
            </a:r>
          </a:p>
        </p:txBody>
      </p:sp>
      <p:sp>
        <p:nvSpPr>
          <p:cNvPr id="37" name="">
            <a:extLst xmlns:a="http://schemas.openxmlformats.org/drawingml/2006/main">
              <a:ext uri="{FF2B5EF4-FFF2-40B4-BE49-F238E27FC236}">
                <a16:creationId xmlns:a16="http://schemas.microsoft.com/office/drawing/2014/main" id="{52EDD4F6-37BC-465C-B269-C540B48660D2}"/>
              </a:ext>
            </a:extLst>
          </p:cNvPr>
          <p:cNvSpPr>
            <a:spLocks xmlns:a="http://schemas.openxmlformats.org/drawingml/2006/main" noGrp="1"/>
          </p:cNvSpPr>
          <p:nvPr/>
        </p:nvSpPr>
        <p:spPr>
          <a:xfrm xmlns:a="http://schemas.openxmlformats.org/drawingml/2006/main">
            <a:off x="321945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Agent Context Live</a:t>
            </a:r>
          </a:p>
        </p:txBody>
      </p:sp>
      <p:sp>
        <p:nvSpPr>
          <p:cNvPr id="38" name="">
            <a:extLst xmlns:a="http://schemas.openxmlformats.org/drawingml/2006/main">
              <a:ext uri="{FF2B5EF4-FFF2-40B4-BE49-F238E27FC236}">
                <a16:creationId xmlns:a16="http://schemas.microsoft.com/office/drawing/2014/main" id="{21575A69-7F03-4AC9-BF2D-377728F7F2A4}"/>
              </a:ext>
            </a:extLst>
          </p:cNvPr>
          <p:cNvSpPr>
            <a:spLocks xmlns:a="http://schemas.openxmlformats.org/drawingml/2006/main" noGrp="1"/>
          </p:cNvSpPr>
          <p:nvPr/>
        </p:nvSpPr>
        <p:spPr>
          <a:xfrm xmlns:a="http://schemas.openxmlformats.org/drawingml/2006/main">
            <a:off x="5867400" y="46958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ctr">
              <a:defRPr sz="2400" b="1">
                <a:solidFill>
                  <a:srgbClr val="138A62"/>
                </a:solidFill>
                <a:latin typeface="Malgun Gothic"/>
                <a:ea typeface="Malgun Gothic"/>
                <a:cs typeface="Malgun Gothic"/>
              </a:defRPr>
            </a:pPr>
            <a:r>
              <a:rPr sz="2400" b="1">
                <a:solidFill>
                  <a:srgbClr val="138A62"/>
                </a:solidFill>
                <a:latin typeface="Malgun Gothic"/>
                <a:ea typeface="Malgun Gothic"/>
                <a:cs typeface="Malgun Gothic"/>
              </a:rPr>
              <a:t>20/20</a:t>
            </a:r>
          </a:p>
        </p:txBody>
      </p:sp>
      <p:sp>
        <p:nvSpPr>
          <p:cNvPr id="39" name="">
            <a:extLst xmlns:a="http://schemas.openxmlformats.org/drawingml/2006/main">
              <a:ext uri="{FF2B5EF4-FFF2-40B4-BE49-F238E27FC236}">
                <a16:creationId xmlns:a16="http://schemas.microsoft.com/office/drawing/2014/main" id="{73FFBDDB-EFC1-4C22-B4A6-EA85AD2CA9E7}"/>
              </a:ext>
            </a:extLst>
          </p:cNvPr>
          <p:cNvSpPr>
            <a:spLocks xmlns:a="http://schemas.openxmlformats.org/drawingml/2006/main" noGrp="1"/>
          </p:cNvSpPr>
          <p:nvPr/>
        </p:nvSpPr>
        <p:spPr>
          <a:xfrm xmlns:a="http://schemas.openxmlformats.org/drawingml/2006/main">
            <a:off x="5867400" y="50958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ctr">
              <a:defRPr sz="1125" b="1">
                <a:solidFill>
                  <a:srgbClr val="657187"/>
                </a:solidFill>
                <a:latin typeface="Malgun Gothic"/>
                <a:ea typeface="Malgun Gothic"/>
                <a:cs typeface="Malgun Gothic"/>
              </a:defRPr>
            </a:pPr>
            <a:r>
              <a:rPr sz="1125" b="1">
                <a:solidFill>
                  <a:srgbClr val="657187"/>
                </a:solidFill>
                <a:latin typeface="Malgun Gothic"/>
                <a:ea typeface="Malgun Gothic"/>
                <a:cs typeface="Malgun Gothic"/>
              </a:rPr>
              <a:t>Gmail 수용시험</a:t>
            </a:r>
          </a:p>
        </p:txBody>
      </p:sp>
      <p:sp>
        <p:nvSpPr>
          <p:cNvPr id="40" name="">
            <a:extLst xmlns:a="http://schemas.openxmlformats.org/drawingml/2006/main">
              <a:ext uri="{FF2B5EF4-FFF2-40B4-BE49-F238E27FC236}">
                <a16:creationId xmlns:a16="http://schemas.microsoft.com/office/drawing/2014/main" id="{27CCAF9A-5B6E-4400-94B8-979D90CF51E1}"/>
              </a:ext>
            </a:extLst>
          </p:cNvPr>
          <p:cNvSpPr>
            <a:spLocks xmlns:a="http://schemas.openxmlformats.org/drawingml/2006/main" noGrp="1"/>
          </p:cNvSpPr>
          <p:nvPr/>
        </p:nvSpPr>
        <p:spPr>
          <a:xfrm xmlns:a="http://schemas.openxmlformats.org/drawingml/2006/main">
            <a:off x="8572500" y="46291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18"/>
          </a:bodyPr>
          <a:lstStyle xmlns:a="http://schemas.openxmlformats.org/drawingml/2006/main"/>
          <a:p xmlns:a="http://schemas.openxmlformats.org/drawingml/2006/main">
            <a:pPr algn="r">
              <a:defRPr sz="1050" b="1">
                <a:solidFill>
                  <a:srgbClr val="10243E"/>
                </a:solidFill>
                <a:latin typeface="Malgun Gothic"/>
                <a:ea typeface="Malgun Gothic"/>
                <a:cs typeface="Malgun Gothic"/>
              </a:defRPr>
            </a:pPr>
            <a:r>
              <a:rPr sz="1050" b="1">
                <a:solidFill>
                  <a:srgbClr val="10243E"/>
                </a:solidFill>
                <a:latin typeface="Malgun Gothic"/>
                <a:ea typeface="Malgun Gothic"/>
                <a:cs typeface="Malgun Gothic"/>
              </a:rPr>
              <a:t>보조 검증  |  pytest 179 passed  ·  중복 재조회 35/35</a:t>
            </a:r>
          </a:p>
        </p:txBody>
      </p:sp>
      <p:sp>
        <p:nvSpPr>
          <p:cNvPr id="41" name="">
            <a:extLst xmlns:a="http://schemas.openxmlformats.org/drawingml/2006/main">
              <a:ext uri="{FF2B5EF4-FFF2-40B4-BE49-F238E27FC236}">
                <a16:creationId xmlns:a16="http://schemas.microsoft.com/office/drawing/2014/main" id="{3BF94959-6C0C-427D-9573-58471F19B4F6}"/>
              </a:ext>
            </a:extLst>
          </p:cNvPr>
          <p:cNvSpPr>
            <a:spLocks xmlns:a="http://schemas.openxmlformats.org/drawingml/2006/main" noGrp="1"/>
          </p:cNvSpPr>
          <p:nvPr/>
        </p:nvSpPr>
        <p:spPr>
          <a:xfrm xmlns:a="http://schemas.openxmlformats.org/drawingml/2006/main">
            <a:off x="8572500" y="4914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lgn="r">
              <a:defRPr sz="1050" b="1">
                <a:solidFill>
                  <a:srgbClr val="138A62"/>
                </a:solidFill>
                <a:latin typeface="Malgun Gothic"/>
                <a:ea typeface="Malgun Gothic"/>
                <a:cs typeface="Malgun Gothic"/>
              </a:defRPr>
            </a:pPr>
            <a:r>
              <a:rPr sz="1050" b="1">
                <a:solidFill>
                  <a:srgbClr val="138A62"/>
                </a:solidFill>
                <a:latin typeface="Malgun Gothic"/>
                <a:ea typeface="Malgun Gothic"/>
                <a:cs typeface="Malgun Gothic"/>
              </a:rPr>
              <a:t>Reply Planning 3/3  ·  Draft 1/1</a:t>
            </a:r>
          </a:p>
          <a:p xmlns:a="http://schemas.openxmlformats.org/drawingml/2006/main">
            <a:pPr algn="r">
              <a:defRPr sz="1050" b="1">
                <a:solidFill>
                  <a:srgbClr val="138A62"/>
                </a:solidFill>
                <a:latin typeface="Malgun Gothic"/>
                <a:ea typeface="Malgun Gothic"/>
                <a:cs typeface="Malgun Gothic"/>
              </a:defRPr>
            </a:pPr>
            <a:r>
              <a:rPr sz="1050" b="1">
                <a:solidFill>
                  <a:srgbClr val="138A62"/>
                </a:solidFill>
                <a:latin typeface="Malgun Gothic"/>
                <a:ea typeface="Malgun Gothic"/>
                <a:cs typeface="Malgun Gothic"/>
              </a:rPr>
              <a:t>사용자 승인 실제 Gmail 발송 1건</a:t>
            </a:r>
          </a:p>
        </p:txBody>
      </p:sp>
      <p:sp>
        <p:nvSpPr>
          <p:cNvPr id="42" name="">
            <a:extLst xmlns:a="http://schemas.openxmlformats.org/drawingml/2006/main">
              <a:ext uri="{FF2B5EF4-FFF2-40B4-BE49-F238E27FC236}">
                <a16:creationId xmlns:a16="http://schemas.microsoft.com/office/drawing/2014/main" id="{C199B579-025E-48A8-A581-FDF4F3B2E788}"/>
              </a:ext>
            </a:extLst>
          </p:cNvPr>
          <p:cNvSpPr>
            <a:spLocks xmlns:a="http://schemas.openxmlformats.org/drawingml/2006/main" noGrp="1"/>
          </p:cNvSpPr>
          <p:nvPr/>
        </p:nvSpPr>
        <p:spPr>
          <a:xfrm xmlns:a="http://schemas.openxmlformats.org/drawingml/2006/main">
            <a:off x="8572500" y="531495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57187"/>
                </a:solidFill>
                <a:latin typeface="Malgun Gothic"/>
                <a:ea typeface="Malgun Gothic"/>
                <a:cs typeface="Malgun Gothic"/>
              </a:defRPr>
            </a:pPr>
            <a:r>
              <a:rPr sz="900" b="0">
                <a:solidFill>
                  <a:srgbClr val="657187"/>
                </a:solidFill>
                <a:latin typeface="Malgun Gothic"/>
                <a:ea typeface="Malgun Gothic"/>
                <a:cs typeface="Malgun Gothic"/>
              </a:rPr>
              <a:t>사용자 체감 시간은 미측정입니다.</a:t>
            </a:r>
          </a:p>
        </p:txBody>
      </p:sp>
      <p:sp>
        <p:nvSpPr>
          <p:cNvPr id="43" name="">
            <a:extLst xmlns:a="http://schemas.openxmlformats.org/drawingml/2006/main">
              <a:ext uri="{FF2B5EF4-FFF2-40B4-BE49-F238E27FC236}">
                <a16:creationId xmlns:a16="http://schemas.microsoft.com/office/drawing/2014/main" id="{B556CB86-7EE0-4DC0-B78E-3710E8D94593}"/>
              </a:ext>
            </a:extLst>
          </p:cNvPr>
          <p:cNvSpPr>
            <a:spLocks xmlns:a="http://schemas.openxmlformats.org/drawingml/2006/main" noGrp="1"/>
          </p:cNvSpPr>
          <p:nvPr/>
        </p:nvSpPr>
        <p:spPr>
          <a:xfrm xmlns:a="http://schemas.openxmlformats.org/drawingml/2006/main">
            <a:off x="571500" y="5562600"/>
            <a:ext cx="11049000" cy="457200"/>
          </a:xfrm>
          <a:prstGeom xmlns:a="http://schemas.openxmlformats.org/drawingml/2006/main" prst="roundRect">
            <a:avLst>
              <a:gd name="adj" fmla="val 16667"/>
            </a:avLst>
          </a:prstGeom>
          <a:solidFill xmlns:a="http://schemas.openxmlformats.org/drawingml/2006/main">
            <a:srgbClr val="EFF5F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17C1BD2-20D5-4145-AE3E-A2FB5216AC42}"/>
              </a:ext>
            </a:extLst>
          </p:cNvPr>
          <p:cNvSpPr>
            <a:spLocks xmlns:a="http://schemas.openxmlformats.org/drawingml/2006/main" noGrp="1"/>
          </p:cNvSpPr>
          <p:nvPr/>
        </p:nvSpPr>
        <p:spPr>
          <a:xfrm xmlns:a="http://schemas.openxmlformats.org/drawingml/2006/main">
            <a:off x="781050" y="56483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핵심 메시지  |  불확실한 업무 관계와 필요한 회신 방식은 Agent가 판단하고, Python과 사용자가 실행 위험을 통제합니다.</a:t>
            </a:r>
          </a:p>
        </p:txBody>
      </p:sp>
    </p:spTree>
    <p:extLst>
      <p:ext uri="{BB962C8B-B14F-4D97-AF65-F5344CB8AC3E}">
        <p14:creationId xmlns:p14="http://schemas.microsoft.com/office/powerpoint/2010/main" val="3027385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318E0669-D38A-402E-B4C2-86D54FD051D1}"/>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A2FBA5-3E51-4FE9-955A-D11235FDA992}"/>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기술 아키텍처와 Agent 판단 구조</a:t>
            </a:r>
          </a:p>
        </p:txBody>
      </p:sp>
      <p:sp>
        <p:nvSpPr>
          <p:cNvPr id="3" name="">
            <a:extLst xmlns:a="http://schemas.openxmlformats.org/drawingml/2006/main">
              <a:ext uri="{FF2B5EF4-FFF2-40B4-BE49-F238E27FC236}">
                <a16:creationId xmlns:a16="http://schemas.microsoft.com/office/drawing/2014/main" id="{90AB2FA8-55E4-494F-B629-AA3E7232839F}"/>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CCF4ED-539F-4B72-8A48-30BD2CBC7576}"/>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03</a:t>
            </a:r>
          </a:p>
        </p:txBody>
      </p:sp>
      <p:sp>
        <p:nvSpPr>
          <p:cNvPr id="5" name="">
            <a:extLst xmlns:a="http://schemas.openxmlformats.org/drawingml/2006/main">
              <a:ext uri="{FF2B5EF4-FFF2-40B4-BE49-F238E27FC236}">
                <a16:creationId xmlns:a16="http://schemas.microsoft.com/office/drawing/2014/main" id="{743AFC7B-15FC-47CF-9AE4-5FF684FDA01C}"/>
              </a:ext>
            </a:extLst>
          </p:cNvPr>
          <p:cNvSpPr>
            <a:spLocks xmlns:a="http://schemas.openxmlformats.org/drawingml/2006/main" noGrp="1"/>
          </p:cNvSpPr>
          <p:nvPr/>
        </p:nvSpPr>
        <p:spPr>
          <a:xfrm xmlns:a="http://schemas.openxmlformats.org/drawingml/2006/main">
            <a:off x="571500" y="12001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769E0"/>
                </a:solidFill>
                <a:latin typeface="Malgun Gothic"/>
                <a:ea typeface="Malgun Gothic"/>
                <a:cs typeface="Malgun Gothic"/>
              </a:defRPr>
            </a:pPr>
            <a:r>
              <a:rPr sz="1575" b="1">
                <a:solidFill>
                  <a:srgbClr val="1769E0"/>
                </a:solidFill>
                <a:latin typeface="Malgun Gothic"/>
                <a:ea typeface="Malgun Gothic"/>
                <a:cs typeface="Malgun Gothic"/>
              </a:rPr>
              <a:t>결정론적 경로와 Agent 판단 경로를 함께 사용하는 단일 Agent 구조</a:t>
            </a:r>
          </a:p>
        </p:txBody>
      </p:sp>
      <p:sp>
        <p:nvSpPr>
          <p:cNvPr id="6" name="">
            <a:extLst xmlns:a="http://schemas.openxmlformats.org/drawingml/2006/main">
              <a:ext uri="{FF2B5EF4-FFF2-40B4-BE49-F238E27FC236}">
                <a16:creationId xmlns:a16="http://schemas.microsoft.com/office/drawing/2014/main" id="{81F5BE21-20F8-48F5-BB12-313168B20BF5}"/>
              </a:ext>
            </a:extLst>
          </p:cNvPr>
          <p:cNvSpPr>
            <a:spLocks xmlns:a="http://schemas.openxmlformats.org/drawingml/2006/main" noGrp="1"/>
          </p:cNvSpPr>
          <p:nvPr/>
        </p:nvSpPr>
        <p:spPr>
          <a:xfrm xmlns:a="http://schemas.openxmlformats.org/drawingml/2006/main">
            <a:off x="571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7" name="">
            <a:extLst xmlns:a="http://schemas.openxmlformats.org/drawingml/2006/main">
              <a:ext uri="{FF2B5EF4-FFF2-40B4-BE49-F238E27FC236}">
                <a16:creationId xmlns:a16="http://schemas.microsoft.com/office/drawing/2014/main" id="{07211CED-AD92-4C74-830B-01181ECD419F}"/>
              </a:ext>
            </a:extLst>
          </p:cNvPr>
          <p:cNvSpPr>
            <a:spLocks xmlns:a="http://schemas.openxmlformats.org/drawingml/2006/main" noGrp="1"/>
          </p:cNvSpPr>
          <p:nvPr/>
        </p:nvSpPr>
        <p:spPr>
          <a:xfrm xmlns:a="http://schemas.openxmlformats.org/drawingml/2006/main">
            <a:off x="742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F702748-B69F-46F8-920A-CE39A8EBE107}"/>
              </a:ext>
            </a:extLst>
          </p:cNvPr>
          <p:cNvSpPr>
            <a:spLocks xmlns:a="http://schemas.openxmlformats.org/drawingml/2006/main" noGrp="1"/>
          </p:cNvSpPr>
          <p:nvPr/>
        </p:nvSpPr>
        <p:spPr>
          <a:xfrm xmlns:a="http://schemas.openxmlformats.org/drawingml/2006/main">
            <a:off x="781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M-01</a:t>
            </a:r>
          </a:p>
        </p:txBody>
      </p:sp>
      <p:sp>
        <p:nvSpPr>
          <p:cNvPr id="9" name="">
            <a:extLst xmlns:a="http://schemas.openxmlformats.org/drawingml/2006/main">
              <a:ext uri="{FF2B5EF4-FFF2-40B4-BE49-F238E27FC236}">
                <a16:creationId xmlns:a16="http://schemas.microsoft.com/office/drawing/2014/main" id="{D8DC00B0-57F9-4DCE-B009-5EFBBB21911D}"/>
              </a:ext>
            </a:extLst>
          </p:cNvPr>
          <p:cNvSpPr>
            <a:spLocks xmlns:a="http://schemas.openxmlformats.org/drawingml/2006/main" noGrp="1"/>
          </p:cNvSpPr>
          <p:nvPr/>
        </p:nvSpPr>
        <p:spPr>
          <a:xfrm xmlns:a="http://schemas.openxmlformats.org/drawingml/2006/main">
            <a:off x="7048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Mail Analyzer</a:t>
            </a:r>
          </a:p>
        </p:txBody>
      </p:sp>
      <p:sp>
        <p:nvSpPr>
          <p:cNvPr id="10" name="">
            <a:extLst xmlns:a="http://schemas.openxmlformats.org/drawingml/2006/main">
              <a:ext uri="{FF2B5EF4-FFF2-40B4-BE49-F238E27FC236}">
                <a16:creationId xmlns:a16="http://schemas.microsoft.com/office/drawing/2014/main" id="{68C51C1F-5B42-4120-80BD-5CBCC6E0089A}"/>
              </a:ext>
            </a:extLst>
          </p:cNvPr>
          <p:cNvSpPr>
            <a:spLocks xmlns:a="http://schemas.openxmlformats.org/drawingml/2006/main" noGrp="1"/>
          </p:cNvSpPr>
          <p:nvPr/>
        </p:nvSpPr>
        <p:spPr>
          <a:xfrm xmlns:a="http://schemas.openxmlformats.org/drawingml/2006/main">
            <a:off x="7048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의미·Intent·기한</a:t>
            </a:r>
          </a:p>
        </p:txBody>
      </p:sp>
      <p:sp>
        <p:nvSpPr>
          <p:cNvPr id="11" name="">
            <a:extLst xmlns:a="http://schemas.openxmlformats.org/drawingml/2006/main">
              <a:ext uri="{FF2B5EF4-FFF2-40B4-BE49-F238E27FC236}">
                <a16:creationId xmlns:a16="http://schemas.microsoft.com/office/drawing/2014/main" id="{44F1BDE0-A7A4-4BC3-BCC1-2553358F84F7}"/>
              </a:ext>
            </a:extLst>
          </p:cNvPr>
          <p:cNvSpPr>
            <a:spLocks xmlns:a="http://schemas.openxmlformats.org/drawingml/2006/main" noGrp="1"/>
          </p:cNvSpPr>
          <p:nvPr/>
        </p:nvSpPr>
        <p:spPr>
          <a:xfrm xmlns:a="http://schemas.openxmlformats.org/drawingml/2006/main">
            <a:off x="2152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CFA9F30-C351-4468-8969-7B18DC1CEE88}"/>
              </a:ext>
            </a:extLst>
          </p:cNvPr>
          <p:cNvSpPr>
            <a:spLocks xmlns:a="http://schemas.openxmlformats.org/drawingml/2006/main" noGrp="1"/>
          </p:cNvSpPr>
          <p:nvPr/>
        </p:nvSpPr>
        <p:spPr>
          <a:xfrm xmlns:a="http://schemas.openxmlformats.org/drawingml/2006/main">
            <a:off x="2381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13" name="">
            <a:extLst xmlns:a="http://schemas.openxmlformats.org/drawingml/2006/main">
              <a:ext uri="{FF2B5EF4-FFF2-40B4-BE49-F238E27FC236}">
                <a16:creationId xmlns:a16="http://schemas.microsoft.com/office/drawing/2014/main" id="{ECAE0F05-2DA2-452D-8756-0D2092233D7B}"/>
              </a:ext>
            </a:extLst>
          </p:cNvPr>
          <p:cNvSpPr>
            <a:spLocks xmlns:a="http://schemas.openxmlformats.org/drawingml/2006/main" noGrp="1"/>
          </p:cNvSpPr>
          <p:nvPr/>
        </p:nvSpPr>
        <p:spPr>
          <a:xfrm xmlns:a="http://schemas.openxmlformats.org/drawingml/2006/main">
            <a:off x="2552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C103511-C667-4C0B-A5BC-08F5450B0FAC}"/>
              </a:ext>
            </a:extLst>
          </p:cNvPr>
          <p:cNvSpPr>
            <a:spLocks xmlns:a="http://schemas.openxmlformats.org/drawingml/2006/main" noGrp="1"/>
          </p:cNvSpPr>
          <p:nvPr/>
        </p:nvSpPr>
        <p:spPr>
          <a:xfrm xmlns:a="http://schemas.openxmlformats.org/drawingml/2006/main">
            <a:off x="2590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M-02</a:t>
            </a:r>
          </a:p>
        </p:txBody>
      </p:sp>
      <p:sp>
        <p:nvSpPr>
          <p:cNvPr id="15" name="">
            <a:extLst xmlns:a="http://schemas.openxmlformats.org/drawingml/2006/main">
              <a:ext uri="{FF2B5EF4-FFF2-40B4-BE49-F238E27FC236}">
                <a16:creationId xmlns:a16="http://schemas.microsoft.com/office/drawing/2014/main" id="{964C3ED9-B129-4064-849F-9DC4533188EB}"/>
              </a:ext>
            </a:extLst>
          </p:cNvPr>
          <p:cNvSpPr>
            <a:spLocks xmlns:a="http://schemas.openxmlformats.org/drawingml/2006/main" noGrp="1"/>
          </p:cNvSpPr>
          <p:nvPr/>
        </p:nvSpPr>
        <p:spPr>
          <a:xfrm xmlns:a="http://schemas.openxmlformats.org/drawingml/2006/main">
            <a:off x="25146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Task Retriever</a:t>
            </a:r>
          </a:p>
        </p:txBody>
      </p:sp>
      <p:sp>
        <p:nvSpPr>
          <p:cNvPr id="16" name="">
            <a:extLst xmlns:a="http://schemas.openxmlformats.org/drawingml/2006/main">
              <a:ext uri="{FF2B5EF4-FFF2-40B4-BE49-F238E27FC236}">
                <a16:creationId xmlns:a16="http://schemas.microsoft.com/office/drawing/2014/main" id="{AE944B74-A9EB-42C5-9EFD-AB58CE9D1985}"/>
              </a:ext>
            </a:extLst>
          </p:cNvPr>
          <p:cNvSpPr>
            <a:spLocks xmlns:a="http://schemas.openxmlformats.org/drawingml/2006/main" noGrp="1"/>
          </p:cNvSpPr>
          <p:nvPr/>
        </p:nvSpPr>
        <p:spPr>
          <a:xfrm xmlns:a="http://schemas.openxmlformats.org/drawingml/2006/main">
            <a:off x="25146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619"/>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SQLite Context top-k</a:t>
            </a:r>
          </a:p>
        </p:txBody>
      </p:sp>
      <p:sp>
        <p:nvSpPr>
          <p:cNvPr id="17" name="">
            <a:extLst xmlns:a="http://schemas.openxmlformats.org/drawingml/2006/main">
              <a:ext uri="{FF2B5EF4-FFF2-40B4-BE49-F238E27FC236}">
                <a16:creationId xmlns:a16="http://schemas.microsoft.com/office/drawing/2014/main" id="{EF8B65FB-06A3-4F8B-A4E5-A1593E6B11CB}"/>
              </a:ext>
            </a:extLst>
          </p:cNvPr>
          <p:cNvSpPr>
            <a:spLocks xmlns:a="http://schemas.openxmlformats.org/drawingml/2006/main" noGrp="1"/>
          </p:cNvSpPr>
          <p:nvPr/>
        </p:nvSpPr>
        <p:spPr>
          <a:xfrm xmlns:a="http://schemas.openxmlformats.org/drawingml/2006/main">
            <a:off x="39624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7E09DA-AF87-43CD-B129-C1CB5D4368CD}"/>
              </a:ext>
            </a:extLst>
          </p:cNvPr>
          <p:cNvSpPr>
            <a:spLocks xmlns:a="http://schemas.openxmlformats.org/drawingml/2006/main" noGrp="1"/>
          </p:cNvSpPr>
          <p:nvPr/>
        </p:nvSpPr>
        <p:spPr>
          <a:xfrm xmlns:a="http://schemas.openxmlformats.org/drawingml/2006/main">
            <a:off x="4191000" y="1809750"/>
            <a:ext cx="1524000" cy="1257300"/>
          </a:xfrm>
          <a:prstGeom xmlns:a="http://schemas.openxmlformats.org/drawingml/2006/main" prst="roundRect">
            <a:avLst>
              <a:gd name="adj" fmla="val 6061"/>
            </a:avLst>
          </a:prstGeom>
          <a:solidFill xmlns:a="http://schemas.openxmlformats.org/drawingml/2006/main">
            <a:srgbClr val="F3EFFF"/>
          </a:solidFill>
          <a:ln xmlns:a="http://schemas.openxmlformats.org/drawingml/2006/main" w="9525">
            <a:solidFill>
              <a:srgbClr val="7657D6"/>
            </a:solidFill>
          </a:ln>
        </p:spPr>
      </p:sp>
      <p:sp>
        <p:nvSpPr>
          <p:cNvPr id="19" name="">
            <a:extLst xmlns:a="http://schemas.openxmlformats.org/drawingml/2006/main">
              <a:ext uri="{FF2B5EF4-FFF2-40B4-BE49-F238E27FC236}">
                <a16:creationId xmlns:a16="http://schemas.microsoft.com/office/drawing/2014/main" id="{14E04519-2865-455D-B102-61F370D2D2C8}"/>
              </a:ext>
            </a:extLst>
          </p:cNvPr>
          <p:cNvSpPr>
            <a:spLocks xmlns:a="http://schemas.openxmlformats.org/drawingml/2006/main" noGrp="1"/>
          </p:cNvSpPr>
          <p:nvPr/>
        </p:nvSpPr>
        <p:spPr>
          <a:xfrm xmlns:a="http://schemas.openxmlformats.org/drawingml/2006/main">
            <a:off x="4362450" y="1943100"/>
            <a:ext cx="857250" cy="323850"/>
          </a:xfrm>
          <a:prstGeom xmlns:a="http://schemas.openxmlformats.org/drawingml/2006/main" prst="roundRect">
            <a:avLst>
              <a:gd name="adj" fmla="val 23529"/>
            </a:avLst>
          </a:prstGeom>
          <a:solidFill xmlns:a="http://schemas.openxmlformats.org/drawingml/2006/main">
            <a:srgbClr val="EDE6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50E2F10-2E95-4695-8A20-C10287167865}"/>
              </a:ext>
            </a:extLst>
          </p:cNvPr>
          <p:cNvSpPr>
            <a:spLocks xmlns:a="http://schemas.openxmlformats.org/drawingml/2006/main" noGrp="1"/>
          </p:cNvSpPr>
          <p:nvPr/>
        </p:nvSpPr>
        <p:spPr>
          <a:xfrm xmlns:a="http://schemas.openxmlformats.org/drawingml/2006/main">
            <a:off x="44005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7657D6"/>
                </a:solidFill>
                <a:latin typeface="Malgun Gothic"/>
                <a:ea typeface="Malgun Gothic"/>
                <a:cs typeface="Malgun Gothic"/>
              </a:defRPr>
            </a:pPr>
            <a:r>
              <a:rPr sz="1050" b="1">
                <a:solidFill>
                  <a:srgbClr val="7657D6"/>
                </a:solidFill>
                <a:latin typeface="Malgun Gothic"/>
                <a:ea typeface="Malgun Gothic"/>
                <a:cs typeface="Malgun Gothic"/>
              </a:rPr>
              <a:t>M-03</a:t>
            </a:r>
          </a:p>
        </p:txBody>
      </p:sp>
      <p:sp>
        <p:nvSpPr>
          <p:cNvPr id="21" name="">
            <a:extLst xmlns:a="http://schemas.openxmlformats.org/drawingml/2006/main">
              <a:ext uri="{FF2B5EF4-FFF2-40B4-BE49-F238E27FC236}">
                <a16:creationId xmlns:a16="http://schemas.microsoft.com/office/drawing/2014/main" id="{05B09DA5-730F-44F1-9F33-59B6990A89FF}"/>
              </a:ext>
            </a:extLst>
          </p:cNvPr>
          <p:cNvSpPr>
            <a:spLocks xmlns:a="http://schemas.openxmlformats.org/drawingml/2006/main" noGrp="1"/>
          </p:cNvSpPr>
          <p:nvPr/>
        </p:nvSpPr>
        <p:spPr>
          <a:xfrm xmlns:a="http://schemas.openxmlformats.org/drawingml/2006/main">
            <a:off x="43243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Context Agent</a:t>
            </a:r>
          </a:p>
        </p:txBody>
      </p:sp>
      <p:sp>
        <p:nvSpPr>
          <p:cNvPr id="22" name="">
            <a:extLst xmlns:a="http://schemas.openxmlformats.org/drawingml/2006/main">
              <a:ext uri="{FF2B5EF4-FFF2-40B4-BE49-F238E27FC236}">
                <a16:creationId xmlns:a16="http://schemas.microsoft.com/office/drawing/2014/main" id="{8F9D6037-146F-4AD9-A78F-BAFE46DF0EDB}"/>
              </a:ext>
            </a:extLst>
          </p:cNvPr>
          <p:cNvSpPr>
            <a:spLocks xmlns:a="http://schemas.openxmlformats.org/drawingml/2006/main" noGrp="1"/>
          </p:cNvSpPr>
          <p:nvPr/>
        </p:nvSpPr>
        <p:spPr>
          <a:xfrm xmlns:a="http://schemas.openxmlformats.org/drawingml/2006/main">
            <a:off x="43243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가설 생성·검증·평가</a:t>
            </a:r>
          </a:p>
        </p:txBody>
      </p:sp>
      <p:sp>
        <p:nvSpPr>
          <p:cNvPr id="23" name="">
            <a:extLst xmlns:a="http://schemas.openxmlformats.org/drawingml/2006/main">
              <a:ext uri="{FF2B5EF4-FFF2-40B4-BE49-F238E27FC236}">
                <a16:creationId xmlns:a16="http://schemas.microsoft.com/office/drawing/2014/main" id="{0ADA2A04-4A29-4814-9F1C-E4ADC4D2D7BD}"/>
              </a:ext>
            </a:extLst>
          </p:cNvPr>
          <p:cNvSpPr>
            <a:spLocks xmlns:a="http://schemas.openxmlformats.org/drawingml/2006/main" noGrp="1"/>
          </p:cNvSpPr>
          <p:nvPr/>
        </p:nvSpPr>
        <p:spPr>
          <a:xfrm xmlns:a="http://schemas.openxmlformats.org/drawingml/2006/main">
            <a:off x="57721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CD456EF-33AB-423E-A3F8-6072B182DAE5}"/>
              </a:ext>
            </a:extLst>
          </p:cNvPr>
          <p:cNvSpPr>
            <a:spLocks xmlns:a="http://schemas.openxmlformats.org/drawingml/2006/main" noGrp="1"/>
          </p:cNvSpPr>
          <p:nvPr/>
        </p:nvSpPr>
        <p:spPr>
          <a:xfrm xmlns:a="http://schemas.openxmlformats.org/drawingml/2006/main">
            <a:off x="60007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25" name="">
            <a:extLst xmlns:a="http://schemas.openxmlformats.org/drawingml/2006/main">
              <a:ext uri="{FF2B5EF4-FFF2-40B4-BE49-F238E27FC236}">
                <a16:creationId xmlns:a16="http://schemas.microsoft.com/office/drawing/2014/main" id="{5AD05741-1E70-4783-BB0D-772406FD5502}"/>
              </a:ext>
            </a:extLst>
          </p:cNvPr>
          <p:cNvSpPr>
            <a:spLocks xmlns:a="http://schemas.openxmlformats.org/drawingml/2006/main" noGrp="1"/>
          </p:cNvSpPr>
          <p:nvPr/>
        </p:nvSpPr>
        <p:spPr>
          <a:xfrm xmlns:a="http://schemas.openxmlformats.org/drawingml/2006/main">
            <a:off x="61722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6D857B6-F301-468F-AC69-0D9D209BF260}"/>
              </a:ext>
            </a:extLst>
          </p:cNvPr>
          <p:cNvSpPr>
            <a:spLocks xmlns:a="http://schemas.openxmlformats.org/drawingml/2006/main" noGrp="1"/>
          </p:cNvSpPr>
          <p:nvPr/>
        </p:nvSpPr>
        <p:spPr>
          <a:xfrm xmlns:a="http://schemas.openxmlformats.org/drawingml/2006/main">
            <a:off x="62103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Guard</a:t>
            </a:r>
          </a:p>
        </p:txBody>
      </p:sp>
      <p:sp>
        <p:nvSpPr>
          <p:cNvPr id="27" name="">
            <a:extLst xmlns:a="http://schemas.openxmlformats.org/drawingml/2006/main">
              <a:ext uri="{FF2B5EF4-FFF2-40B4-BE49-F238E27FC236}">
                <a16:creationId xmlns:a16="http://schemas.microsoft.com/office/drawing/2014/main" id="{548A680E-7381-4D8E-87EC-2B4DFEDFFFE4}"/>
              </a:ext>
            </a:extLst>
          </p:cNvPr>
          <p:cNvSpPr>
            <a:spLocks xmlns:a="http://schemas.openxmlformats.org/drawingml/2006/main" noGrp="1"/>
          </p:cNvSpPr>
          <p:nvPr/>
        </p:nvSpPr>
        <p:spPr>
          <a:xfrm xmlns:a="http://schemas.openxmlformats.org/drawingml/2006/main">
            <a:off x="61341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Python Policy</a:t>
            </a:r>
          </a:p>
        </p:txBody>
      </p:sp>
      <p:sp>
        <p:nvSpPr>
          <p:cNvPr id="28" name="">
            <a:extLst xmlns:a="http://schemas.openxmlformats.org/drawingml/2006/main">
              <a:ext uri="{FF2B5EF4-FFF2-40B4-BE49-F238E27FC236}">
                <a16:creationId xmlns:a16="http://schemas.microsoft.com/office/drawing/2014/main" id="{8E70BD24-7A95-40EA-B7B5-0E52167B2C7D}"/>
              </a:ext>
            </a:extLst>
          </p:cNvPr>
          <p:cNvSpPr>
            <a:spLocks xmlns:a="http://schemas.openxmlformats.org/drawingml/2006/main" noGrp="1"/>
          </p:cNvSpPr>
          <p:nvPr/>
        </p:nvSpPr>
        <p:spPr>
          <a:xfrm xmlns:a="http://schemas.openxmlformats.org/drawingml/2006/main">
            <a:off x="61341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Payload·전이 검증</a:t>
            </a:r>
          </a:p>
        </p:txBody>
      </p:sp>
      <p:sp>
        <p:nvSpPr>
          <p:cNvPr id="29" name="">
            <a:extLst xmlns:a="http://schemas.openxmlformats.org/drawingml/2006/main">
              <a:ext uri="{FF2B5EF4-FFF2-40B4-BE49-F238E27FC236}">
                <a16:creationId xmlns:a16="http://schemas.microsoft.com/office/drawing/2014/main" id="{E3C9C6C5-ABB1-40F1-B91F-75A12A6BD3DC}"/>
              </a:ext>
            </a:extLst>
          </p:cNvPr>
          <p:cNvSpPr>
            <a:spLocks xmlns:a="http://schemas.openxmlformats.org/drawingml/2006/main" noGrp="1"/>
          </p:cNvSpPr>
          <p:nvPr/>
        </p:nvSpPr>
        <p:spPr>
          <a:xfrm xmlns:a="http://schemas.openxmlformats.org/drawingml/2006/main">
            <a:off x="758190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E2267C5-C956-411F-814B-8053B03115D9}"/>
              </a:ext>
            </a:extLst>
          </p:cNvPr>
          <p:cNvSpPr>
            <a:spLocks xmlns:a="http://schemas.openxmlformats.org/drawingml/2006/main" noGrp="1"/>
          </p:cNvSpPr>
          <p:nvPr/>
        </p:nvSpPr>
        <p:spPr>
          <a:xfrm xmlns:a="http://schemas.openxmlformats.org/drawingml/2006/main">
            <a:off x="781050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1" name="">
            <a:extLst xmlns:a="http://schemas.openxmlformats.org/drawingml/2006/main">
              <a:ext uri="{FF2B5EF4-FFF2-40B4-BE49-F238E27FC236}">
                <a16:creationId xmlns:a16="http://schemas.microsoft.com/office/drawing/2014/main" id="{D0265A7F-D491-4327-BF7B-6C2709FB1F4A}"/>
              </a:ext>
            </a:extLst>
          </p:cNvPr>
          <p:cNvSpPr>
            <a:spLocks xmlns:a="http://schemas.openxmlformats.org/drawingml/2006/main" noGrp="1"/>
          </p:cNvSpPr>
          <p:nvPr/>
        </p:nvSpPr>
        <p:spPr>
          <a:xfrm xmlns:a="http://schemas.openxmlformats.org/drawingml/2006/main">
            <a:off x="798195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8832A62-56B3-493A-8AD4-19EEE137F45C}"/>
              </a:ext>
            </a:extLst>
          </p:cNvPr>
          <p:cNvSpPr>
            <a:spLocks xmlns:a="http://schemas.openxmlformats.org/drawingml/2006/main" noGrp="1"/>
          </p:cNvSpPr>
          <p:nvPr/>
        </p:nvSpPr>
        <p:spPr>
          <a:xfrm xmlns:a="http://schemas.openxmlformats.org/drawingml/2006/main">
            <a:off x="802005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M-04</a:t>
            </a:r>
          </a:p>
        </p:txBody>
      </p:sp>
      <p:sp>
        <p:nvSpPr>
          <p:cNvPr id="33" name="">
            <a:extLst xmlns:a="http://schemas.openxmlformats.org/drawingml/2006/main">
              <a:ext uri="{FF2B5EF4-FFF2-40B4-BE49-F238E27FC236}">
                <a16:creationId xmlns:a16="http://schemas.microsoft.com/office/drawing/2014/main" id="{B4F8EF55-9B76-481F-8B66-D9D45122CA76}"/>
              </a:ext>
            </a:extLst>
          </p:cNvPr>
          <p:cNvSpPr>
            <a:spLocks xmlns:a="http://schemas.openxmlformats.org/drawingml/2006/main" noGrp="1"/>
          </p:cNvSpPr>
          <p:nvPr/>
        </p:nvSpPr>
        <p:spPr>
          <a:xfrm xmlns:a="http://schemas.openxmlformats.org/drawingml/2006/main">
            <a:off x="794385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DB Tool</a:t>
            </a:r>
          </a:p>
        </p:txBody>
      </p:sp>
      <p:sp>
        <p:nvSpPr>
          <p:cNvPr id="34" name="">
            <a:extLst xmlns:a="http://schemas.openxmlformats.org/drawingml/2006/main">
              <a:ext uri="{FF2B5EF4-FFF2-40B4-BE49-F238E27FC236}">
                <a16:creationId xmlns:a16="http://schemas.microsoft.com/office/drawing/2014/main" id="{6CCD6E2E-87D3-4825-97F4-A12853FA54D6}"/>
              </a:ext>
            </a:extLst>
          </p:cNvPr>
          <p:cNvSpPr>
            <a:spLocks xmlns:a="http://schemas.openxmlformats.org/drawingml/2006/main" noGrp="1"/>
          </p:cNvSpPr>
          <p:nvPr/>
        </p:nvSpPr>
        <p:spPr>
          <a:xfrm xmlns:a="http://schemas.openxmlformats.org/drawingml/2006/main">
            <a:off x="794385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저장·상태 재조회</a:t>
            </a:r>
          </a:p>
        </p:txBody>
      </p:sp>
      <p:sp>
        <p:nvSpPr>
          <p:cNvPr id="35" name="">
            <a:extLst xmlns:a="http://schemas.openxmlformats.org/drawingml/2006/main">
              <a:ext uri="{FF2B5EF4-FFF2-40B4-BE49-F238E27FC236}">
                <a16:creationId xmlns:a16="http://schemas.microsoft.com/office/drawing/2014/main" id="{3AD379A4-002F-4AD1-88BA-DED370AAB623}"/>
              </a:ext>
            </a:extLst>
          </p:cNvPr>
          <p:cNvSpPr>
            <a:spLocks xmlns:a="http://schemas.openxmlformats.org/drawingml/2006/main" noGrp="1"/>
          </p:cNvSpPr>
          <p:nvPr/>
        </p:nvSpPr>
        <p:spPr>
          <a:xfrm xmlns:a="http://schemas.openxmlformats.org/drawingml/2006/main">
            <a:off x="9391650" y="2305050"/>
            <a:ext cx="190500" cy="228600"/>
          </a:xfrm>
          <a:prstGeom xmlns:a="http://schemas.openxmlformats.org/drawingml/2006/main" prst="rightArrow">
            <a:avLst/>
          </a:prstGeom>
          <a:solidFill xmlns:a="http://schemas.openxmlformats.org/drawingml/2006/main">
            <a:srgbClr val="1769E0"/>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A43C2AE-B467-4E4B-B7B8-4975B18F810C}"/>
              </a:ext>
            </a:extLst>
          </p:cNvPr>
          <p:cNvSpPr>
            <a:spLocks xmlns:a="http://schemas.openxmlformats.org/drawingml/2006/main" noGrp="1"/>
          </p:cNvSpPr>
          <p:nvPr/>
        </p:nvSpPr>
        <p:spPr>
          <a:xfrm xmlns:a="http://schemas.openxmlformats.org/drawingml/2006/main">
            <a:off x="9620250" y="1809750"/>
            <a:ext cx="15240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E1EF"/>
            </a:solidFill>
          </a:ln>
        </p:spPr>
      </p:sp>
      <p:sp>
        <p:nvSpPr>
          <p:cNvPr id="37" name="">
            <a:extLst xmlns:a="http://schemas.openxmlformats.org/drawingml/2006/main">
              <a:ext uri="{FF2B5EF4-FFF2-40B4-BE49-F238E27FC236}">
                <a16:creationId xmlns:a16="http://schemas.microsoft.com/office/drawing/2014/main" id="{2E002304-1EDC-40C5-A0DE-703873E6256C}"/>
              </a:ext>
            </a:extLst>
          </p:cNvPr>
          <p:cNvSpPr>
            <a:spLocks xmlns:a="http://schemas.openxmlformats.org/drawingml/2006/main" noGrp="1"/>
          </p:cNvSpPr>
          <p:nvPr/>
        </p:nvSpPr>
        <p:spPr>
          <a:xfrm xmlns:a="http://schemas.openxmlformats.org/drawingml/2006/main">
            <a:off x="9791700" y="1943100"/>
            <a:ext cx="857250" cy="323850"/>
          </a:xfrm>
          <a:prstGeom xmlns:a="http://schemas.openxmlformats.org/drawingml/2006/main" prst="roundRect">
            <a:avLst>
              <a:gd name="adj" fmla="val 23529"/>
            </a:avLst>
          </a:prstGeom>
          <a:solidFill xmlns:a="http://schemas.openxmlformats.org/drawingml/2006/main">
            <a:srgbClr val="EFF5F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CA30F29-26B9-4908-91C5-F5E1AA6EBA53}"/>
              </a:ext>
            </a:extLst>
          </p:cNvPr>
          <p:cNvSpPr>
            <a:spLocks xmlns:a="http://schemas.openxmlformats.org/drawingml/2006/main" noGrp="1"/>
          </p:cNvSpPr>
          <p:nvPr/>
        </p:nvSpPr>
        <p:spPr>
          <a:xfrm xmlns:a="http://schemas.openxmlformats.org/drawingml/2006/main">
            <a:off x="9829800" y="1962150"/>
            <a:ext cx="78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M-05</a:t>
            </a:r>
          </a:p>
        </p:txBody>
      </p:sp>
      <p:sp>
        <p:nvSpPr>
          <p:cNvPr id="39" name="">
            <a:extLst xmlns:a="http://schemas.openxmlformats.org/drawingml/2006/main">
              <a:ext uri="{FF2B5EF4-FFF2-40B4-BE49-F238E27FC236}">
                <a16:creationId xmlns:a16="http://schemas.microsoft.com/office/drawing/2014/main" id="{E1B43935-9D44-4ACE-976C-391E5B09C221}"/>
              </a:ext>
            </a:extLst>
          </p:cNvPr>
          <p:cNvSpPr>
            <a:spLocks xmlns:a="http://schemas.openxmlformats.org/drawingml/2006/main" noGrp="1"/>
          </p:cNvSpPr>
          <p:nvPr/>
        </p:nvSpPr>
        <p:spPr>
          <a:xfrm xmlns:a="http://schemas.openxmlformats.org/drawingml/2006/main">
            <a:off x="9753600" y="2343150"/>
            <a:ext cx="129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10243E"/>
                </a:solidFill>
                <a:latin typeface="Malgun Gothic"/>
                <a:ea typeface="Malgun Gothic"/>
                <a:cs typeface="Malgun Gothic"/>
              </a:defRPr>
            </a:pPr>
            <a:r>
              <a:rPr sz="1275" b="1">
                <a:solidFill>
                  <a:srgbClr val="10243E"/>
                </a:solidFill>
                <a:latin typeface="Malgun Gothic"/>
                <a:ea typeface="Malgun Gothic"/>
                <a:cs typeface="Malgun Gothic"/>
              </a:rPr>
              <a:t>Review·Trace</a:t>
            </a:r>
          </a:p>
        </p:txBody>
      </p:sp>
      <p:sp>
        <p:nvSpPr>
          <p:cNvPr id="40" name="">
            <a:extLst xmlns:a="http://schemas.openxmlformats.org/drawingml/2006/main">
              <a:ext uri="{FF2B5EF4-FFF2-40B4-BE49-F238E27FC236}">
                <a16:creationId xmlns:a16="http://schemas.microsoft.com/office/drawing/2014/main" id="{0BAF0A6E-8C64-4EC3-B7C2-417374E2646D}"/>
              </a:ext>
            </a:extLst>
          </p:cNvPr>
          <p:cNvSpPr>
            <a:spLocks xmlns:a="http://schemas.openxmlformats.org/drawingml/2006/main" noGrp="1"/>
          </p:cNvSpPr>
          <p:nvPr/>
        </p:nvSpPr>
        <p:spPr>
          <a:xfrm xmlns:a="http://schemas.openxmlformats.org/drawingml/2006/main">
            <a:off x="9753600" y="2628900"/>
            <a:ext cx="129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0">
                <a:solidFill>
                  <a:srgbClr val="657187"/>
                </a:solidFill>
                <a:latin typeface="Malgun Gothic"/>
                <a:ea typeface="Malgun Gothic"/>
                <a:cs typeface="Malgun Gothic"/>
              </a:defRPr>
            </a:pPr>
            <a:r>
              <a:rPr sz="975" b="0">
                <a:solidFill>
                  <a:srgbClr val="657187"/>
                </a:solidFill>
                <a:latin typeface="Malgun Gothic"/>
                <a:ea typeface="Malgun Gothic"/>
                <a:cs typeface="Malgun Gothic"/>
              </a:rPr>
              <a:t>사용자 확인 화면</a:t>
            </a:r>
          </a:p>
        </p:txBody>
      </p:sp>
      <p:sp>
        <p:nvSpPr>
          <p:cNvPr id="41" name="">
            <a:extLst xmlns:a="http://schemas.openxmlformats.org/drawingml/2006/main">
              <a:ext uri="{FF2B5EF4-FFF2-40B4-BE49-F238E27FC236}">
                <a16:creationId xmlns:a16="http://schemas.microsoft.com/office/drawing/2014/main" id="{D8AC0ABA-3777-4639-A155-A0EBAED7AE62}"/>
              </a:ext>
            </a:extLst>
          </p:cNvPr>
          <p:cNvSpPr>
            <a:spLocks xmlns:a="http://schemas.openxmlformats.org/drawingml/2006/main" noGrp="1"/>
          </p:cNvSpPr>
          <p:nvPr/>
        </p:nvSpPr>
        <p:spPr>
          <a:xfrm xmlns:a="http://schemas.openxmlformats.org/drawingml/2006/main">
            <a:off x="571500" y="3257550"/>
            <a:ext cx="11049000" cy="838200"/>
          </a:xfrm>
          <a:prstGeom xmlns:a="http://schemas.openxmlformats.org/drawingml/2006/main" prst="roundRect">
            <a:avLst>
              <a:gd name="adj" fmla="val 9091"/>
            </a:avLst>
          </a:prstGeom>
          <a:solidFill xmlns:a="http://schemas.openxmlformats.org/drawingml/2006/main">
            <a:srgbClr val="EFF5FD"/>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4936082-1A4A-4680-9FC9-8BCEA87143EE}"/>
              </a:ext>
            </a:extLst>
          </p:cNvPr>
          <p:cNvSpPr>
            <a:spLocks xmlns:a="http://schemas.openxmlformats.org/drawingml/2006/main" noGrp="1"/>
          </p:cNvSpPr>
          <p:nvPr/>
        </p:nvSpPr>
        <p:spPr>
          <a:xfrm xmlns:a="http://schemas.openxmlformats.org/drawingml/2006/main">
            <a:off x="781050" y="3333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Task 관계</a:t>
            </a:r>
          </a:p>
        </p:txBody>
      </p:sp>
      <p:sp>
        <p:nvSpPr>
          <p:cNvPr id="43" name="">
            <a:extLst xmlns:a="http://schemas.openxmlformats.org/drawingml/2006/main">
              <a:ext uri="{FF2B5EF4-FFF2-40B4-BE49-F238E27FC236}">
                <a16:creationId xmlns:a16="http://schemas.microsoft.com/office/drawing/2014/main" id="{7FBAA86D-AEC0-484B-8543-3CDA8FC02BF1}"/>
              </a:ext>
            </a:extLst>
          </p:cNvPr>
          <p:cNvSpPr>
            <a:spLocks xmlns:a="http://schemas.openxmlformats.org/drawingml/2006/main" noGrp="1"/>
          </p:cNvSpPr>
          <p:nvPr/>
        </p:nvSpPr>
        <p:spPr>
          <a:xfrm xmlns:a="http://schemas.openxmlformats.org/drawingml/2006/main">
            <a:off x="1952625" y="33337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657187"/>
                </a:solidFill>
                <a:latin typeface="Malgun Gothic"/>
                <a:ea typeface="Malgun Gothic"/>
                <a:cs typeface="Malgun Gothic"/>
              </a:defRPr>
            </a:pPr>
            <a:r>
              <a:rPr sz="1125" b="0">
                <a:solidFill>
                  <a:srgbClr val="657187"/>
                </a:solidFill>
                <a:latin typeface="Malgun Gothic"/>
                <a:ea typeface="Malgun Gothic"/>
                <a:cs typeface="Malgun Gothic"/>
              </a:rPr>
              <a:t>동일 Thread는 Metadata 규칙</a:t>
            </a:r>
          </a:p>
        </p:txBody>
      </p:sp>
      <p:sp>
        <p:nvSpPr>
          <p:cNvPr id="44" name="">
            <a:extLst xmlns:a="http://schemas.openxmlformats.org/drawingml/2006/main">
              <a:ext uri="{FF2B5EF4-FFF2-40B4-BE49-F238E27FC236}">
                <a16:creationId xmlns:a16="http://schemas.microsoft.com/office/drawing/2014/main" id="{F41ECABA-0AD8-41D0-BB7F-31FD642F7B92}"/>
              </a:ext>
            </a:extLst>
          </p:cNvPr>
          <p:cNvSpPr>
            <a:spLocks xmlns:a="http://schemas.openxmlformats.org/drawingml/2006/main" noGrp="1"/>
          </p:cNvSpPr>
          <p:nvPr/>
        </p:nvSpPr>
        <p:spPr>
          <a:xfrm xmlns:a="http://schemas.openxmlformats.org/drawingml/2006/main">
            <a:off x="4524375" y="333375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7657D6"/>
                </a:solidFill>
                <a:latin typeface="Malgun Gothic"/>
                <a:ea typeface="Malgun Gothic"/>
                <a:cs typeface="Malgun Gothic"/>
              </a:defRPr>
            </a:pPr>
            <a:r>
              <a:rPr sz="1125" b="1">
                <a:solidFill>
                  <a:srgbClr val="7657D6"/>
                </a:solidFill>
                <a:latin typeface="Malgun Gothic"/>
                <a:ea typeface="Malgun Gothic"/>
                <a:cs typeface="Malgun Gothic"/>
              </a:rPr>
              <a:t>다른 Thread·다른 표현은 후보 2~3개를 비교해 관계·대상·Action 선택</a:t>
            </a:r>
          </a:p>
        </p:txBody>
      </p:sp>
      <p:sp>
        <p:nvSpPr>
          <p:cNvPr id="45" name="">
            <a:extLst xmlns:a="http://schemas.openxmlformats.org/drawingml/2006/main">
              <a:ext uri="{FF2B5EF4-FFF2-40B4-BE49-F238E27FC236}">
                <a16:creationId xmlns:a16="http://schemas.microsoft.com/office/drawing/2014/main" id="{B2FF0ADC-B841-41BF-8967-F6A97A42C29B}"/>
              </a:ext>
            </a:extLst>
          </p:cNvPr>
          <p:cNvSpPr>
            <a:spLocks xmlns:a="http://schemas.openxmlformats.org/drawingml/2006/main" noGrp="1"/>
          </p:cNvSpPr>
          <p:nvPr/>
        </p:nvSpPr>
        <p:spPr>
          <a:xfrm xmlns:a="http://schemas.openxmlformats.org/drawingml/2006/main">
            <a:off x="781050" y="3714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회신 실행</a:t>
            </a:r>
          </a:p>
        </p:txBody>
      </p:sp>
      <p:sp>
        <p:nvSpPr>
          <p:cNvPr id="46" name="">
            <a:extLst xmlns:a="http://schemas.openxmlformats.org/drawingml/2006/main">
              <a:ext uri="{FF2B5EF4-FFF2-40B4-BE49-F238E27FC236}">
                <a16:creationId xmlns:a16="http://schemas.microsoft.com/office/drawing/2014/main" id="{DFA25735-3B43-485A-BBE3-D957AC54086C}"/>
              </a:ext>
            </a:extLst>
          </p:cNvPr>
          <p:cNvSpPr>
            <a:spLocks xmlns:a="http://schemas.openxmlformats.org/drawingml/2006/main" noGrp="1"/>
          </p:cNvSpPr>
          <p:nvPr/>
        </p:nvSpPr>
        <p:spPr>
          <a:xfrm xmlns:a="http://schemas.openxmlformats.org/drawingml/2006/main">
            <a:off x="1952625" y="371475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38A62"/>
                </a:solidFill>
                <a:latin typeface="Malgun Gothic"/>
                <a:ea typeface="Malgun Gothic"/>
                <a:cs typeface="Malgun Gothic"/>
              </a:defRPr>
            </a:pPr>
            <a:r>
              <a:rPr sz="1125" b="1">
                <a:solidFill>
                  <a:srgbClr val="138A62"/>
                </a:solidFill>
                <a:latin typeface="Malgun Gothic"/>
                <a:ea typeface="Malgun Gothic"/>
                <a:cs typeface="Malgun Gothic"/>
              </a:rPr>
              <a:t>Reply Agent 판단  →  사용자 입력  →  LLM 초안  →  승인 Gmail 발송  →  WAITING_REPLY</a:t>
            </a:r>
          </a:p>
        </p:txBody>
      </p:sp>
      <p:sp>
        <p:nvSpPr>
          <p:cNvPr id="47" name="">
            <a:extLst xmlns:a="http://schemas.openxmlformats.org/drawingml/2006/main">
              <a:ext uri="{FF2B5EF4-FFF2-40B4-BE49-F238E27FC236}">
                <a16:creationId xmlns:a16="http://schemas.microsoft.com/office/drawing/2014/main" id="{D1970E87-0ABB-4BAB-A795-1D27F2773E42}"/>
              </a:ext>
            </a:extLst>
          </p:cNvPr>
          <p:cNvSpPr>
            <a:spLocks xmlns:a="http://schemas.openxmlformats.org/drawingml/2006/main" noGrp="1"/>
          </p:cNvSpPr>
          <p:nvPr/>
        </p:nvSpPr>
        <p:spPr>
          <a:xfrm xmlns:a="http://schemas.openxmlformats.org/drawingml/2006/main">
            <a:off x="571500" y="4286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기술 선택 이유</a:t>
            </a:r>
          </a:p>
        </p:txBody>
      </p:sp>
      <p:sp>
        <p:nvSpPr>
          <p:cNvPr id="48" name="">
            <a:extLst xmlns:a="http://schemas.openxmlformats.org/drawingml/2006/main">
              <a:ext uri="{FF2B5EF4-FFF2-40B4-BE49-F238E27FC236}">
                <a16:creationId xmlns:a16="http://schemas.microsoft.com/office/drawing/2014/main" id="{272799D7-C7FE-43C1-AEE3-1B72A61E7CBF}"/>
              </a:ext>
            </a:extLst>
          </p:cNvPr>
          <p:cNvSpPr>
            <a:spLocks xmlns:a="http://schemas.openxmlformats.org/drawingml/2006/main" noGrp="1"/>
          </p:cNvSpPr>
          <p:nvPr/>
        </p:nvSpPr>
        <p:spPr>
          <a:xfrm xmlns:a="http://schemas.openxmlformats.org/drawingml/2006/main">
            <a:off x="57150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gpt-4.1-mini</a:t>
            </a:r>
          </a:p>
        </p:txBody>
      </p:sp>
      <p:sp>
        <p:nvSpPr>
          <p:cNvPr id="49" name="">
            <a:extLst xmlns:a="http://schemas.openxmlformats.org/drawingml/2006/main">
              <a:ext uri="{FF2B5EF4-FFF2-40B4-BE49-F238E27FC236}">
                <a16:creationId xmlns:a16="http://schemas.microsoft.com/office/drawing/2014/main" id="{908AC0DC-9240-44B5-81F4-F9771E978699}"/>
              </a:ext>
            </a:extLst>
          </p:cNvPr>
          <p:cNvSpPr>
            <a:spLocks xmlns:a="http://schemas.openxmlformats.org/drawingml/2006/main" noGrp="1"/>
          </p:cNvSpPr>
          <p:nvPr/>
        </p:nvSpPr>
        <p:spPr>
          <a:xfrm xmlns:a="http://schemas.openxmlformats.org/drawingml/2006/main">
            <a:off x="57150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메일 의미와 관계를 Pydantic Schema로 구조화</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모델 간 우월성 비교는 수행하지 않음</a:t>
            </a:r>
          </a:p>
        </p:txBody>
      </p:sp>
      <p:sp>
        <p:nvSpPr>
          <p:cNvPr id="50" name="">
            <a:extLst xmlns:a="http://schemas.openxmlformats.org/drawingml/2006/main">
              <a:ext uri="{FF2B5EF4-FFF2-40B4-BE49-F238E27FC236}">
                <a16:creationId xmlns:a16="http://schemas.microsoft.com/office/drawing/2014/main" id="{AD870773-FCCD-4626-BF7B-C621BC4BA533}"/>
              </a:ext>
            </a:extLst>
          </p:cNvPr>
          <p:cNvSpPr>
            <a:spLocks xmlns:a="http://schemas.openxmlformats.org/drawingml/2006/main" noGrp="1"/>
          </p:cNvSpPr>
          <p:nvPr/>
        </p:nvSpPr>
        <p:spPr>
          <a:xfrm xmlns:a="http://schemas.openxmlformats.org/drawingml/2006/main">
            <a:off x="424815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7657D6"/>
                </a:solidFill>
                <a:latin typeface="Malgun Gothic"/>
                <a:ea typeface="Malgun Gothic"/>
                <a:cs typeface="Malgun Gothic"/>
              </a:defRPr>
            </a:pPr>
            <a:r>
              <a:rPr sz="1275" b="1">
                <a:solidFill>
                  <a:srgbClr val="7657D6"/>
                </a:solidFill>
                <a:latin typeface="Malgun Gothic"/>
                <a:ea typeface="Malgun Gothic"/>
                <a:cs typeface="Malgun Gothic"/>
              </a:rPr>
              <a:t>SQLite Task Context</a:t>
            </a:r>
          </a:p>
        </p:txBody>
      </p:sp>
      <p:sp>
        <p:nvSpPr>
          <p:cNvPr id="51" name="">
            <a:extLst xmlns:a="http://schemas.openxmlformats.org/drawingml/2006/main">
              <a:ext uri="{FF2B5EF4-FFF2-40B4-BE49-F238E27FC236}">
                <a16:creationId xmlns:a16="http://schemas.microsoft.com/office/drawing/2014/main" id="{08DD966C-B091-472F-8AFA-34F2013A6C59}"/>
              </a:ext>
            </a:extLst>
          </p:cNvPr>
          <p:cNvSpPr>
            <a:spLocks xmlns:a="http://schemas.openxmlformats.org/drawingml/2006/main" noGrp="1"/>
          </p:cNvSpPr>
          <p:nvPr/>
        </p:nvSpPr>
        <p:spPr>
          <a:xfrm xmlns:a="http://schemas.openxmlformats.org/drawingml/2006/main">
            <a:off x="424815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75"/>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개인 MVP의 활성 Task·최근 Mail·History만 제한 검색</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Vector DB와 외부 Embedding은 사용하지 않음</a:t>
            </a:r>
          </a:p>
        </p:txBody>
      </p:sp>
      <p:sp>
        <p:nvSpPr>
          <p:cNvPr id="52" name="">
            <a:extLst xmlns:a="http://schemas.openxmlformats.org/drawingml/2006/main">
              <a:ext uri="{FF2B5EF4-FFF2-40B4-BE49-F238E27FC236}">
                <a16:creationId xmlns:a16="http://schemas.microsoft.com/office/drawing/2014/main" id="{74EB2997-03D6-4CB6-B6C0-9DDB3093AFBE}"/>
              </a:ext>
            </a:extLst>
          </p:cNvPr>
          <p:cNvSpPr>
            <a:spLocks xmlns:a="http://schemas.openxmlformats.org/drawingml/2006/main" noGrp="1"/>
          </p:cNvSpPr>
          <p:nvPr/>
        </p:nvSpPr>
        <p:spPr>
          <a:xfrm xmlns:a="http://schemas.openxmlformats.org/drawingml/2006/main">
            <a:off x="7924800" y="4629150"/>
            <a:ext cx="3314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1769E0"/>
                </a:solidFill>
                <a:latin typeface="Malgun Gothic"/>
                <a:ea typeface="Malgun Gothic"/>
                <a:cs typeface="Malgun Gothic"/>
              </a:defRPr>
            </a:pPr>
            <a:r>
              <a:rPr sz="1275" b="1">
                <a:solidFill>
                  <a:srgbClr val="1769E0"/>
                </a:solidFill>
                <a:latin typeface="Malgun Gothic"/>
                <a:ea typeface="Malgun Gothic"/>
                <a:cs typeface="Malgun Gothic"/>
              </a:rPr>
              <a:t>Python + Pydantic Guard</a:t>
            </a:r>
          </a:p>
        </p:txBody>
      </p:sp>
      <p:sp>
        <p:nvSpPr>
          <p:cNvPr id="53" name="">
            <a:extLst xmlns:a="http://schemas.openxmlformats.org/drawingml/2006/main">
              <a:ext uri="{FF2B5EF4-FFF2-40B4-BE49-F238E27FC236}">
                <a16:creationId xmlns:a16="http://schemas.microsoft.com/office/drawing/2014/main" id="{C7050CD6-D094-4BB9-84C0-F7AAE6ECDF83}"/>
              </a:ext>
            </a:extLst>
          </p:cNvPr>
          <p:cNvSpPr>
            <a:spLocks xmlns:a="http://schemas.openxmlformats.org/drawingml/2006/main" noGrp="1"/>
          </p:cNvSpPr>
          <p:nvPr/>
        </p:nvSpPr>
        <p:spPr>
          <a:xfrm xmlns:a="http://schemas.openxmlformats.org/drawingml/2006/main">
            <a:off x="7924800" y="4933950"/>
            <a:ext cx="331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61"/>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후보 ID·Intent·상태 전이·중요 변경을 검증</a:t>
            </a:r>
          </a:p>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선택 차이도 Python이 계산하고 DB 실행 권한을 분리</a:t>
            </a:r>
          </a:p>
        </p:txBody>
      </p:sp>
      <p:sp>
        <p:nvSpPr>
          <p:cNvPr id="54" name="">
            <a:extLst xmlns:a="http://schemas.openxmlformats.org/drawingml/2006/main">
              <a:ext uri="{FF2B5EF4-FFF2-40B4-BE49-F238E27FC236}">
                <a16:creationId xmlns:a16="http://schemas.microsoft.com/office/drawing/2014/main" id="{A5A80BFC-0CD4-4FC2-B273-7B42FAFEFC80}"/>
              </a:ext>
            </a:extLst>
          </p:cNvPr>
          <p:cNvSpPr>
            <a:spLocks xmlns:a="http://schemas.openxmlformats.org/drawingml/2006/main" noGrp="1"/>
          </p:cNvSpPr>
          <p:nvPr/>
        </p:nvSpPr>
        <p:spPr>
          <a:xfrm xmlns:a="http://schemas.openxmlformats.org/drawingml/2006/main">
            <a:off x="571500" y="5619750"/>
            <a:ext cx="11049000" cy="419100"/>
          </a:xfrm>
          <a:prstGeom xmlns:a="http://schemas.openxmlformats.org/drawingml/2006/main" prst="roundRect">
            <a:avLst>
              <a:gd name="adj" fmla="val 18182"/>
            </a:avLst>
          </a:prstGeom>
          <a:solidFill xmlns:a="http://schemas.openxmlformats.org/drawingml/2006/main">
            <a:srgbClr val="EEF9F5"/>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905DE995-D2BE-45E1-B5E3-FE29D309B5AC}"/>
              </a:ext>
            </a:extLst>
          </p:cNvPr>
          <p:cNvSpPr>
            <a:spLocks xmlns:a="http://schemas.openxmlformats.org/drawingml/2006/main" noGrp="1"/>
          </p:cNvSpPr>
          <p:nvPr/>
        </p:nvSpPr>
        <p:spPr>
          <a:xfrm xmlns:a="http://schemas.openxmlformats.org/drawingml/2006/main">
            <a:off x="781050" y="569595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M-01은 모든 Mail 의미를 LLM으로 구조화하고, 관계·Action 선택은 STRUCTURED_RAG 경로에만 적용합니다.</a:t>
            </a:r>
          </a:p>
        </p:txBody>
      </p:sp>
    </p:spTree>
    <p:extLst>
      <p:ext uri="{BB962C8B-B14F-4D97-AF65-F5344CB8AC3E}">
        <p14:creationId xmlns:p14="http://schemas.microsoft.com/office/powerpoint/2010/main" val="5044230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3815459B-CF57-4251-A826-8CAEEEF15819}"/>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769E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5E45AB-98C8-496D-AC92-4F0C172816E1}"/>
              </a:ext>
            </a:extLst>
          </p:cNvPr>
          <p:cNvSpPr>
            <a:spLocks xmlns:a="http://schemas.openxmlformats.org/drawingml/2006/main" noGrp="1"/>
          </p:cNvSpPr>
          <p:nvPr/>
        </p:nvSpPr>
        <p:spPr>
          <a:xfrm xmlns:a="http://schemas.openxmlformats.org/drawingml/2006/main">
            <a:off x="571500" y="419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0243E"/>
                </a:solidFill>
                <a:latin typeface="Malgun Gothic"/>
                <a:ea typeface="Malgun Gothic"/>
                <a:cs typeface="Malgun Gothic"/>
              </a:defRPr>
            </a:pPr>
            <a:r>
              <a:rPr sz="2325" b="1">
                <a:solidFill>
                  <a:srgbClr val="10243E"/>
                </a:solidFill>
                <a:latin typeface="Malgun Gothic"/>
                <a:ea typeface="Malgun Gothic"/>
                <a:cs typeface="Malgun Gothic"/>
              </a:rPr>
              <a:t>핵심 기술 과제와 검증</a:t>
            </a:r>
          </a:p>
        </p:txBody>
      </p:sp>
      <p:sp>
        <p:nvSpPr>
          <p:cNvPr id="3" name="">
            <a:extLst xmlns:a="http://schemas.openxmlformats.org/drawingml/2006/main">
              <a:ext uri="{FF2B5EF4-FFF2-40B4-BE49-F238E27FC236}">
                <a16:creationId xmlns:a16="http://schemas.microsoft.com/office/drawing/2014/main" id="{E19DFBD1-E4D9-42E0-9857-CA0DE2473B29}"/>
              </a:ext>
            </a:extLst>
          </p:cNvPr>
          <p:cNvSpPr>
            <a:spLocks xmlns:a="http://schemas.openxmlformats.org/drawingml/2006/main" noGrp="1"/>
          </p:cNvSpPr>
          <p:nvPr/>
        </p:nvSpPr>
        <p:spPr>
          <a:xfrm xmlns:a="http://schemas.openxmlformats.org/drawingml/2006/main">
            <a:off x="571500" y="1028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211A11-1DAF-4D2F-B2CB-731F648D970D}"/>
              </a:ext>
            </a:extLst>
          </p:cNvPr>
          <p:cNvSpPr>
            <a:spLocks xmlns:a="http://schemas.openxmlformats.org/drawingml/2006/main" noGrp="1"/>
          </p:cNvSpPr>
          <p:nvPr/>
        </p:nvSpPr>
        <p:spPr>
          <a:xfrm xmlns:a="http://schemas.openxmlformats.org/drawingml/2006/main">
            <a:off x="11163300" y="6238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657187"/>
                </a:solidFill>
                <a:latin typeface="Malgun Gothic"/>
                <a:ea typeface="Malgun Gothic"/>
                <a:cs typeface="Malgun Gothic"/>
              </a:defRPr>
            </a:pPr>
            <a:r>
              <a:rPr sz="1050" b="1">
                <a:solidFill>
                  <a:srgbClr val="657187"/>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EB04A272-E146-4221-B3EE-B3143B5EF6A6}"/>
              </a:ext>
            </a:extLst>
          </p:cNvPr>
          <p:cNvSpPr>
            <a:spLocks xmlns:a="http://schemas.openxmlformats.org/drawingml/2006/main" noGrp="1"/>
          </p:cNvSpPr>
          <p:nvPr/>
        </p:nvSpPr>
        <p:spPr>
          <a:xfrm xmlns:a="http://schemas.openxmlformats.org/drawingml/2006/main">
            <a:off x="571500" y="12573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C73C34"/>
                </a:solidFill>
                <a:latin typeface="Malgun Gothic"/>
                <a:ea typeface="Malgun Gothic"/>
                <a:cs typeface="Malgun Gothic"/>
              </a:defRPr>
            </a:pPr>
            <a:r>
              <a:rPr sz="1575" b="1">
                <a:solidFill>
                  <a:srgbClr val="C73C34"/>
                </a:solidFill>
                <a:latin typeface="Malgun Gothic"/>
                <a:ea typeface="Malgun Gothic"/>
                <a:cs typeface="Malgun Gothic"/>
              </a:rPr>
              <a:t>왜 고정 Workflow만으로 부족했는가</a:t>
            </a:r>
          </a:p>
        </p:txBody>
      </p:sp>
      <p:sp>
        <p:nvSpPr>
          <p:cNvPr id="6" name="">
            <a:extLst xmlns:a="http://schemas.openxmlformats.org/drawingml/2006/main">
              <a:ext uri="{FF2B5EF4-FFF2-40B4-BE49-F238E27FC236}">
                <a16:creationId xmlns:a16="http://schemas.microsoft.com/office/drawing/2014/main" id="{CB4FDFCC-5ED9-42F6-B255-0E61FFA6A8AC}"/>
              </a:ext>
            </a:extLst>
          </p:cNvPr>
          <p:cNvSpPr>
            <a:spLocks xmlns:a="http://schemas.openxmlformats.org/drawingml/2006/main" noGrp="1"/>
          </p:cNvSpPr>
          <p:nvPr/>
        </p:nvSpPr>
        <p:spPr>
          <a:xfrm xmlns:a="http://schemas.openxmlformats.org/drawingml/2006/main">
            <a:off x="571500" y="16002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33"/>
                </a:solidFill>
                <a:latin typeface="Malgun Gothic"/>
                <a:ea typeface="Malgun Gothic"/>
                <a:cs typeface="Malgun Gothic"/>
              </a:defRPr>
            </a:pPr>
            <a:r>
              <a:rPr sz="1350" b="0">
                <a:solidFill>
                  <a:srgbClr val="172033"/>
                </a:solidFill>
                <a:latin typeface="Malgun Gothic"/>
                <a:ea typeface="Malgun Gothic"/>
                <a:cs typeface="Malgun Gothic"/>
              </a:rPr>
              <a:t>동일 업무도 Thread와 표현이 달라집니다. 제목 Token 규칙만으로는 기존 Task 연결과 신규 Task 생성을 구분하기 어렵습니다.</a:t>
            </a:r>
          </a:p>
        </p:txBody>
      </p:sp>
      <p:sp>
        <p:nvSpPr>
          <p:cNvPr id="7" name="">
            <a:extLst xmlns:a="http://schemas.openxmlformats.org/drawingml/2006/main">
              <a:ext uri="{FF2B5EF4-FFF2-40B4-BE49-F238E27FC236}">
                <a16:creationId xmlns:a16="http://schemas.microsoft.com/office/drawing/2014/main" id="{6563DA24-94FE-47BF-B4D6-94C7BA8E2D53}"/>
              </a:ext>
            </a:extLst>
          </p:cNvPr>
          <p:cNvSpPr>
            <a:spLocks xmlns:a="http://schemas.openxmlformats.org/drawingml/2006/main" noGrp="1"/>
          </p:cNvSpPr>
          <p:nvPr/>
        </p:nvSpPr>
        <p:spPr>
          <a:xfrm xmlns:a="http://schemas.openxmlformats.org/drawingml/2006/main">
            <a:off x="571500" y="2171700"/>
            <a:ext cx="11049000" cy="19050"/>
          </a:xfrm>
          <a:prstGeom xmlns:a="http://schemas.openxmlformats.org/drawingml/2006/main" prst="rect">
            <a:avLst/>
          </a:prstGeom>
          <a:solidFill xmlns:a="http://schemas.openxmlformats.org/drawingml/2006/main">
            <a:srgbClr val="D7E1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EC3D371-22CA-463B-8072-E891EF6087F6}"/>
              </a:ext>
            </a:extLst>
          </p:cNvPr>
          <p:cNvSpPr>
            <a:spLocks xmlns:a="http://schemas.openxmlformats.org/drawingml/2006/main" noGrp="1"/>
          </p:cNvSpPr>
          <p:nvPr/>
        </p:nvSpPr>
        <p:spPr>
          <a:xfrm xmlns:a="http://schemas.openxmlformats.org/drawingml/2006/main">
            <a:off x="571500" y="2400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243E"/>
                </a:solidFill>
                <a:latin typeface="Malgun Gothic"/>
                <a:ea typeface="Malgun Gothic"/>
                <a:cs typeface="Malgun Gothic"/>
              </a:defRPr>
            </a:pPr>
            <a:r>
              <a:rPr sz="1500" b="1">
                <a:solidFill>
                  <a:srgbClr val="10243E"/>
                </a:solidFill>
                <a:latin typeface="Malgun Gothic"/>
                <a:ea typeface="Malgun Gothic"/>
                <a:cs typeface="Malgun Gothic"/>
              </a:rPr>
              <a:t>실제 Agent 판단 흐름</a:t>
            </a:r>
          </a:p>
        </p:txBody>
      </p:sp>
      <p:sp>
        <p:nvSpPr>
          <p:cNvPr id="9" name="">
            <a:extLst xmlns:a="http://schemas.openxmlformats.org/drawingml/2006/main">
              <a:ext uri="{FF2B5EF4-FFF2-40B4-BE49-F238E27FC236}">
                <a16:creationId xmlns:a16="http://schemas.microsoft.com/office/drawing/2014/main" id="{C242A742-5936-4794-AEEC-947BB3782114}"/>
              </a:ext>
            </a:extLst>
          </p:cNvPr>
          <p:cNvSpPr>
            <a:spLocks xmlns:a="http://schemas.openxmlformats.org/drawingml/2006/main" noGrp="1"/>
          </p:cNvSpPr>
          <p:nvPr/>
        </p:nvSpPr>
        <p:spPr>
          <a:xfrm xmlns:a="http://schemas.openxmlformats.org/drawingml/2006/main">
            <a:off x="571500" y="27432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91C987-03D1-4FD6-BFD9-CF8895CF4C64}"/>
              </a:ext>
            </a:extLst>
          </p:cNvPr>
          <p:cNvSpPr>
            <a:spLocks xmlns:a="http://schemas.openxmlformats.org/drawingml/2006/main" noGrp="1"/>
          </p:cNvSpPr>
          <p:nvPr/>
        </p:nvSpPr>
        <p:spPr>
          <a:xfrm xmlns:a="http://schemas.openxmlformats.org/drawingml/2006/main">
            <a:off x="609600" y="27622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1</a:t>
            </a:r>
          </a:p>
        </p:txBody>
      </p:sp>
      <p:sp>
        <p:nvSpPr>
          <p:cNvPr id="11" name="">
            <a:extLst xmlns:a="http://schemas.openxmlformats.org/drawingml/2006/main">
              <a:ext uri="{FF2B5EF4-FFF2-40B4-BE49-F238E27FC236}">
                <a16:creationId xmlns:a16="http://schemas.microsoft.com/office/drawing/2014/main" id="{F4D1EE15-1593-473A-90B3-82D52BDA4C9B}"/>
              </a:ext>
            </a:extLst>
          </p:cNvPr>
          <p:cNvSpPr>
            <a:spLocks xmlns:a="http://schemas.openxmlformats.org/drawingml/2006/main" noGrp="1"/>
          </p:cNvSpPr>
          <p:nvPr/>
        </p:nvSpPr>
        <p:spPr>
          <a:xfrm xmlns:a="http://schemas.openxmlformats.org/drawingml/2006/main">
            <a:off x="1104900" y="27432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입력·검색</a:t>
            </a:r>
          </a:p>
        </p:txBody>
      </p:sp>
      <p:sp>
        <p:nvSpPr>
          <p:cNvPr id="12" name="">
            <a:extLst xmlns:a="http://schemas.openxmlformats.org/drawingml/2006/main">
              <a:ext uri="{FF2B5EF4-FFF2-40B4-BE49-F238E27FC236}">
                <a16:creationId xmlns:a16="http://schemas.microsoft.com/office/drawing/2014/main" id="{4E469951-2307-4094-BEA3-C595CE6D31F7}"/>
              </a:ext>
            </a:extLst>
          </p:cNvPr>
          <p:cNvSpPr>
            <a:spLocks xmlns:a="http://schemas.openxmlformats.org/drawingml/2006/main" noGrp="1"/>
          </p:cNvSpPr>
          <p:nvPr/>
        </p:nvSpPr>
        <p:spPr>
          <a:xfrm xmlns:a="http://schemas.openxmlformats.org/drawingml/2006/main">
            <a:off x="2343150" y="27432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현재 Mail + 활성 Task + 최근 Mail 3건 + History 5건</a:t>
            </a:r>
          </a:p>
        </p:txBody>
      </p:sp>
      <p:sp>
        <p:nvSpPr>
          <p:cNvPr id="13" name="">
            <a:extLst xmlns:a="http://schemas.openxmlformats.org/drawingml/2006/main">
              <a:ext uri="{FF2B5EF4-FFF2-40B4-BE49-F238E27FC236}">
                <a16:creationId xmlns:a16="http://schemas.microsoft.com/office/drawing/2014/main" id="{DA45FEA8-DF9D-41D9-80DD-B81B7EFF57BF}"/>
              </a:ext>
            </a:extLst>
          </p:cNvPr>
          <p:cNvSpPr>
            <a:spLocks xmlns:a="http://schemas.openxmlformats.org/drawingml/2006/main" noGrp="1"/>
          </p:cNvSpPr>
          <p:nvPr/>
        </p:nvSpPr>
        <p:spPr>
          <a:xfrm xmlns:a="http://schemas.openxmlformats.org/drawingml/2006/main">
            <a:off x="571500" y="31623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7DB1C6E-3144-4B38-A0A4-33264FF29A7A}"/>
              </a:ext>
            </a:extLst>
          </p:cNvPr>
          <p:cNvSpPr>
            <a:spLocks xmlns:a="http://schemas.openxmlformats.org/drawingml/2006/main" noGrp="1"/>
          </p:cNvSpPr>
          <p:nvPr/>
        </p:nvSpPr>
        <p:spPr>
          <a:xfrm xmlns:a="http://schemas.openxmlformats.org/drawingml/2006/main">
            <a:off x="609600" y="31813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2</a:t>
            </a:r>
          </a:p>
        </p:txBody>
      </p:sp>
      <p:sp>
        <p:nvSpPr>
          <p:cNvPr id="15" name="">
            <a:extLst xmlns:a="http://schemas.openxmlformats.org/drawingml/2006/main">
              <a:ext uri="{FF2B5EF4-FFF2-40B4-BE49-F238E27FC236}">
                <a16:creationId xmlns:a16="http://schemas.microsoft.com/office/drawing/2014/main" id="{8932742E-491D-4482-B921-C17A74DB0866}"/>
              </a:ext>
            </a:extLst>
          </p:cNvPr>
          <p:cNvSpPr>
            <a:spLocks xmlns:a="http://schemas.openxmlformats.org/drawingml/2006/main" noGrp="1"/>
          </p:cNvSpPr>
          <p:nvPr/>
        </p:nvSpPr>
        <p:spPr>
          <a:xfrm xmlns:a="http://schemas.openxmlformats.org/drawingml/2006/main">
            <a:off x="1104900" y="31623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가설 생성</a:t>
            </a:r>
          </a:p>
        </p:txBody>
      </p:sp>
      <p:sp>
        <p:nvSpPr>
          <p:cNvPr id="16" name="">
            <a:extLst xmlns:a="http://schemas.openxmlformats.org/drawingml/2006/main">
              <a:ext uri="{FF2B5EF4-FFF2-40B4-BE49-F238E27FC236}">
                <a16:creationId xmlns:a16="http://schemas.microsoft.com/office/drawing/2014/main" id="{09E65209-ABB2-4A20-9810-408949539F54}"/>
              </a:ext>
            </a:extLst>
          </p:cNvPr>
          <p:cNvSpPr>
            <a:spLocks xmlns:a="http://schemas.openxmlformats.org/drawingml/2006/main" noGrp="1"/>
          </p:cNvSpPr>
          <p:nvPr/>
        </p:nvSpPr>
        <p:spPr>
          <a:xfrm xmlns:a="http://schemas.openxmlformats.org/drawingml/2006/main">
            <a:off x="2343150" y="31623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가능한 관계·대상·Action 후보 2~3개를 근거와 함께 제시 (점수는 매기지 않음)</a:t>
            </a:r>
          </a:p>
        </p:txBody>
      </p:sp>
      <p:sp>
        <p:nvSpPr>
          <p:cNvPr id="17" name="">
            <a:extLst xmlns:a="http://schemas.openxmlformats.org/drawingml/2006/main">
              <a:ext uri="{FF2B5EF4-FFF2-40B4-BE49-F238E27FC236}">
                <a16:creationId xmlns:a16="http://schemas.microsoft.com/office/drawing/2014/main" id="{2913204F-D0B5-44BC-8BED-D99F65680A18}"/>
              </a:ext>
            </a:extLst>
          </p:cNvPr>
          <p:cNvSpPr>
            <a:spLocks xmlns:a="http://schemas.openxmlformats.org/drawingml/2006/main" noGrp="1"/>
          </p:cNvSpPr>
          <p:nvPr/>
        </p:nvSpPr>
        <p:spPr>
          <a:xfrm xmlns:a="http://schemas.openxmlformats.org/drawingml/2006/main">
            <a:off x="571500" y="3581400"/>
            <a:ext cx="361950" cy="323850"/>
          </a:xfrm>
          <a:prstGeom xmlns:a="http://schemas.openxmlformats.org/drawingml/2006/main" prst="roundRect">
            <a:avLst>
              <a:gd name="adj" fmla="val 23529"/>
            </a:avLst>
          </a:prstGeom>
          <a:solidFill xmlns:a="http://schemas.openxmlformats.org/drawingml/2006/main">
            <a:srgbClr val="7657D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7E69037-B54F-48E9-91B6-4DCFDE272938}"/>
              </a:ext>
            </a:extLst>
          </p:cNvPr>
          <p:cNvSpPr>
            <a:spLocks xmlns:a="http://schemas.openxmlformats.org/drawingml/2006/main" noGrp="1"/>
          </p:cNvSpPr>
          <p:nvPr/>
        </p:nvSpPr>
        <p:spPr>
          <a:xfrm xmlns:a="http://schemas.openxmlformats.org/drawingml/2006/main">
            <a:off x="609600" y="36004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3</a:t>
            </a:r>
          </a:p>
        </p:txBody>
      </p:sp>
      <p:sp>
        <p:nvSpPr>
          <p:cNvPr id="19" name="">
            <a:extLst xmlns:a="http://schemas.openxmlformats.org/drawingml/2006/main">
              <a:ext uri="{FF2B5EF4-FFF2-40B4-BE49-F238E27FC236}">
                <a16:creationId xmlns:a16="http://schemas.microsoft.com/office/drawing/2014/main" id="{3D04F266-764D-470F-BB4C-2276891EA03A}"/>
              </a:ext>
            </a:extLst>
          </p:cNvPr>
          <p:cNvSpPr>
            <a:spLocks xmlns:a="http://schemas.openxmlformats.org/drawingml/2006/main" noGrp="1"/>
          </p:cNvSpPr>
          <p:nvPr/>
        </p:nvSpPr>
        <p:spPr>
          <a:xfrm xmlns:a="http://schemas.openxmlformats.org/drawingml/2006/main">
            <a:off x="1104900" y="35814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검증·평가</a:t>
            </a:r>
          </a:p>
        </p:txBody>
      </p:sp>
      <p:sp>
        <p:nvSpPr>
          <p:cNvPr id="20" name="">
            <a:extLst xmlns:a="http://schemas.openxmlformats.org/drawingml/2006/main">
              <a:ext uri="{FF2B5EF4-FFF2-40B4-BE49-F238E27FC236}">
                <a16:creationId xmlns:a16="http://schemas.microsoft.com/office/drawing/2014/main" id="{26B981ED-C597-4841-BDFD-ADAC23CF3CAA}"/>
              </a:ext>
            </a:extLst>
          </p:cNvPr>
          <p:cNvSpPr>
            <a:spLocks xmlns:a="http://schemas.openxmlformats.org/drawingml/2006/main" noGrp="1"/>
          </p:cNvSpPr>
          <p:nvPr/>
        </p:nvSpPr>
        <p:spPr>
          <a:xfrm xmlns:a="http://schemas.openxmlformats.org/drawingml/2006/main">
            <a:off x="2343150" y="35814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Python이 후보 계약을 검증하고, 별도 평가 단계가 지지도를 매겨 하나를 선택</a:t>
            </a:r>
          </a:p>
        </p:txBody>
      </p:sp>
      <p:sp>
        <p:nvSpPr>
          <p:cNvPr id="21" name="">
            <a:extLst xmlns:a="http://schemas.openxmlformats.org/drawingml/2006/main">
              <a:ext uri="{FF2B5EF4-FFF2-40B4-BE49-F238E27FC236}">
                <a16:creationId xmlns:a16="http://schemas.microsoft.com/office/drawing/2014/main" id="{C0879241-C278-4831-8C0E-D1D1DB76830B}"/>
              </a:ext>
            </a:extLst>
          </p:cNvPr>
          <p:cNvSpPr>
            <a:spLocks xmlns:a="http://schemas.openxmlformats.org/drawingml/2006/main" noGrp="1"/>
          </p:cNvSpPr>
          <p:nvPr/>
        </p:nvSpPr>
        <p:spPr>
          <a:xfrm xmlns:a="http://schemas.openxmlformats.org/drawingml/2006/main">
            <a:off x="571500" y="40005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E26CB9D-D464-4CFD-BE02-5F98652C2067}"/>
              </a:ext>
            </a:extLst>
          </p:cNvPr>
          <p:cNvSpPr>
            <a:spLocks xmlns:a="http://schemas.openxmlformats.org/drawingml/2006/main" noGrp="1"/>
          </p:cNvSpPr>
          <p:nvPr/>
        </p:nvSpPr>
        <p:spPr>
          <a:xfrm xmlns:a="http://schemas.openxmlformats.org/drawingml/2006/main">
            <a:off x="609600" y="40195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4</a:t>
            </a:r>
          </a:p>
        </p:txBody>
      </p:sp>
      <p:sp>
        <p:nvSpPr>
          <p:cNvPr id="23" name="">
            <a:extLst xmlns:a="http://schemas.openxmlformats.org/drawingml/2006/main">
              <a:ext uri="{FF2B5EF4-FFF2-40B4-BE49-F238E27FC236}">
                <a16:creationId xmlns:a16="http://schemas.microsoft.com/office/drawing/2014/main" id="{E3B1B416-5F06-4766-B162-FFC9FAA96581}"/>
              </a:ext>
            </a:extLst>
          </p:cNvPr>
          <p:cNvSpPr>
            <a:spLocks xmlns:a="http://schemas.openxmlformats.org/drawingml/2006/main" noGrp="1"/>
          </p:cNvSpPr>
          <p:nvPr/>
        </p:nvSpPr>
        <p:spPr>
          <a:xfrm xmlns:a="http://schemas.openxmlformats.org/drawingml/2006/main">
            <a:off x="1104900" y="40005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재판단</a:t>
            </a:r>
          </a:p>
        </p:txBody>
      </p:sp>
      <p:sp>
        <p:nvSpPr>
          <p:cNvPr id="24" name="">
            <a:extLst xmlns:a="http://schemas.openxmlformats.org/drawingml/2006/main">
              <a:ext uri="{FF2B5EF4-FFF2-40B4-BE49-F238E27FC236}">
                <a16:creationId xmlns:a16="http://schemas.microsoft.com/office/drawing/2014/main" id="{54AB7B83-5D85-418D-9B61-B8B672AB4D71}"/>
              </a:ext>
            </a:extLst>
          </p:cNvPr>
          <p:cNvSpPr>
            <a:spLocks xmlns:a="http://schemas.openxmlformats.org/drawingml/2006/main" noGrp="1"/>
          </p:cNvSpPr>
          <p:nvPr/>
        </p:nvSpPr>
        <p:spPr>
          <a:xfrm xmlns:a="http://schemas.openxmlformats.org/drawingml/2006/main">
            <a:off x="2343150" y="40005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모호·저신뢰이거나 선택 차이가 작으면 Query Rewrite 후 재검색을 최대 1회 수행</a:t>
            </a:r>
          </a:p>
        </p:txBody>
      </p:sp>
      <p:sp>
        <p:nvSpPr>
          <p:cNvPr id="25" name="">
            <a:extLst xmlns:a="http://schemas.openxmlformats.org/drawingml/2006/main">
              <a:ext uri="{FF2B5EF4-FFF2-40B4-BE49-F238E27FC236}">
                <a16:creationId xmlns:a16="http://schemas.microsoft.com/office/drawing/2014/main" id="{3873D89A-91D8-42C0-81F5-9119CEAF9CE7}"/>
              </a:ext>
            </a:extLst>
          </p:cNvPr>
          <p:cNvSpPr>
            <a:spLocks xmlns:a="http://schemas.openxmlformats.org/drawingml/2006/main" noGrp="1"/>
          </p:cNvSpPr>
          <p:nvPr/>
        </p:nvSpPr>
        <p:spPr>
          <a:xfrm xmlns:a="http://schemas.openxmlformats.org/drawingml/2006/main">
            <a:off x="571500" y="4419600"/>
            <a:ext cx="361950" cy="323850"/>
          </a:xfrm>
          <a:prstGeom xmlns:a="http://schemas.openxmlformats.org/drawingml/2006/main" prst="roundRect">
            <a:avLst>
              <a:gd name="adj" fmla="val 23529"/>
            </a:avLst>
          </a:prstGeom>
          <a:solidFill xmlns:a="http://schemas.openxmlformats.org/drawingml/2006/main">
            <a:srgbClr val="1769E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A70DDB9-D5BC-4256-93BE-44F029BCD5C7}"/>
              </a:ext>
            </a:extLst>
          </p:cNvPr>
          <p:cNvSpPr>
            <a:spLocks xmlns:a="http://schemas.openxmlformats.org/drawingml/2006/main" noGrp="1"/>
          </p:cNvSpPr>
          <p:nvPr/>
        </p:nvSpPr>
        <p:spPr>
          <a:xfrm xmlns:a="http://schemas.openxmlformats.org/drawingml/2006/main">
            <a:off x="609600" y="44386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5</a:t>
            </a:r>
          </a:p>
        </p:txBody>
      </p:sp>
      <p:sp>
        <p:nvSpPr>
          <p:cNvPr id="27" name="">
            <a:extLst xmlns:a="http://schemas.openxmlformats.org/drawingml/2006/main">
              <a:ext uri="{FF2B5EF4-FFF2-40B4-BE49-F238E27FC236}">
                <a16:creationId xmlns:a16="http://schemas.microsoft.com/office/drawing/2014/main" id="{3D2E539C-4071-4924-9667-F2C65210C5A7}"/>
              </a:ext>
            </a:extLst>
          </p:cNvPr>
          <p:cNvSpPr>
            <a:spLocks xmlns:a="http://schemas.openxmlformats.org/drawingml/2006/main" noGrp="1"/>
          </p:cNvSpPr>
          <p:nvPr/>
        </p:nvSpPr>
        <p:spPr>
          <a:xfrm xmlns:a="http://schemas.openxmlformats.org/drawingml/2006/main">
            <a:off x="1104900" y="44196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실행·관찰</a:t>
            </a:r>
          </a:p>
        </p:txBody>
      </p:sp>
      <p:sp>
        <p:nvSpPr>
          <p:cNvPr id="28" name="">
            <a:extLst xmlns:a="http://schemas.openxmlformats.org/drawingml/2006/main">
              <a:ext uri="{FF2B5EF4-FFF2-40B4-BE49-F238E27FC236}">
                <a16:creationId xmlns:a16="http://schemas.microsoft.com/office/drawing/2014/main" id="{C69BEECF-A08C-4B73-A69C-9EB0D992B3E7}"/>
              </a:ext>
            </a:extLst>
          </p:cNvPr>
          <p:cNvSpPr>
            <a:spLocks xmlns:a="http://schemas.openxmlformats.org/drawingml/2006/main" noGrp="1"/>
          </p:cNvSpPr>
          <p:nvPr/>
        </p:nvSpPr>
        <p:spPr>
          <a:xfrm xmlns:a="http://schemas.openxmlformats.org/drawingml/2006/main">
            <a:off x="2343150" y="44196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57187"/>
                </a:solidFill>
                <a:latin typeface="Malgun Gothic"/>
                <a:ea typeface="Malgun Gothic"/>
                <a:cs typeface="Malgun Gothic"/>
              </a:defRPr>
            </a:pPr>
            <a:r>
              <a:rPr sz="1200" b="0">
                <a:solidFill>
                  <a:srgbClr val="657187"/>
                </a:solidFill>
                <a:latin typeface="Malgun Gothic"/>
                <a:ea typeface="Malgun Gothic"/>
                <a:cs typeface="Malgun Gothic"/>
              </a:rPr>
              <a:t>Python Guard 승인 또는 ASK_USER → DB 실행 → 실제 저장 상태 재조회</a:t>
            </a:r>
          </a:p>
        </p:txBody>
      </p:sp>
      <p:sp>
        <p:nvSpPr>
          <p:cNvPr id="29" name="">
            <a:extLst xmlns:a="http://schemas.openxmlformats.org/drawingml/2006/main">
              <a:ext uri="{FF2B5EF4-FFF2-40B4-BE49-F238E27FC236}">
                <a16:creationId xmlns:a16="http://schemas.microsoft.com/office/drawing/2014/main" id="{150CF921-9C7A-4EFE-904E-2D0B5533898A}"/>
              </a:ext>
            </a:extLst>
          </p:cNvPr>
          <p:cNvSpPr>
            <a:spLocks xmlns:a="http://schemas.openxmlformats.org/drawingml/2006/main" noGrp="1"/>
          </p:cNvSpPr>
          <p:nvPr/>
        </p:nvSpPr>
        <p:spPr>
          <a:xfrm xmlns:a="http://schemas.openxmlformats.org/drawingml/2006/main">
            <a:off x="571500" y="495300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7657D6"/>
                </a:solidFill>
                <a:latin typeface="Malgun Gothic"/>
                <a:ea typeface="Malgun Gothic"/>
                <a:cs typeface="Malgun Gothic"/>
              </a:defRPr>
            </a:pPr>
            <a:r>
              <a:rPr sz="1425" b="1">
                <a:solidFill>
                  <a:srgbClr val="7657D6"/>
                </a:solidFill>
                <a:latin typeface="Malgun Gothic"/>
                <a:ea typeface="Malgun Gothic"/>
                <a:cs typeface="Malgun Gothic"/>
              </a:rPr>
              <a:t>같은 Case·같은 코드에서 숙고만 껐다 켠 비교</a:t>
            </a:r>
          </a:p>
        </p:txBody>
      </p:sp>
      <p:sp>
        <p:nvSpPr>
          <p:cNvPr id="30" name="">
            <a:extLst xmlns:a="http://schemas.openxmlformats.org/drawingml/2006/main">
              <a:ext uri="{FF2B5EF4-FFF2-40B4-BE49-F238E27FC236}">
                <a16:creationId xmlns:a16="http://schemas.microsoft.com/office/drawing/2014/main" id="{21C628B7-80B9-4881-8ED5-1C5811DA8323}"/>
              </a:ext>
            </a:extLst>
          </p:cNvPr>
          <p:cNvSpPr>
            <a:spLocks xmlns:a="http://schemas.openxmlformats.org/drawingml/2006/main" noGrp="1"/>
          </p:cNvSpPr>
          <p:nvPr/>
        </p:nvSpPr>
        <p:spPr>
          <a:xfrm xmlns:a="http://schemas.openxmlformats.org/drawingml/2006/main">
            <a:off x="57150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기존 15 Case</a:t>
            </a:r>
          </a:p>
        </p:txBody>
      </p:sp>
      <p:sp>
        <p:nvSpPr>
          <p:cNvPr id="31" name="">
            <a:extLst xmlns:a="http://schemas.openxmlformats.org/drawingml/2006/main">
              <a:ext uri="{FF2B5EF4-FFF2-40B4-BE49-F238E27FC236}">
                <a16:creationId xmlns:a16="http://schemas.microsoft.com/office/drawing/2014/main" id="{A20390C4-7041-4DAC-8F54-CC6097EB08F8}"/>
              </a:ext>
            </a:extLst>
          </p:cNvPr>
          <p:cNvSpPr>
            <a:spLocks xmlns:a="http://schemas.openxmlformats.org/drawingml/2006/main" noGrp="1"/>
          </p:cNvSpPr>
          <p:nvPr/>
        </p:nvSpPr>
        <p:spPr>
          <a:xfrm xmlns:a="http://schemas.openxmlformats.org/drawingml/2006/main">
            <a:off x="57150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15/15 · Action 28/28</a:t>
            </a:r>
          </a:p>
        </p:txBody>
      </p:sp>
      <p:sp>
        <p:nvSpPr>
          <p:cNvPr id="32" name="">
            <a:extLst xmlns:a="http://schemas.openxmlformats.org/drawingml/2006/main">
              <a:ext uri="{FF2B5EF4-FFF2-40B4-BE49-F238E27FC236}">
                <a16:creationId xmlns:a16="http://schemas.microsoft.com/office/drawing/2014/main" id="{758F6AFF-1DE0-4020-A25D-45731B4E005B}"/>
              </a:ext>
            </a:extLst>
          </p:cNvPr>
          <p:cNvSpPr>
            <a:spLocks xmlns:a="http://schemas.openxmlformats.org/drawingml/2006/main" noGrp="1"/>
          </p:cNvSpPr>
          <p:nvPr/>
        </p:nvSpPr>
        <p:spPr>
          <a:xfrm xmlns:a="http://schemas.openxmlformats.org/drawingml/2006/main">
            <a:off x="57150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숙고 On·Off 동일</a:t>
            </a:r>
          </a:p>
        </p:txBody>
      </p:sp>
      <p:sp>
        <p:nvSpPr>
          <p:cNvPr id="33" name="">
            <a:extLst xmlns:a="http://schemas.openxmlformats.org/drawingml/2006/main">
              <a:ext uri="{FF2B5EF4-FFF2-40B4-BE49-F238E27FC236}">
                <a16:creationId xmlns:a16="http://schemas.microsoft.com/office/drawing/2014/main" id="{34B7A09B-A697-415A-8EDA-DEAB8B108C77}"/>
              </a:ext>
            </a:extLst>
          </p:cNvPr>
          <p:cNvSpPr>
            <a:spLocks xmlns:a="http://schemas.openxmlformats.org/drawingml/2006/main" noGrp="1"/>
          </p:cNvSpPr>
          <p:nvPr/>
        </p:nvSpPr>
        <p:spPr>
          <a:xfrm xmlns:a="http://schemas.openxmlformats.org/drawingml/2006/main">
            <a:off x="424815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숙고 전용 4 Case</a:t>
            </a:r>
          </a:p>
        </p:txBody>
      </p:sp>
      <p:sp>
        <p:nvSpPr>
          <p:cNvPr id="34" name="">
            <a:extLst xmlns:a="http://schemas.openxmlformats.org/drawingml/2006/main">
              <a:ext uri="{FF2B5EF4-FFF2-40B4-BE49-F238E27FC236}">
                <a16:creationId xmlns:a16="http://schemas.microsoft.com/office/drawing/2014/main" id="{27D945B6-91D0-4D6F-8DAF-33E05F52BF69}"/>
              </a:ext>
            </a:extLst>
          </p:cNvPr>
          <p:cNvSpPr>
            <a:spLocks xmlns:a="http://schemas.openxmlformats.org/drawingml/2006/main" noGrp="1"/>
          </p:cNvSpPr>
          <p:nvPr/>
        </p:nvSpPr>
        <p:spPr>
          <a:xfrm xmlns:a="http://schemas.openxmlformats.org/drawingml/2006/main">
            <a:off x="424815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On 4/4  ·  Off 3/4</a:t>
            </a:r>
          </a:p>
        </p:txBody>
      </p:sp>
      <p:sp>
        <p:nvSpPr>
          <p:cNvPr id="35" name="">
            <a:extLst xmlns:a="http://schemas.openxmlformats.org/drawingml/2006/main">
              <a:ext uri="{FF2B5EF4-FFF2-40B4-BE49-F238E27FC236}">
                <a16:creationId xmlns:a16="http://schemas.microsoft.com/office/drawing/2014/main" id="{56D2897B-6F21-4537-A4B5-F6B38D0CB8E2}"/>
              </a:ext>
            </a:extLst>
          </p:cNvPr>
          <p:cNvSpPr>
            <a:spLocks xmlns:a="http://schemas.openxmlformats.org/drawingml/2006/main" noGrp="1"/>
          </p:cNvSpPr>
          <p:nvPr/>
        </p:nvSpPr>
        <p:spPr>
          <a:xfrm xmlns:a="http://schemas.openxmlformats.org/drawingml/2006/main">
            <a:off x="424815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차이는 유사 업무 2건 상황 1건</a:t>
            </a:r>
          </a:p>
        </p:txBody>
      </p:sp>
      <p:sp>
        <p:nvSpPr>
          <p:cNvPr id="36" name="">
            <a:extLst xmlns:a="http://schemas.openxmlformats.org/drawingml/2006/main">
              <a:ext uri="{FF2B5EF4-FFF2-40B4-BE49-F238E27FC236}">
                <a16:creationId xmlns:a16="http://schemas.microsoft.com/office/drawing/2014/main" id="{3006ABBE-AD8F-494D-8B86-01D4BDEA2A75}"/>
              </a:ext>
            </a:extLst>
          </p:cNvPr>
          <p:cNvSpPr>
            <a:spLocks xmlns:a="http://schemas.openxmlformats.org/drawingml/2006/main" noGrp="1"/>
          </p:cNvSpPr>
          <p:nvPr/>
        </p:nvSpPr>
        <p:spPr>
          <a:xfrm xmlns:a="http://schemas.openxmlformats.org/drawingml/2006/main">
            <a:off x="7924800" y="529590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1">
                <a:solidFill>
                  <a:srgbClr val="1769E0"/>
                </a:solidFill>
                <a:latin typeface="Malgun Gothic"/>
                <a:ea typeface="Malgun Gothic"/>
                <a:cs typeface="Malgun Gothic"/>
              </a:defRPr>
            </a:pPr>
            <a:r>
              <a:rPr sz="1050" b="1">
                <a:solidFill>
                  <a:srgbClr val="1769E0"/>
                </a:solidFill>
                <a:latin typeface="Malgun Gothic"/>
                <a:ea typeface="Malgun Gothic"/>
                <a:cs typeface="Malgun Gothic"/>
              </a:rPr>
              <a:t>그 1건</a:t>
            </a:r>
          </a:p>
        </p:txBody>
      </p:sp>
      <p:sp>
        <p:nvSpPr>
          <p:cNvPr id="37" name="">
            <a:extLst xmlns:a="http://schemas.openxmlformats.org/drawingml/2006/main">
              <a:ext uri="{FF2B5EF4-FFF2-40B4-BE49-F238E27FC236}">
                <a16:creationId xmlns:a16="http://schemas.microsoft.com/office/drawing/2014/main" id="{7CDA2142-BA61-412C-BAFA-42F668878E24}"/>
              </a:ext>
            </a:extLst>
          </p:cNvPr>
          <p:cNvSpPr>
            <a:spLocks xmlns:a="http://schemas.openxmlformats.org/drawingml/2006/main" noGrp="1"/>
          </p:cNvSpPr>
          <p:nvPr/>
        </p:nvSpPr>
        <p:spPr>
          <a:xfrm xmlns:a="http://schemas.openxmlformats.org/drawingml/2006/main">
            <a:off x="7924800" y="5543550"/>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43E"/>
                </a:solidFill>
                <a:latin typeface="Malgun Gothic"/>
                <a:ea typeface="Malgun Gothic"/>
                <a:cs typeface="Malgun Gothic"/>
              </a:defRPr>
            </a:pPr>
            <a:r>
              <a:rPr sz="1200" b="1">
                <a:solidFill>
                  <a:srgbClr val="10243E"/>
                </a:solidFill>
                <a:latin typeface="Malgun Gothic"/>
                <a:ea typeface="Malgun Gothic"/>
                <a:cs typeface="Malgun Gothic"/>
              </a:rPr>
              <a:t>Off는 한쪽에 자동 연결</a:t>
            </a:r>
          </a:p>
        </p:txBody>
      </p:sp>
      <p:sp>
        <p:nvSpPr>
          <p:cNvPr id="38" name="">
            <a:extLst xmlns:a="http://schemas.openxmlformats.org/drawingml/2006/main">
              <a:ext uri="{FF2B5EF4-FFF2-40B4-BE49-F238E27FC236}">
                <a16:creationId xmlns:a16="http://schemas.microsoft.com/office/drawing/2014/main" id="{3F1A8D21-314C-49C2-AC43-5A14FB2E4356}"/>
              </a:ext>
            </a:extLst>
          </p:cNvPr>
          <p:cNvSpPr>
            <a:spLocks xmlns:a="http://schemas.openxmlformats.org/drawingml/2006/main" noGrp="1"/>
          </p:cNvSpPr>
          <p:nvPr/>
        </p:nvSpPr>
        <p:spPr>
          <a:xfrm xmlns:a="http://schemas.openxmlformats.org/drawingml/2006/main">
            <a:off x="7924800" y="5810250"/>
            <a:ext cx="3314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57187"/>
                </a:solidFill>
                <a:latin typeface="Malgun Gothic"/>
                <a:ea typeface="Malgun Gothic"/>
                <a:cs typeface="Malgun Gothic"/>
              </a:defRPr>
            </a:pPr>
            <a:r>
              <a:rPr sz="1050" b="0">
                <a:solidFill>
                  <a:srgbClr val="657187"/>
                </a:solidFill>
                <a:latin typeface="Malgun Gothic"/>
                <a:ea typeface="Malgun Gothic"/>
                <a:cs typeface="Malgun Gothic"/>
              </a:rPr>
              <a:t>On은 지지도 0.55 대 0.45로 사용자 확인</a:t>
            </a:r>
          </a:p>
        </p:txBody>
      </p:sp>
      <p:sp>
        <p:nvSpPr>
          <p:cNvPr id="39" name="">
            <a:extLst xmlns:a="http://schemas.openxmlformats.org/drawingml/2006/main">
              <a:ext uri="{FF2B5EF4-FFF2-40B4-BE49-F238E27FC236}">
                <a16:creationId xmlns:a16="http://schemas.microsoft.com/office/drawing/2014/main" id="{1374DD00-8278-4682-8CA2-9AF108C58CAA}"/>
              </a:ext>
            </a:extLst>
          </p:cNvPr>
          <p:cNvSpPr>
            <a:spLocks xmlns:a="http://schemas.openxmlformats.org/drawingml/2006/main" noGrp="1"/>
          </p:cNvSpPr>
          <p:nvPr/>
        </p:nvSpPr>
        <p:spPr>
          <a:xfrm xmlns:a="http://schemas.openxmlformats.org/drawingml/2006/main">
            <a:off x="571500" y="6286500"/>
            <a:ext cx="685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l">
              <a:defRPr sz="1125" b="1">
                <a:solidFill>
                  <a:srgbClr val="C73C34"/>
                </a:solidFill>
                <a:latin typeface="Malgun Gothic"/>
                <a:ea typeface="Malgun Gothic"/>
                <a:cs typeface="Malgun Gothic"/>
              </a:defRPr>
            </a:pPr>
            <a:r>
              <a:rPr sz="1125" b="1">
                <a:solidFill>
                  <a:srgbClr val="C73C34"/>
                </a:solidFill>
                <a:latin typeface="Malgun Gothic"/>
                <a:ea typeface="Malgun Gothic"/>
                <a:cs typeface="Malgun Gothic"/>
              </a:rPr>
              <a:t>실패  |  계약 위반 응답을 재시도 없이 실패 처리해 실제 Gmail 재생에서 판단 4건 유실</a:t>
            </a:r>
          </a:p>
        </p:txBody>
      </p:sp>
      <p:sp>
        <p:nvSpPr>
          <p:cNvPr id="40" name="">
            <a:extLst xmlns:a="http://schemas.openxmlformats.org/drawingml/2006/main">
              <a:ext uri="{FF2B5EF4-FFF2-40B4-BE49-F238E27FC236}">
                <a16:creationId xmlns:a16="http://schemas.microsoft.com/office/drawing/2014/main" id="{D6491A56-D12B-4C06-A52A-57642505DF23}"/>
              </a:ext>
            </a:extLst>
          </p:cNvPr>
          <p:cNvSpPr>
            <a:spLocks xmlns:a="http://schemas.openxmlformats.org/drawingml/2006/main" noGrp="1"/>
          </p:cNvSpPr>
          <p:nvPr/>
        </p:nvSpPr>
        <p:spPr>
          <a:xfrm xmlns:a="http://schemas.openxmlformats.org/drawingml/2006/main">
            <a:off x="7524750" y="62865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44"/>
          </a:bodyPr>
          <a:lstStyle xmlns:a="http://schemas.openxmlformats.org/drawingml/2006/main"/>
          <a:p xmlns:a="http://schemas.openxmlformats.org/drawingml/2006/main">
            <a:pPr algn="l">
              <a:defRPr sz="1125" b="1">
                <a:solidFill>
                  <a:srgbClr val="138A62"/>
                </a:solidFill>
                <a:latin typeface="Malgun Gothic"/>
                <a:ea typeface="Malgun Gothic"/>
                <a:cs typeface="Malgun Gothic"/>
              </a:defRPr>
            </a:pPr>
            <a:r>
              <a:rPr sz="1125" b="1">
                <a:solidFill>
                  <a:srgbClr val="138A62"/>
                </a:solidFill>
                <a:latin typeface="Malgun Gothic"/>
                <a:ea typeface="Malgun Gothic"/>
                <a:cs typeface="Malgun Gothic"/>
              </a:rPr>
              <a:t>개선  |  검증을 재시도 루프 안으로 이동, 유실 0건</a:t>
            </a:r>
          </a:p>
        </p:txBody>
      </p:sp>
    </p:spTree>
    <p:extLst>
      <p:ext uri="{BB962C8B-B14F-4D97-AF65-F5344CB8AC3E}">
        <p14:creationId xmlns:p14="http://schemas.microsoft.com/office/powerpoint/2010/main" val="12548363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2026-09-15T07:21:14.8320000Z</dcterms:created>
  <dcterms:modified xsi:type="dcterms:W3CDTF">2026-09-15T07:21:14.8320000Z</dcterms:modified>
</coreProperties>
</file>