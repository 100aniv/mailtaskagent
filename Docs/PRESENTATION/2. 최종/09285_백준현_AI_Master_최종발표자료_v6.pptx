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7d0b93b0a48a5" /><Relationship Type="http://schemas.openxmlformats.org/officeDocument/2006/relationships/extended-properties" Target="/docProps/app.xml" Id="R259d025703904721" /><Relationship Type="http://schemas.openxmlformats.org/officeDocument/2006/relationships/officeDocument" Target="/ppt/presentation.xml" Id="R8993d061cec1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38aa6b6d24c88"/>
  </p:sldMasterIdLst>
  <p:notesMasterIdLst>
    <p:notesMasterId xmlns:r="http://schemas.openxmlformats.org/officeDocument/2006/relationships" r:id="R4253dbcfb0e54dc2"/>
  </p:notesMasterIdLst>
  <p:sldIdLst>
    <p:sldId xmlns:r="http://schemas.openxmlformats.org/officeDocument/2006/relationships" id="256" r:id="R817171d01e6042e6"/>
    <p:sldId xmlns:r="http://schemas.openxmlformats.org/officeDocument/2006/relationships" id="257" r:id="R4a34fe1d8606419a"/>
    <p:sldId xmlns:r="http://schemas.openxmlformats.org/officeDocument/2006/relationships" id="258" r:id="R1d7bc3b5973e4aa6"/>
    <p:sldId xmlns:r="http://schemas.openxmlformats.org/officeDocument/2006/relationships" id="259" r:id="Rfe379d9622a6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e79dbfb8524448" /><Relationship Type="http://schemas.openxmlformats.org/officeDocument/2006/relationships/slideMaster" Target="/ppt/slideMasters/slideMaster1.xml" Id="R01d38aa6b6d24c88" /><Relationship Type="http://schemas.openxmlformats.org/officeDocument/2006/relationships/notesMaster" Target="/ppt/notesMasters/notesMaster1.xml" Id="R4253dbcfb0e54dc2" /><Relationship Type="http://schemas.openxmlformats.org/officeDocument/2006/relationships/presProps" Target="/ppt/presProps.xml" Id="Rd6d21412c2604e90" /><Relationship Type="http://schemas.openxmlformats.org/officeDocument/2006/relationships/tableStyles" Target="/ppt/tableStyles.xml" Id="R5acc73e29c62413e" /><Relationship Type="http://schemas.openxmlformats.org/officeDocument/2006/relationships/slide" Target="/ppt/slides/slide1.xml" Id="R817171d01e6042e6" /><Relationship Type="http://schemas.openxmlformats.org/officeDocument/2006/relationships/slide" Target="/ppt/slides/slide2.xml" Id="R4a34fe1d8606419a" /><Relationship Type="http://schemas.openxmlformats.org/officeDocument/2006/relationships/slide" Target="/ppt/slides/slide3.xml" Id="R1d7bc3b5973e4aa6" /><Relationship Type="http://schemas.openxmlformats.org/officeDocument/2006/relationships/slide" Target="/ppt/slides/slide4.xml" Id="Rfe379d9622a6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3daa94d0c445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eb401167f146f2" /><Relationship Type="http://schemas.openxmlformats.org/officeDocument/2006/relationships/notesMaster" Target="/ppt/notesMasters/notesMaster1.xml" Id="R965158f7fb7b42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90b6b4c9204a1b" /><Relationship Type="http://schemas.openxmlformats.org/officeDocument/2006/relationships/notesMaster" Target="/ppt/notesMasters/notesMaster1.xml" Id="Rf1a1535383fd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5f0db9a8744389" /><Relationship Type="http://schemas.openxmlformats.org/officeDocument/2006/relationships/notesMaster" Target="/ppt/notesMasters/notesMaster1.xml" Id="Rd66d025472b644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24cc17cda74645" /><Relationship Type="http://schemas.openxmlformats.org/officeDocument/2006/relationships/notesMaster" Target="/ppt/notesMasters/notesMaster1.xml" Id="Rf12ae992e2be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MailTaskAgent는 메일을 요약하는 도구가 아닙니다. 새 메일과 기존 업무 상태를 함께 보고 다음 Action을 결정하고, 위험하거나 모호한 결정은 사용자에게 넘기는 Agentic AI 프로젝트입니다.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Docs/AI_MASTER/02_문제정의및서비스기획.md</a:t>
            </a:r>
          </a:p>
          <a:p xmlns:a="http://schemas.openxmlformats.org/drawingml/2006/main">
            <a:r>
              <a:t>- Docs/AI_MASTER/07_E2E서비스개발.md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메일을 읽는 행위보다, 요청을 Task로 옮기고 후속 변경을 놓치지 않는 데 있습니다. 메일이 들어오면 Agent가 의미를 구조화하고, 관련 업무를 찾고, 다음 Action을 제안합니다. Python은 안전 정책을 확인하고 DB 실행 결과를 다시 관찰합니다. 오른쪽 수치는 현재 커밋과 실제 테스트 계정에서 확인한 범위입니다.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Docs/AI_MASTER/02_문제정의및서비스기획.md</a:t>
            </a:r>
          </a:p>
          <a:p xmlns:a="http://schemas.openxmlformats.org/drawingml/2006/main">
            <a:r>
              <a:t>- evidence/final_submission_audit_2026-09-13_after_gmail_e2e.json</a:t>
            </a:r>
          </a:p>
          <a:p xmlns:a="http://schemas.openxmlformats.org/drawingml/2006/main">
            <a:r>
              <a:t>- evidence/gmail_fresh_auto_create_2026-09-13.json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M-01은 메일의 의미를 구조화합니다. M-02는 현재 SQLite에서 관련 Task, 최근 Mail 3건, History 5건까지 검색합니다. 동일 Thread처럼 확정 가능한 경우에는 규칙 경로를 사용합니다. 다른 Thread와 다른 표현 때문에 관계가 불확실할 때만 M-03 Task Context Agent가 관계, 대상 Task와 Action을 제안합니다. Action은 CREATE_TASK, UPDATE_TASK, LINK_TO_TASK, SET_WAITING, MARK_COMPLETED, ASK_USER, IGNORE의 7개입니다. 저신뢰 판단은 검색어를 한 번만 바꿔 재검색합니다. Python Guard는 Action을 승인하거나 ASK_USER로 올리고, 실행 후 DB를 재조회합니다.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Docs/AI_MASTER/04_상세설계및개발환경.md</a:t>
            </a:r>
          </a:p>
          <a:p xmlns:a="http://schemas.openxmlformats.org/drawingml/2006/main">
            <a:r>
              <a:t>- src/mailtaskagent/workflow.py</a:t>
            </a:r>
          </a:p>
          <a:p xmlns:a="http://schemas.openxmlformats.org/drawingml/2006/main">
            <a:r>
              <a:t>- src/mailtaskagent/task_context_agent.py</a:t>
            </a:r>
          </a:p>
          <a:p xmlns:a="http://schemas.openxmlformats.org/drawingml/2006/main">
            <a:r>
              <a:t>- src/mailtaskagent/decision.py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Workflow는 같은 조건에 같은 Action을 실행합니다. 이 프로젝트의 Agent 경로는 현재 Mail과 검색 Context를 관찰하고, SAME_TASK, NEW_TASK, AMBIGUOUS 중 관계를 고른 뒤 7개 Action 중 하나를 제안합니다. 낮은 신뢰도에서는 검색어를 다시 만들고 결과를 재관찰합니다. 그래도 불확실하면 사람이 결정합니다. 다만 자유로운 장기 계획 Agent는 아니며, 불확실한 업무 연결에만 제한된 판단을 허용한 하이브리드 구조입니다. LIVE-RAG 3/3은 이 분기 계약을 확인한 합성 Live 검증이며 전체 Mailbox 정확도를 의미하지 않습니다. 실제 Gmail 검증 중 INBOUND 요청을 WAITING으로 잘못 구조화한 사례를 발견했고 의미 계약 재시도를 추가했습니다. 수정 후 새 Gmail Root Mail의 자동 CREATE_TASK를 다시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[근거]</a:t>
            </a:r>
          </a:p>
          <a:p xmlns:a="http://schemas.openxmlformats.org/drawingml/2006/main">
            <a:r>
              <a:t>- 멘토 피드백 2026-09</a:t>
            </a:r>
          </a:p>
          <a:p xmlns:a="http://schemas.openxmlformats.org/drawingml/2006/main">
            <a:r>
              <a:t>- evidence/task_context_rag_evaluation_2026-09-01.json</a:t>
            </a:r>
          </a:p>
          <a:p xmlns:a="http://schemas.openxmlformats.org/drawingml/2006/main">
            <a:r>
              <a:t>- evidence/gmail_final_e2e_2026-09-13.json</a:t>
            </a:r>
          </a:p>
          <a:p xmlns:a="http://schemas.openxmlformats.org/drawingml/2006/main">
            <a:r>
              <a:t>- evidence/gmail_fresh_auto_create_2026-09-13.json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4cd6dd10f4b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f0928a8ec4cbb" /><Relationship Type="http://schemas.openxmlformats.org/officeDocument/2006/relationships/slideLayout" Target="/ppt/slideLayouts/slideLayout1.xml" Id="R51b828372d9e46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828372d9e46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6b83c30f24bbb" /><Relationship Type="http://schemas.openxmlformats.org/officeDocument/2006/relationships/notesSlide" Target="/ppt/notesSlides/notesSlide1.xml" Id="Rd568cbc3f25b41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69d05fb14323" /><Relationship Type="http://schemas.openxmlformats.org/officeDocument/2006/relationships/notesSlide" Target="/ppt/notesSlides/notesSlide2.xml" Id="R28584f5577c8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b7dbb6cba497f" /><Relationship Type="http://schemas.openxmlformats.org/officeDocument/2006/relationships/notesSlide" Target="/ppt/notesSlides/notesSlide3.xml" Id="R35cb8ca40f0842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487b0b2fa4f9b" /><Relationship Type="http://schemas.openxmlformats.org/officeDocument/2006/relationships/notesSlide" Target="/ppt/notesSlides/notesSlide4.xml" Id="R37bca28db7a942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39CFE-AEA0-4A09-8D6D-A7D28203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86BAA-A4FF-401D-84E0-BBCE9CAF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rPr>
              <a:t>AI Master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62B3A-9494-4D33-A8B0-2F8C161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MailTaskAgent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E97AC-1343-4D7E-AB0D-A869703C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6F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6F8"/>
                </a:solidFill>
                <a:latin typeface="Malgun Gothic"/>
                <a:ea typeface="Malgun Gothic"/>
                <a:cs typeface="Malgun Gothic"/>
              </a:rPr>
              <a:t>메일을 업무로 해석하고 다음 행동을 결정하는 개인 업무관리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DF5F-23D6-4701-8A68-699464EF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0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88BE-8C57-497B-8534-E1C5CF2C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백준현  |  09285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29EED-A14E-4256-9E4D-6F28ED57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9D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9C9DD"/>
                </a:solidFill>
                <a:latin typeface="Malgun Gothic"/>
                <a:ea typeface="Malgun Gothic"/>
                <a:cs typeface="Malgun Gothic"/>
              </a:rPr>
              <a:t>AI Master 7기  |  멘토 이유경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85B87-AC97-4EDF-9D3B-C038923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0B8C7"/>
                </a:solidFill>
                <a:latin typeface="Malgun Gothic"/>
                <a:ea typeface="Malgun Gothic"/>
                <a:cs typeface="Malgun Gothic"/>
              </a:rPr>
              <a:t>최종 발표</a:t>
            </a:r>
          </a:p>
        </p:txBody>
      </p:sp>
    </p:spTree>
    <p:extLst>
      <p:ext uri="{BB962C8B-B14F-4D97-AF65-F5344CB8AC3E}">
        <p14:creationId xmlns:p14="http://schemas.microsoft.com/office/powerpoint/2010/main" val="1363252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51FC9C-B0B3-4DBF-AB12-3CCAC42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E1E86-563D-4776-B9C4-76F5606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9EFA7-CB76-4383-80E4-2F75402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FF392-93BC-4CD5-81DC-50CA759D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8280E-EA36-4D5C-BCF1-D6C2464C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메일함에서 놓치기 쉬운 요청을 Task Lifecycle로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A054A-9F05-4E06-86CD-2EFE271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수작업 전환 누락과 후속 메일 추적 부담을 줄이고, 위험한 변경은 사용자 승인 뒤 반영합니다.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BCCDC-751F-4499-8377-C1F2AB1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F823F-0E56-4E81-902F-AA63D511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AA64-6C74-4677-97FB-6A2EFB0B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메일 관찰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67F3F-ACA2-4262-B09C-80671714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Gmail 수신·발신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Thread와 참여자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608CD-B1E2-4DA0-86A9-22E9506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A4EA9-92C8-4549-AF48-D9C33CE5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64DA6-8212-428D-9BD3-A8ABC397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8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2FF69-5A82-4941-814D-D9CFCB91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의미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A0235-D897-4496-8C92-2EEFFFDC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요청·기한·Intent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회사 LLM 구조화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BFBB4-0C13-4B25-86B4-1AB6FD1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88706-007D-4CA6-95F4-D28270E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4AD0E-8FD2-4157-BE28-0A99A0C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7D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F0AC2-9F19-4486-B9B1-2865DE2A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관계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8D7C7-FF7C-4DDD-8EA9-40B1F91D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Task Context RAG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Action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DE606-2947-4D89-85A8-77877144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BB3E4-9CBD-4938-926C-D8500299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2C783-F4DD-443B-9FC1-A9CEA151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B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2E311-4296-4C21-8BF7-E33E88D0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안전 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9C9D3-625E-4BD9-A88C-CB8BBDF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Python Guard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사용자 승인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8C436-F19F-4115-985A-0512C1D2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28B07-E0A9-4199-9D50-046D4D74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69DF4-0321-42D4-9A82-1497D8ED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501D6-FB40-4396-9D44-74817D02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431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결과 기억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CE47A-041E-46B0-8DA5-81039BB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67025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Task·History·Trace</a:t>
            </a:r>
          </a:p>
          <a:p xmlns:a="http://schemas.openxmlformats.org/drawingml/2006/main">
            <a:pPr algn="l">
              <a:def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후속 메일 반영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B86CF-EF8A-404C-8542-C4BE57E6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핵심 기술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869EC-46B7-4DCD-BE52-7DFDA970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57625"/>
            <a:ext cx="928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회사 gpt-4.1-mini  ·  Python + Pydantic  ·  SQLite Task Context  ·  Gmail API  ·  Streamlit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F6ACE2-D63F-4923-875F-9EA4B339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95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E4AFF-D1FD-4DC0-B047-E4E68F0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28/28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FFA55F-75D7-40AF-AE5A-17E72D6A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Action 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31A976-6AB7-4528-B4D0-05B84E20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95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3/3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7A98FE-38B2-4F06-A5A6-6A93F965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95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Agent Context Live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0DFD4A-B478-4858-893F-D96918D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95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rPr>
              <a:t>20/20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1950BE-DAD8-4906-94DF-7AA03235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958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Gmail 수용시험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09B44A-C999-4537-A802-AD9C7B59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917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보조 검증  |  pytest 179 passed  ·  동일 메일 재조회 35/35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3983-365F-44F9-A01A-26960E6F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577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사용자 체감 시간은 미측정입니다. 수치는 정의된 합성 Case와 승인된 테스트 계정 범위입니다.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1439AC-D3F1-4F5A-88F0-EE8AF650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49EE01-3034-423A-851B-3D09B209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핵심 메시지  |  규칙으로 확정할 수 없는 업무 관계는 Agent가 판단하고, Python과 사용자가 실행 위험을 통제합니다.</a:t>
            </a:r>
          </a:p>
        </p:txBody>
      </p:sp>
    </p:spTree>
    <p:extLst>
      <p:ext uri="{BB962C8B-B14F-4D97-AF65-F5344CB8AC3E}">
        <p14:creationId xmlns:p14="http://schemas.microsoft.com/office/powerpoint/2010/main" val="1032935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661BB2-8291-4C92-B2F8-47EB944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4AB92-21EE-4A14-881E-A30AD69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기술 아키텍처와 Agent 판단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CD67E-A586-485F-86F3-BD5099D6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48DA-15D7-4A3A-AE51-2557F493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9BEEE-A3D1-4708-BCF1-86BE85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결정론적 경로와 Agent 판단 경로를 함께 사용하는 단일 Agent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D8F39-4579-439C-8F8D-5F566D5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0E9AE-FCA1-4ED1-9453-29FEBD09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F312C-E1D8-4F6D-BAA0-9477E73C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74B5C-90D8-45EB-81D0-60F506C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Mail Analyzer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07413-4F83-4C63-B6AE-38A79DB7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의미·Intent·기한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B0CFF-A992-4939-A736-7A035606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43EA9-0156-4FE8-9079-BF623FD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8E370-73A0-486C-9354-5F24F33A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67031-29EB-4A79-BED7-4908719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6B000-A7B5-4122-BA5D-886391C9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Task Retriever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9AE043-E5FE-4820-9BBF-35FABB6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SQLite Context top-k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C0956-9B43-48B3-B416-2FD2FFFC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A6AFE-78A7-4628-8C6A-67E52FBB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EFFF"/>
          </a:solidFill>
          <a:ln xmlns:a="http://schemas.openxmlformats.org/drawingml/2006/main" w="9525">
            <a:solidFill>
              <a:srgbClr val="7657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AEC4E-6BEF-4B6A-A012-728EE5A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DE6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3236B-471E-4F58-8052-13FEE3CF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rPr>
              <a:t>M-03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F3DA9-7C5C-4C80-980E-2DFD27FE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5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Context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197EE1-9C37-4C57-8CE9-2E2B4B1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관계·Action 제안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E59119-ECF1-4278-9A25-C93FCC59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4AAB9-27C5-4CA4-B3B4-5900191C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DE9CC8-AFF7-4518-BA45-2502166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3FE67-22CF-4D00-9015-FA2D8DA2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Guard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DD3829-C8C0-4CA0-AA83-668B44A7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Python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77A0B6-2025-4FF3-8468-706F14E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4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Payload·전이 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F7450-AA01-450A-87D8-92D42870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904D8-0043-4717-BE3B-135548D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084034-4A21-498D-B66C-FBB6CF7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C2696-210E-4529-9E4A-E835AAD5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66051-6AD6-4A97-981F-90132A8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DB Tool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CFA239-41E6-4BC3-B55D-DDB42DA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저장·상태 재조회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EAE91E-F242-41E5-A4B7-B7CD590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05050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9ECFB7-CCA0-48AD-83E4-352EC59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524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69FDC2-0346-4CF8-9B7C-CC2EAAF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0049EF-6ECB-4BC8-A4E2-25689A53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621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M-05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1C405C-200C-4568-96D6-FD3F1D96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Review &amp; Trace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6EB2F-2947-42F5-8B2A-D49A8966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18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9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사용자 확인·Dashboard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1013FA-A931-4463-8E9F-AC7ABC82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104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0E7B51-97E9-40F3-AFAB-14BBE76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확정 가능한 동일 Thread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668B34-D7BB-49D4-8F4C-7856B9D5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Metadata 규칙으로 연결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D8FB68-DE20-4AF0-B95B-8E5041D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48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rPr>
              <a:t>다른 Thread·다른 표현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CEE92F-CEEF-49BD-A8A7-D3E3A5D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81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RAG Context를 보고 관계·대상·Action을 LLM이 제안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916222-0860-45E0-AB8D-B188CC71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기술 선택 이유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DF92BC-EA28-4060-85FF-D457C5C8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gpt-4.1-mini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2D758B-45D0-40E2-AD7C-D72746A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메일 의미와 관계를 Pydantic Schema로 구조화</a:t>
            </a:r>
          </a:p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모델 간 우월성 비교는 수행하지 않음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1F4646-19B2-4104-AFA8-ACDCDF6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910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rPr>
              <a:t>SQLite Task Context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E5279A-A5B2-4EE2-97F7-73CFC3BE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개인 MVP의 활성 Task·최근 Mail·History만 제한 검색</a:t>
            </a:r>
          </a:p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Vector DB와 외부 Embedding은 사용하지 않음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F0F837-4D00-49F0-AF5A-14F419BE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3314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Python + Pydantic Guard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0AC32A-AD8E-46DF-A01E-D7A88721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후보 ID·Intent·상태 전이·중요 변경을 검증</a:t>
            </a:r>
          </a:p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LLM과 DB 실행 권한을 분리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57A57E-2673-4C10-B15D-6BB80169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48AC06-D637-412A-90B8-3434FA1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M-01은 모든 Mail 의미를 LLM으로 구조화하고, 관계·Action 선택은 STRUCTURED_RAG 경로에만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85385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CF09BD-CD6E-4279-B346-9A572E60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5768B-615D-4E1C-9A38-A9F4807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핵심 기술 과제와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914A8-506D-422F-9FFB-D5F80544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4E78E-8BAB-46D9-99F3-D9C178E6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388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5736D-85E1-4613-9A91-6D1484B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rPr>
              <a:t>왜 고정 Workflow만으로 부족했는가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7D2D9-1CFD-4268-BC49-427F05F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동일 업무도 Thread와 표현이 달라집니다. 제목 Token 규칙만으로는 기존 Task 연결과 신규 Task 생성을 구분하기 어렵습니다.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D05B6-1EDE-4038-823C-F9F6118D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CA85C-D8BB-4921-B92E-17FE412A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실제 Agent 판단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8C178-F2CA-4F85-8889-C000823B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49377-0F8E-4E02-90E5-B8DE3A37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A4454-275C-4684-B7A3-A2259E7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입력·검색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38C17-6AB0-4215-A88E-ECBE33F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813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현재 Mail + 활성 Task + 최근 Mail 3건 + History 5건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F052F-43A2-44E5-96C3-1A31EDD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274A1-2363-46D2-B635-96003A59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D7DAB-DDE8-4043-9436-E44FBCA9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CE0F4-D051-40F1-8E70-4AA820DE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관계를 고르고 생성·갱신·연결·회신 대기·완료·사용자 확인·무시 중 하나를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8ECCF0-5F55-456F-9D39-E5CCA54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657D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EFB2F-7680-4A9B-B0A1-75DED68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87FF0-7850-486F-B2E6-2A1D9E15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재판단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D422E-D40B-4DAC-9E65-937B352A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957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AMBIGUOUS이거나 신뢰도 0.75 미만이면 Query Rewrite 후 재검색을 최대 1회 수행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50532-FD66-45CC-AAC0-32EA624B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4EBBB-AA29-4506-8F6B-26D72A81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AD36A-7088-4D64-8723-3A24354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실행·관찰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D9766-6B06-4CE3-A6A6-0C84E59E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529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Python Guard 승인 또는 ASK_USER → DB 실행 → 실제 저장 상태 재조회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F380B-FF82-48C1-9662-5BC0206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657D6"/>
                </a:solidFill>
                <a:latin typeface="Malgun Gothic"/>
                <a:ea typeface="Malgun Gothic"/>
                <a:cs typeface="Malgun Gothic"/>
              </a:rPr>
              <a:t>Agent 전용 Live 합성 검증 3/3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BEBD8-1474-44F7-8A04-6485292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LIVE-RAG-01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8609D-3B96-410A-8A49-BF50BFF2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SAME_TASK · UPDATE_TASK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E78CA-7392-4C4C-A5C0-0D0D3DF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신뢰도 0.90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C60A5-7BB0-4377-9984-AC41A77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435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LIVE-RAG-02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ED15D-34B8-4152-A719-64D1DCD1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AMBIGUOUS · ASK_USER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1EB165-80EB-4D19-8AF2-5DC1B9E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0.60 · 재검색어 생성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AC5092-F2AD-4046-8C6D-03D361C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435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LIVE-RAG-03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F9569-CF49-49C2-9935-FA791AB2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911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43E"/>
                </a:solidFill>
                <a:latin typeface="Malgun Gothic"/>
                <a:ea typeface="Malgun Gothic"/>
                <a:cs typeface="Malgun Gothic"/>
              </a:rPr>
              <a:t>재판단 후 ASK_USER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74677B-9C33-4238-BC74-C8A0F96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5785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187"/>
                </a:solidFill>
                <a:latin typeface="Malgun Gothic"/>
                <a:ea typeface="Malgun Gothic"/>
                <a:cs typeface="Malgun Gothic"/>
              </a:rPr>
              <a:t>0.58 · 추가 재검색 중단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3D3DF-116C-44F9-8E82-DCC526E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73C34"/>
                </a:solidFill>
                <a:latin typeface="Malgun Gothic"/>
                <a:ea typeface="Malgun Gothic"/>
                <a:cs typeface="Malgun Gothic"/>
              </a:rPr>
              <a:t>실패  |  신규 수신 요청을 WAITING으로 오해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D23FF-9A20-4675-B359-A6CE22EB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10275"/>
            <a:ext cx="647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38A62"/>
                </a:solidFill>
                <a:latin typeface="Malgun Gothic"/>
                <a:ea typeface="Malgun Gothic"/>
                <a:cs typeface="Malgun Gothic"/>
              </a:rPr>
              <a:t>개선  |  의미 계약 재시도 보강 후 새 Gmail 요청의 자동 CREATE_TASK 재검증</a:t>
            </a:r>
          </a:p>
        </p:txBody>
      </p:sp>
    </p:spTree>
    <p:extLst>
      <p:ext uri="{BB962C8B-B14F-4D97-AF65-F5344CB8AC3E}">
        <p14:creationId xmlns:p14="http://schemas.microsoft.com/office/powerpoint/2010/main" val="1813992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2026-09-13T14:28:13.8960000Z</dcterms:created>
  <dcterms:modified xsi:type="dcterms:W3CDTF">2026-09-13T14:28:13.8960000Z</dcterms:modified>
</coreProperties>
</file>