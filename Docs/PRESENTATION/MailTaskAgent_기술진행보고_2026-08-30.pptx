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c1c2171e854466" /><Relationship Type="http://schemas.openxmlformats.org/officeDocument/2006/relationships/extended-properties" Target="/docProps/app.xml" Id="R9161fd76b4574e3e" /><Relationship Type="http://schemas.openxmlformats.org/officeDocument/2006/relationships/officeDocument" Target="/ppt/presentation.xml" Id="Rbcb8bf9631724b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a2e492e14343dc"/>
  </p:sldMasterIdLst>
  <p:notesMasterIdLst>
    <p:notesMasterId xmlns:r="http://schemas.openxmlformats.org/officeDocument/2006/relationships" r:id="Rcbb0d5b743c54d5d"/>
  </p:notesMasterIdLst>
  <p:sldIdLst>
    <p:sldId xmlns:r="http://schemas.openxmlformats.org/officeDocument/2006/relationships" id="256" r:id="Rc0f51651de9545ce"/>
    <p:sldId xmlns:r="http://schemas.openxmlformats.org/officeDocument/2006/relationships" id="257" r:id="R3e194be03e2a4200"/>
    <p:sldId xmlns:r="http://schemas.openxmlformats.org/officeDocument/2006/relationships" id="258" r:id="Ra6c3138707ff4fee"/>
    <p:sldId xmlns:r="http://schemas.openxmlformats.org/officeDocument/2006/relationships" id="259" r:id="R4f1c55ea5a63478a"/>
    <p:sldId xmlns:r="http://schemas.openxmlformats.org/officeDocument/2006/relationships" id="260" r:id="R775fd6629573499c"/>
    <p:sldId xmlns:r="http://schemas.openxmlformats.org/officeDocument/2006/relationships" id="261" r:id="R793541e3ac82449f"/>
    <p:sldId xmlns:r="http://schemas.openxmlformats.org/officeDocument/2006/relationships" id="262" r:id="R5fc39c0d7ba54a1a"/>
    <p:sldId xmlns:r="http://schemas.openxmlformats.org/officeDocument/2006/relationships" id="263" r:id="Re77e27086ba941a8"/>
    <p:sldId xmlns:r="http://schemas.openxmlformats.org/officeDocument/2006/relationships" id="264" r:id="Rc15c3dbf698d4fb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5d539e9dd448ae" /><Relationship Type="http://schemas.openxmlformats.org/officeDocument/2006/relationships/slideMaster" Target="/ppt/slideMasters/slideMaster1.xml" Id="R58a2e492e14343dc" /><Relationship Type="http://schemas.openxmlformats.org/officeDocument/2006/relationships/notesMaster" Target="/ppt/notesMasters/notesMaster1.xml" Id="Rcbb0d5b743c54d5d" /><Relationship Type="http://schemas.openxmlformats.org/officeDocument/2006/relationships/presProps" Target="/ppt/presProps.xml" Id="R3fc86dd25ec84801" /><Relationship Type="http://schemas.openxmlformats.org/officeDocument/2006/relationships/tableStyles" Target="/ppt/tableStyles.xml" Id="Rebd9bdfddcc4470f" /><Relationship Type="http://schemas.openxmlformats.org/officeDocument/2006/relationships/slide" Target="/ppt/slides/slide1.xml" Id="Rc0f51651de9545ce" /><Relationship Type="http://schemas.openxmlformats.org/officeDocument/2006/relationships/slide" Target="/ppt/slides/slide2.xml" Id="R3e194be03e2a4200" /><Relationship Type="http://schemas.openxmlformats.org/officeDocument/2006/relationships/slide" Target="/ppt/slides/slide3.xml" Id="Ra6c3138707ff4fee" /><Relationship Type="http://schemas.openxmlformats.org/officeDocument/2006/relationships/slide" Target="/ppt/slides/slide4.xml" Id="R4f1c55ea5a63478a" /><Relationship Type="http://schemas.openxmlformats.org/officeDocument/2006/relationships/slide" Target="/ppt/slides/slide5.xml" Id="R775fd6629573499c" /><Relationship Type="http://schemas.openxmlformats.org/officeDocument/2006/relationships/slide" Target="/ppt/slides/slide6.xml" Id="R793541e3ac82449f" /><Relationship Type="http://schemas.openxmlformats.org/officeDocument/2006/relationships/slide" Target="/ppt/slides/slide7.xml" Id="R5fc39c0d7ba54a1a" /><Relationship Type="http://schemas.openxmlformats.org/officeDocument/2006/relationships/slide" Target="/ppt/slides/slide8.xml" Id="Re77e27086ba941a8" /><Relationship Type="http://schemas.openxmlformats.org/officeDocument/2006/relationships/slide" Target="/ppt/slides/slide9.xml" Id="Rc15c3dbf698d4f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7b053beeaca4a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171ce37bef44ed6" /><Relationship Type="http://schemas.openxmlformats.org/officeDocument/2006/relationships/notesMaster" Target="/ppt/notesMasters/notesMaster1.xml" Id="R9b4cb224e46c409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554e3fc67ed4e93" /><Relationship Type="http://schemas.openxmlformats.org/officeDocument/2006/relationships/notesMaster" Target="/ppt/notesMasters/notesMaster1.xml" Id="R4a225b835bfc428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d2835b89164d1d" /><Relationship Type="http://schemas.openxmlformats.org/officeDocument/2006/relationships/notesMaster" Target="/ppt/notesMasters/notesMaster1.xml" Id="Rf81cfcac4aae4ba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eb523de61574bbf" /><Relationship Type="http://schemas.openxmlformats.org/officeDocument/2006/relationships/notesMaster" Target="/ppt/notesMasters/notesMaster1.xml" Id="R9cf5436ff3a549f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235b8062ec44c24" /><Relationship Type="http://schemas.openxmlformats.org/officeDocument/2006/relationships/notesMaster" Target="/ppt/notesMasters/notesMaster1.xml" Id="Rec14a760e35c41b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16565aadac94857" /><Relationship Type="http://schemas.openxmlformats.org/officeDocument/2006/relationships/notesMaster" Target="/ppt/notesMasters/notesMaster1.xml" Id="R70445d5515d74f6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575c34ad9094457" /><Relationship Type="http://schemas.openxmlformats.org/officeDocument/2006/relationships/notesMaster" Target="/ppt/notesMasters/notesMaster1.xml" Id="R2c355e147c2544f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606742bf1584634" /><Relationship Type="http://schemas.openxmlformats.org/officeDocument/2006/relationships/notesMaster" Target="/ppt/notesMasters/notesMaster1.xml" Id="R75cca3b1f95a439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be43ee339c34808" /><Relationship Type="http://schemas.openxmlformats.org/officeDocument/2006/relationships/notesMaster" Target="/ppt/notesMasters/notesMaster1.xml" Id="Rf59ca59a446a43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이번 자료는 최종 발표용이 아니라 멘토에게 현재 기술 완성도와 수요일 시연 범위를 빠르게 공유하기 위한 진행 보고다.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Docs/IMPLEMENTATION/01_전체_구현범위_및_원칙.md</a:t>
            </a:r>
          </a:p>
          <a:p xmlns:a="http://schemas.openxmlformats.org/drawingml/2006/main">
            <a:r>
              <a:t>- Git commit f0e1a46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Master Core는 제출 가능한 상태다. 이후 개발은 Core를 깨지 않고 Gmail 기반 실전 사용성을 확장한 것이다. 사내 배포 완료라고 표현하지 않고 외부 환경 Gate를 분리한다.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Docs/AI_MASTER/05_POC모듈구현.md</a:t>
            </a:r>
          </a:p>
          <a:p xmlns:a="http://schemas.openxmlformats.org/drawingml/2006/main">
            <a:r>
              <a:t>- Docs/AI_MASTER/07_E2E서비스개발.md</a:t>
            </a:r>
          </a:p>
          <a:p xmlns:a="http://schemas.openxmlformats.org/drawingml/2006/main">
            <a:r>
              <a:t>- Docs/IMPLEMENTATION/07_4단계_Post_MVP_사내확장.md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Node는 마이크로서비스가 아니라 한 메일 처리 안에서 역할이 분리된 논리 단계다. LLM은 DB 권한이 없고, Python이 최종 판단과 변경을 수행한다.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Docs/AI_MASTER/04_상세설계및개발환경.md</a:t>
            </a:r>
          </a:p>
          <a:p xmlns:a="http://schemas.openxmlformats.org/drawingml/2006/main">
            <a:r>
              <a:t>- src/mailtaskagent/workflow.py</a:t>
            </a:r>
          </a:p>
          <a:p xmlns:a="http://schemas.openxmlformats.org/drawingml/2006/main">
            <a:r>
              <a:t>- src/mailtaskagent/decision.py</a:t>
            </a:r>
          </a:p>
          <a:p xmlns:a="http://schemas.openxmlformats.org/drawingml/2006/main">
            <a:r>
              <a:t>- src/mailtaskagent/storage.py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Action과 Status는 고정된 프로젝트 계약이다. 특히 완료 제안이 곧바로 완료 상태가 되는 것이 아니라 사용자 확인을 거치게 해 오작동 비용을 낮춘다.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AGENTS.md</a:t>
            </a:r>
          </a:p>
          <a:p xmlns:a="http://schemas.openxmlformats.org/drawingml/2006/main">
            <a:r>
              <a:t>- Docs/IMPLEMENTATION/02_Node_Flow.md</a:t>
            </a:r>
          </a:p>
          <a:p xmlns:a="http://schemas.openxmlformats.org/drawingml/2006/main">
            <a:r>
              <a:t>- src/mailtaskagent/models.py</a:t>
            </a:r>
          </a:p>
          <a:p xmlns:a="http://schemas.openxmlformats.org/drawingml/2006/main">
            <a:r>
              <a:t>- src/mailtaskagent/decision.py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초기 동기화 Label만 보는 방식에서는 보낸 회신을 놓칠 수 있었다. 현재는 Task와 연결된 Gmail thread_id를 추적해 Sent와 후속 Inbox를 모두 반영한다.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src/mailtaskagent/gmail_source.py</a:t>
            </a:r>
          </a:p>
          <a:p xmlns:a="http://schemas.openxmlformats.org/drawingml/2006/main">
            <a:r>
              <a:t>- src/mailtaskagent/workflow.py</a:t>
            </a:r>
          </a:p>
          <a:p xmlns:a="http://schemas.openxmlformats.org/drawingml/2006/main">
            <a:r>
              <a:t>- Docs/IMPLEMENTATION/07_4단계_Post_MVP_사내확장.md</a:t>
            </a:r>
          </a:p>
          <a:p xmlns:a="http://schemas.openxmlformats.org/drawingml/2006/main">
            <a:r>
              <a:t>- Live task: 신규 입사자 계정 권한 점검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데모 UI와 실제 운영 UI를 분리했다. 운영 모드 첫 화면은 현재 업무와 검토 요청을 먼저 보여주고, Agent 상세 로그는 운영 상태로 이동했다. 캡처의 메일 주소가 보이지 않는 상단 영역만 사용했다.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src/mailtaskagent/ui.py</a:t>
            </a:r>
          </a:p>
          <a:p xmlns:a="http://schemas.openxmlformats.org/drawingml/2006/main">
            <a:r>
              <a:t>- tmp/presentation-2026-08-30/home-operational.png</a:t>
            </a:r>
          </a:p>
          <a:p xmlns:a="http://schemas.openxmlformats.org/drawingml/2006/main">
            <a:r>
              <a:t>- Docs/IMPLEMENTATION/09_Post_MVP_운영가이드.md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시험 수치는 서로 다른 범위를 구분해 설명한다. 15/15와 28/28은 회사 LLM 기반 정의 시나리오, 118은 전체 자동 회귀, 20/20은 실제 Gmail 수용시험이다.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Docs/IMPLEMENTATION/06_테스트_전략_및_케이스.md</a:t>
            </a:r>
          </a:p>
          <a:p xmlns:a="http://schemas.openxmlformats.org/drawingml/2006/main">
            <a:r>
              <a:t>- Docs/IMPLEMENTATION/09_Post_MVP_운영가이드.md</a:t>
            </a:r>
          </a:p>
          <a:p xmlns:a="http://schemas.openxmlformats.org/drawingml/2006/main">
            <a:r>
              <a:t>- pytest -q -p no:cacheprovider: 118 passed in 29.10s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준비 중 로컬 검증 DB의 무결성 오류를 발견했고, 손상 원본을 보존한 뒤 PRAGMA integrity_check가 ok인 최신 백업으로 복원했다. 이는 운영 가이드의 복구 절차가 실제로 작동함을 확인한 사례다.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Docs/IMPLEMENTATION/09_Post_MVP_운영가이드.md</a:t>
            </a:r>
          </a:p>
          <a:p xmlns:a="http://schemas.openxmlformats.org/drawingml/2006/main">
            <a:r>
              <a:t>- src/mailtaskagent/storage.py</a:t>
            </a:r>
          </a:p>
          <a:p xmlns:a="http://schemas.openxmlformats.org/drawingml/2006/main">
            <a:r>
              <a:t>- data/backups/mailtaskagent-20260828T110745Z.db</a:t>
            </a:r>
          </a:p>
          <a:p xmlns:a="http://schemas.openxmlformats.org/drawingml/2006/main">
            <a:r>
              <a:t>- Recovery verification on 2026-08-30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수요일 시연은 로컬 단일 사용자 기준의 실제 Gmail 운영 흐름을 보여준다. AI Master 문서는 MVP 기준선을 유지하고, 실전 기능이 충분히 마감된 경우에만 Post-MVP 구현 사실을 선택적으로 반영한다.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Docs/AI_MASTER/07_E2E서비스개발.md</a:t>
            </a:r>
          </a:p>
          <a:p xmlns:a="http://schemas.openxmlformats.org/drawingml/2006/main">
            <a:r>
              <a:t>- Docs/IMPLEMENTATION/07_4단계_Post_MVP_사내확장.md</a:t>
            </a:r>
          </a:p>
          <a:p xmlns:a="http://schemas.openxmlformats.org/drawingml/2006/main">
            <a:r>
              <a:t>- Docs/IMPLEMENTATION/09_Post_MVP_운영가이드.md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c900cbcc144a4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f91f02e3b184262" /><Relationship Type="http://schemas.openxmlformats.org/officeDocument/2006/relationships/slideLayout" Target="/ppt/slideLayouts/slideLayout1.xml" Id="Rc5f844a397df435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f844a397df435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4ba82b9cd3485c" /><Relationship Type="http://schemas.openxmlformats.org/officeDocument/2006/relationships/notesSlide" Target="/ppt/notesSlides/notesSlide1.xml" Id="R3623439a645a424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55ec4ffe764ed6" /><Relationship Type="http://schemas.openxmlformats.org/officeDocument/2006/relationships/notesSlide" Target="/ppt/notesSlides/notesSlide2.xml" Id="R51fc6d369d5b422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0a43afdc7b484e" /><Relationship Type="http://schemas.openxmlformats.org/officeDocument/2006/relationships/notesSlide" Target="/ppt/notesSlides/notesSlide3.xml" Id="Rbd81878ab51446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ff3389921c4832" /><Relationship Type="http://schemas.openxmlformats.org/officeDocument/2006/relationships/notesSlide" Target="/ppt/notesSlides/notesSlide4.xml" Id="R4f34be270ecc4e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9c4a81ddcc4ae4" /><Relationship Type="http://schemas.openxmlformats.org/officeDocument/2006/relationships/notesSlide" Target="/ppt/notesSlides/notesSlide5.xml" Id="R232de27392074ea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347fd23bb94801" /><Relationship Type="http://schemas.openxmlformats.org/officeDocument/2006/relationships/image" Target="/ppt/media/image.jpeg" Id="R7f5bed1fcba64a70" /><Relationship Type="http://schemas.openxmlformats.org/officeDocument/2006/relationships/notesSlide" Target="/ppt/notesSlides/notesSlide6.xml" Id="R5a90ca0eaaf6473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f46af441b0409f" /><Relationship Type="http://schemas.openxmlformats.org/officeDocument/2006/relationships/notesSlide" Target="/ppt/notesSlides/notesSlide7.xml" Id="R532485ca17e0440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85942a33734eaa" /><Relationship Type="http://schemas.openxmlformats.org/officeDocument/2006/relationships/notesSlide" Target="/ppt/notesSlides/notesSlide8.xml" Id="R31d8f7c1f7db4c7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eada3fdb6b4dd8" /><Relationship Type="http://schemas.openxmlformats.org/officeDocument/2006/relationships/notesSlide" Target="/ppt/notesSlides/notesSlide9.xml" Id="Ra52f1212e1444cb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1B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4FF0CE-3431-4720-B0C6-CC022C22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2781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F5BD8"/>
          </a:solidFill>
          <a:ln xmlns:a="http://schemas.openxmlformats.org/drawingml/2006/main" w="9525">
            <a:solidFill>
              <a:srgbClr val="3F5BD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DF37C0-F081-4231-AE4A-DE0CE871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590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AI MASTER · TECHNICAL PROGRESS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335EE4-2331-42B0-AD78-890BCB35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723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MailTaskAgent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E3E24D-013A-4AD5-8907-BC8FEFE91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19350"/>
            <a:ext cx="7524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E8EBF6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E8EBF6"/>
                </a:solidFill>
                <a:latin typeface="Malgun Gothic"/>
                <a:ea typeface="Malgun Gothic"/>
                <a:cs typeface="Malgun Gothic"/>
              </a:rPr>
              <a:t>메일을 읽고, 다음 업무 Action을 결정하고,</a:t>
            </a:r>
          </a:p>
          <a:p xmlns:a="http://schemas.openxmlformats.org/drawingml/2006/main">
            <a:pPr algn="l">
              <a:defRPr sz="2325" b="1">
                <a:solidFill>
                  <a:srgbClr val="E8EBF6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E8EBF6"/>
                </a:solidFill>
                <a:latin typeface="Malgun Gothic"/>
                <a:ea typeface="Malgun Gothic"/>
                <a:cs typeface="Malgun Gothic"/>
              </a:rPr>
              <a:t>Task Lifecycle을 이어가는 Agentic AI</a:t>
            </a:r>
          </a:p>
        </p:txBody>
      </p:sp>
      <p:cxnSp>
        <p:nvCxnSpPr>
          <p:cNvPr id="20" name=""/>
          <p:cNvCxnSpPr/>
          <p:nvPr/>
        </p:nvCxnSpPr>
        <p:spPr>
          <a:xfrm xmlns:a="http://schemas.openxmlformats.org/drawingml/2006/main">
            <a:off x="1066800" y="4552950"/>
            <a:ext cx="8286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577E6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5CC165-90CE-49A8-BCBD-F10843F44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910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5BD8"/>
          </a:solidFill>
          <a:ln xmlns:a="http://schemas.openxmlformats.org/drawingml/2006/main" w="47625">
            <a:solidFill>
              <a:srgbClr val="141B3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464C34-AE5D-42D8-9232-AC6A2A6F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053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FC6D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BFC6DB"/>
                </a:solidFill>
                <a:latin typeface="Malgun Gothic"/>
                <a:ea typeface="Malgun Gothic"/>
                <a:cs typeface="Malgun Gothic"/>
              </a:rPr>
              <a:t>MAIL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089C32-36CA-4581-97DA-47512FB8E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3910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57D9"/>
          </a:solidFill>
          <a:ln xmlns:a="http://schemas.openxmlformats.org/drawingml/2006/main" w="47625">
            <a:solidFill>
              <a:srgbClr val="141B3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B53957-40E7-4545-A354-71DA9F91D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053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FC6D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BFC6DB"/>
                </a:solidFill>
                <a:latin typeface="Malgun Gothic"/>
                <a:ea typeface="Malgun Gothic"/>
                <a:cs typeface="Malgun Gothic"/>
              </a:rPr>
              <a:t>DECIDE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D8F125-FBE6-46B9-8B7D-87589A360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910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657"/>
          </a:solidFill>
          <a:ln xmlns:a="http://schemas.openxmlformats.org/drawingml/2006/main" w="47625">
            <a:solidFill>
              <a:srgbClr val="141B3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C07A41-863E-44BC-AF4E-481004794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053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FC6D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BFC6DB"/>
                </a:solidFill>
                <a:latin typeface="Malgun Gothic"/>
                <a:ea typeface="Malgun Gothic"/>
                <a:cs typeface="Malgun Gothic"/>
              </a:rPr>
              <a:t>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E11098-CBD2-4E52-BA62-532059F8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3910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B7B"/>
          </a:solidFill>
          <a:ln xmlns:a="http://schemas.openxmlformats.org/drawingml/2006/main" w="47625">
            <a:solidFill>
              <a:srgbClr val="141B3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017280-095A-4FEF-8E59-A3C2D2348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9053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FC6D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BFC6DB"/>
                </a:solidFill>
                <a:latin typeface="Malgun Gothic"/>
                <a:ea typeface="Malgun Gothic"/>
                <a:cs typeface="Malgun Gothic"/>
              </a:rPr>
              <a:t>REMEMBER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6B2A65-3D57-4FF7-B9DD-0E2D9364A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103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EB5C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AEB5CB"/>
                </a:solidFill>
                <a:latin typeface="Malgun Gothic"/>
                <a:ea typeface="Malgun Gothic"/>
                <a:cs typeface="Malgun Gothic"/>
              </a:rPr>
              <a:t>2026.08.30 · 수요일 시연 준비본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52DFFA-9892-4EB0-B967-9A87C858A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210300"/>
            <a:ext cx="3867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ED9C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7ED9CA"/>
                </a:solidFill>
                <a:latin typeface="Malgun Gothic"/>
                <a:ea typeface="Malgun Gothic"/>
                <a:cs typeface="Malgun Gothic"/>
              </a:rPr>
              <a:t>LOCAL SINGLE-USER POST-MVP</a:t>
            </a:r>
          </a:p>
        </p:txBody>
      </p:sp>
    </p:spTree>
    <p:extLst>
      <p:ext uri="{BB962C8B-B14F-4D97-AF65-F5344CB8AC3E}">
        <p14:creationId xmlns:p14="http://schemas.microsoft.com/office/powerpoint/2010/main" val="11247050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B17C22-DB9D-4C18-95BF-2118CDF0F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F5BD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F5BD8"/>
                </a:solidFill>
                <a:latin typeface="Malgun Gothic"/>
                <a:ea typeface="Malgun Gothic"/>
                <a:cs typeface="Malgun Gothic"/>
              </a:rPr>
              <a:t>CURRENT STATE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BD5DA4-A0A3-4252-AB76-0E2CAD56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096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rPr>
              <a:t>핵심 Agent는 완성됐고, 실메일 운영 범위까지 확장됐습니다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476250" y="1285875"/>
            <a:ext cx="11239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4CB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DB04FD-7BFF-45C6-BD58-3064C038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3D9CEC-A376-4C12-9AE5-06576F301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33550"/>
            <a:ext cx="3390900" cy="31242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6FA4EF-311C-4E7B-96BC-80038A1A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33550"/>
            <a:ext cx="3390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BD8"/>
          </a:solidFill>
          <a:ln xmlns:a="http://schemas.openxmlformats.org/drawingml/2006/main" w="9525">
            <a:solidFill>
              <a:srgbClr val="3F5B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626FD5-74D1-45AF-8AFD-B32BB684D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F5BD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F5BD8"/>
                </a:solidFill>
                <a:latin typeface="Malgun Gothic"/>
                <a:ea typeface="Malgun Gothic"/>
                <a:cs typeface="Malgun Gothic"/>
              </a:rPr>
              <a:t>AI MASTER CORE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4F2EE4-F155-47B2-9901-79892C1F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2800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rPr>
              <a:t>M-01~M-05 E2E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1E7742-6570-419E-8327-F0E5AA662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28003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rPr>
              <a:t>LLM 분석 → Task 후보 검색 → Action 결정 → Validation → DB·History → 사용자 확인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742950" y="4229100"/>
            <a:ext cx="28003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4CB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F71765-3EC0-4F10-868C-6B131A46F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2800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F5BD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3F5BD8"/>
                </a:solidFill>
                <a:latin typeface="Malgun Gothic"/>
                <a:ea typeface="Malgun Gothic"/>
                <a:cs typeface="Malgun Gothic"/>
              </a:rPr>
              <a:t>MVP 제출 가능 상태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32610F-556D-4046-B2D1-C2B70877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33550"/>
            <a:ext cx="3390900" cy="31242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90CD3C-2AF6-49F8-9332-9081F6888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33550"/>
            <a:ext cx="3390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7B"/>
          </a:solidFill>
          <a:ln xmlns:a="http://schemas.openxmlformats.org/drawingml/2006/main" w="9525">
            <a:solidFill>
              <a:srgbClr val="0F8B7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6C62C8-30B1-4E4A-A842-1F34CCBB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98120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8B7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F8B7B"/>
                </a:solidFill>
                <a:latin typeface="Malgun Gothic"/>
                <a:ea typeface="Malgun Gothic"/>
                <a:cs typeface="Malgun Gothic"/>
              </a:rPr>
              <a:t>REAL GMAIL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196AE7-3962-4CE7-B36D-F0A05903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00300"/>
            <a:ext cx="2800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rPr>
              <a:t>양방향 Thread 추적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091E8A-49D7-4505-96F9-8E589CA5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62300"/>
            <a:ext cx="28003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rPr>
              <a:t>받은 메일뿐 아니라 보낸 회신과 후속 받은 메일까지 동일 Task Timeline으로 연결</a:t>
            </a:r>
          </a:p>
        </p:txBody>
      </p:sp>
      <p:cxnSp>
        <p:nvCxnSpPr>
          <p:cNvPr id="45" name=""/>
          <p:cNvCxnSpPr/>
          <p:nvPr/>
        </p:nvCxnSpPr>
        <p:spPr>
          <a:xfrm xmlns:a="http://schemas.openxmlformats.org/drawingml/2006/main">
            <a:off x="4533900" y="4229100"/>
            <a:ext cx="28003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4CB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ED373A-F269-490B-911E-25AF0F8D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38650"/>
            <a:ext cx="2800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8B7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F8B7B"/>
                </a:solidFill>
                <a:latin typeface="Malgun Gothic"/>
                <a:ea typeface="Malgun Gothic"/>
                <a:cs typeface="Malgun Gothic"/>
              </a:rPr>
              <a:t>20/20 실메일 수용시험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3DCA87-D953-4974-A0FA-C39FDEE9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33550"/>
            <a:ext cx="3390900" cy="31242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D4926A-0915-419C-805D-2CF30C255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33550"/>
            <a:ext cx="3390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657"/>
          </a:solidFill>
          <a:ln xmlns:a="http://schemas.openxmlformats.org/drawingml/2006/main" w="9525">
            <a:solidFill>
              <a:srgbClr val="E8665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96FC2A-F811-49EF-878F-4C35C41D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8120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8665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E86657"/>
                </a:solidFill>
                <a:latin typeface="Malgun Gothic"/>
                <a:ea typeface="Malgun Gothic"/>
                <a:cs typeface="Malgun Gothic"/>
              </a:rPr>
              <a:t>OPERATIONS UX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E41256-AE67-4197-BD8A-AB445E4B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00300"/>
            <a:ext cx="2800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rPr>
              <a:t>일상 업무 화면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D71C42-F887-45FD-A31B-567AB12DF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62300"/>
            <a:ext cx="28003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rPr>
              <a:t>우선순위·기한·회신 대기·검토 요청·완료 처리·모니터링을 사용자 동선으로 분리</a:t>
            </a:r>
          </a:p>
        </p:txBody>
      </p:sp>
      <p:cxnSp>
        <p:nvCxnSpPr>
          <p:cNvPr id="52" name=""/>
          <p:cNvCxnSpPr/>
          <p:nvPr/>
        </p:nvCxnSpPr>
        <p:spPr>
          <a:xfrm xmlns:a="http://schemas.openxmlformats.org/drawingml/2006/main">
            <a:off x="8324850" y="4229100"/>
            <a:ext cx="28003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4CB"/>
            </a:solidFill>
            <a:prstDash val="soli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FFC571-0FF7-466D-9D1A-EB44A37F5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38650"/>
            <a:ext cx="2800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8665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E86657"/>
                </a:solidFill>
                <a:latin typeface="Malgun Gothic"/>
                <a:ea typeface="Malgun Gothic"/>
                <a:cs typeface="Malgun Gothic"/>
              </a:rPr>
              <a:t>자동 정리 기본 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4C4F28-97C7-4BA4-99CF-5E42454D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95900"/>
            <a:ext cx="109728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41B36"/>
          </a:solidFill>
          <a:ln xmlns:a="http://schemas.openxmlformats.org/drawingml/2006/main" w="9525">
            <a:solidFill>
              <a:srgbClr val="141B3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17F529-F596-402A-A151-9E2D37886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9592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ED9C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7ED9CA"/>
                </a:solidFill>
                <a:latin typeface="Malgun Gothic"/>
                <a:ea typeface="Malgun Gothic"/>
                <a:cs typeface="Malgun Gothic"/>
              </a:rPr>
              <a:t>완성 경계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FA08B0-5667-4EA4-99D7-A7EE070F7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457825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로컬 단일 사용자 운영은 완료 · VM/TLS/SSO/사내 DB/Slack 승인은 외부 환경 Gate</a:t>
            </a:r>
          </a:p>
        </p:txBody>
      </p:sp>
    </p:spTree>
    <p:extLst>
      <p:ext uri="{BB962C8B-B14F-4D97-AF65-F5344CB8AC3E}">
        <p14:creationId xmlns:p14="http://schemas.microsoft.com/office/powerpoint/2010/main" val="17866154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BE0C5A7-2877-42DC-858A-1E2ECDC5A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F5BD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F5BD8"/>
                </a:solidFill>
                <a:latin typeface="Malgun Gothic"/>
                <a:ea typeface="Malgun Gothic"/>
                <a:cs typeface="Malgun Gothic"/>
              </a:rPr>
              <a:t>AGENT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57114D-DDE0-400A-9E6A-409D70448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096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rPr>
              <a:t>메일 한 건은 5개 책임 Node를 통과해 안전한 Action이 됩니다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476250" y="1285875"/>
            <a:ext cx="11239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4CB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0B2D20-2162-451F-B7AB-BCC964A81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cxnSp>
        <p:nvCxnSpPr>
          <p:cNvPr id="42" name=""/>
          <p:cNvCxnSpPr/>
          <p:nvPr/>
        </p:nvCxnSpPr>
        <p:spPr>
          <a:xfrm xmlns:a="http://schemas.openxmlformats.org/drawingml/2006/main">
            <a:off x="2286000" y="296227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C86B3"/>
            </a:solidFill>
            <a:prstDash val="solid"/>
          </a:ln>
        </p:spPr>
      </p:cxnSp>
      <p:cxnSp>
        <p:nvCxnSpPr>
          <p:cNvPr id="43" name=""/>
          <p:cNvCxnSpPr/>
          <p:nvPr/>
        </p:nvCxnSpPr>
        <p:spPr>
          <a:xfrm xmlns:a="http://schemas.openxmlformats.org/drawingml/2006/main">
            <a:off x="4514850" y="296227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C86B3"/>
            </a:solidFill>
            <a:prstDash val="solid"/>
          </a:ln>
        </p:spPr>
      </p:cxnSp>
      <p:cxnSp>
        <p:nvCxnSpPr>
          <p:cNvPr id="44" name=""/>
          <p:cNvCxnSpPr/>
          <p:nvPr/>
        </p:nvCxnSpPr>
        <p:spPr>
          <a:xfrm xmlns:a="http://schemas.openxmlformats.org/drawingml/2006/main">
            <a:off x="6743700" y="296227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C86B3"/>
            </a:solidFill>
            <a:prstDash val="solid"/>
          </a:ln>
        </p:spPr>
      </p:cxnSp>
      <p:cxnSp>
        <p:nvCxnSpPr>
          <p:cNvPr id="45" name=""/>
          <p:cNvCxnSpPr/>
          <p:nvPr/>
        </p:nvCxnSpPr>
        <p:spPr>
          <a:xfrm xmlns:a="http://schemas.openxmlformats.org/drawingml/2006/main">
            <a:off x="8972550" y="296227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C86B3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285D70-F6B2-415B-A72F-6B812851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81200"/>
            <a:ext cx="1809750" cy="198120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9EDFF"/>
          </a:solidFill>
          <a:ln xmlns:a="http://schemas.openxmlformats.org/drawingml/2006/main" w="9525">
            <a:solidFill>
              <a:srgbClr val="D8D4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1AADFE-3C70-44BC-89F7-E3CF2D6F4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717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F5BD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F5BD8"/>
                </a:solidFill>
                <a:latin typeface="Malgun Gothic"/>
                <a:ea typeface="Malgun Gothic"/>
                <a:cs typeface="Malgun Gothic"/>
              </a:rPr>
              <a:t>M-01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2215AA-98B9-4D12-A9B6-9C8303F75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52700"/>
            <a:ext cx="146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19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rPr>
              <a:t>MAIL ANALYZER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4ECD16-04CA-4CDF-9517-9CC5333AF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040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rPr>
              <a:t>의미·Intent</a:t>
            </a:r>
          </a:p>
          <a:p xmlns:a="http://schemas.openxmlformats.org/drawingml/2006/main">
            <a:pPr algn="l">
              <a:defRPr sz="1200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rPr>
              <a:t>요청·기한·근거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5B17BC-0FF0-4636-A1D0-74EF29B75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981200"/>
            <a:ext cx="1809750" cy="198120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3F3EE"/>
          </a:solidFill>
          <a:ln xmlns:a="http://schemas.openxmlformats.org/drawingml/2006/main" w="9525">
            <a:solidFill>
              <a:srgbClr val="D8D4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BEFF42-5D13-4F77-8788-18E6CCC9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1717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8B7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F8B7B"/>
                </a:solidFill>
                <a:latin typeface="Malgun Gothic"/>
                <a:ea typeface="Malgun Gothic"/>
                <a:cs typeface="Malgun Gothic"/>
              </a:rPr>
              <a:t>M-02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E7C1CA-916C-46BB-ABC6-8230B30F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552700"/>
            <a:ext cx="146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57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rPr>
              <a:t>TASK MATCHER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A7B2E6-F51B-4D22-8C2B-CF35B17A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20040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rPr>
              <a:t>Thread Metadata</a:t>
            </a:r>
          </a:p>
          <a:p xmlns:a="http://schemas.openxmlformats.org/drawingml/2006/main">
            <a:pPr algn="l">
              <a:defRPr sz="1200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rPr>
              <a:t>제목·요청자 Token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0F87DE-E3D1-4494-9F5A-96371075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981200"/>
            <a:ext cx="1809750" cy="198120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41B36"/>
          </a:solidFill>
          <a:ln xmlns:a="http://schemas.openxmlformats.org/drawingml/2006/main" w="9525">
            <a:solidFill>
              <a:srgbClr val="141B3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2A6A9B-54BA-428D-A525-38B678165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1717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ED9C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7ED9CA"/>
                </a:solidFill>
                <a:latin typeface="Malgun Gothic"/>
                <a:ea typeface="Malgun Gothic"/>
                <a:cs typeface="Malgun Gothic"/>
              </a:rPr>
              <a:t>M-03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3AEAB9-3F38-4FBE-97E7-C549CC76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552700"/>
            <a:ext cx="146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ACTION DECISION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496DAA-F119-46CA-A2DB-C0AFF4298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20040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5D9E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D5D9E9"/>
                </a:solidFill>
                <a:latin typeface="Malgun Gothic"/>
                <a:ea typeface="Malgun Gothic"/>
                <a:cs typeface="Malgun Gothic"/>
              </a:rPr>
              <a:t>현재 상태를 보고</a:t>
            </a:r>
          </a:p>
          <a:p xmlns:a="http://schemas.openxmlformats.org/drawingml/2006/main">
            <a:pPr algn="l">
              <a:defRPr sz="1200" b="0">
                <a:solidFill>
                  <a:srgbClr val="D5D9E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D5D9E9"/>
                </a:solidFill>
                <a:latin typeface="Malgun Gothic"/>
                <a:ea typeface="Malgun Gothic"/>
                <a:cs typeface="Malgun Gothic"/>
              </a:rPr>
              <a:t>7 Action 중 선택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FE6D9D-76D2-4EF4-80E4-7E721A4C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981200"/>
            <a:ext cx="1809750" cy="198120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8EED7"/>
          </a:solidFill>
          <a:ln xmlns:a="http://schemas.openxmlformats.org/drawingml/2006/main" w="9525">
            <a:solidFill>
              <a:srgbClr val="D8D4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B81F99-3166-4CF2-93B9-D0CEFA8D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717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59B2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59B2B"/>
                </a:solidFill>
                <a:latin typeface="Malgun Gothic"/>
                <a:ea typeface="Malgun Gothic"/>
                <a:cs typeface="Malgun Gothic"/>
              </a:rPr>
              <a:t>M-04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D83F63-8C88-47B7-B53E-F18B68AAF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52700"/>
            <a:ext cx="146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rPr>
              <a:t>STATE + HISTORY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EEFD58-03B1-4BB3-8E5B-CF6F977BF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0040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59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rPr>
              <a:t>Transaction 반영</a:t>
            </a:r>
          </a:p>
          <a:p xmlns:a="http://schemas.openxmlformats.org/drawingml/2006/main">
            <a:pPr algn="l">
              <a:defRPr sz="1200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rPr>
              <a:t>Before / After Audit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A013C6-6AAC-4636-88BE-CB5FFDC99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981200"/>
            <a:ext cx="1809750" cy="198120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CE9E5"/>
          </a:solidFill>
          <a:ln xmlns:a="http://schemas.openxmlformats.org/drawingml/2006/main" w="9525">
            <a:solidFill>
              <a:srgbClr val="D8D4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B20AFC-38F3-4A6B-855C-CA20E893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1717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8665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E86657"/>
                </a:solidFill>
                <a:latin typeface="Malgun Gothic"/>
                <a:ea typeface="Malgun Gothic"/>
                <a:cs typeface="Malgun Gothic"/>
              </a:rPr>
              <a:t>M-05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367AA7-8518-487C-8739-F2D15FBE7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552700"/>
            <a:ext cx="146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rPr>
              <a:t>REVIEW + UI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CC7463-971B-418E-978D-0EB3A6CFB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20040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rPr>
              <a:t>ASK_USER 확정</a:t>
            </a:r>
          </a:p>
          <a:p xmlns:a="http://schemas.openxmlformats.org/drawingml/2006/main">
            <a:pPr algn="l">
              <a:defRPr sz="1200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rPr>
              <a:t>업무·로그·설정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2C6C82-F3AD-465D-9BDC-43AD52E7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101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F5BD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F5BD8"/>
                </a:solidFill>
                <a:latin typeface="Malgun Gothic"/>
                <a:ea typeface="Malgun Gothic"/>
                <a:cs typeface="Malgun Gothic"/>
              </a:rPr>
              <a:t>LLM</a:t>
            </a:r>
          </a:p>
        </p:txBody>
      </p:sp>
      <p:cxnSp>
        <p:nvCxnSpPr>
          <p:cNvPr id="67" name=""/>
          <p:cNvCxnSpPr/>
          <p:nvPr/>
        </p:nvCxnSpPr>
        <p:spPr>
          <a:xfrm xmlns:a="http://schemas.openxmlformats.org/drawingml/2006/main">
            <a:off x="1638300" y="4724400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F5BD8"/>
            </a:solidFill>
            <a:prstDash val="soli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839391-F2F8-4CBC-9243-7EC2870F0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5529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A2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1A2B"/>
                </a:solidFill>
                <a:latin typeface="Malgun Gothic"/>
                <a:ea typeface="Malgun Gothic"/>
                <a:cs typeface="Malgun Gothic"/>
              </a:rPr>
              <a:t>메일 의미와 Intent만 구조화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3F46C86-6960-41A5-84D8-01776742C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054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8B7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F8B7B"/>
                </a:solidFill>
                <a:latin typeface="Malgun Gothic"/>
                <a:ea typeface="Malgun Gothic"/>
                <a:cs typeface="Malgun Gothic"/>
              </a:rPr>
              <a:t>PYTHON</a:t>
            </a:r>
          </a:p>
        </p:txBody>
      </p:sp>
      <p:cxnSp>
        <p:nvCxnSpPr>
          <p:cNvPr id="70" name=""/>
          <p:cNvCxnSpPr/>
          <p:nvPr/>
        </p:nvCxnSpPr>
        <p:spPr>
          <a:xfrm xmlns:a="http://schemas.openxmlformats.org/drawingml/2006/main">
            <a:off x="1638300" y="5219700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F8B7B"/>
            </a:solidFill>
            <a:prstDash val="soli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8486B34-A40C-46A0-B2EB-1A5AFAD7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0482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rPr>
              <a:t>후보 검색 · 최종 Action · Validation · DB 반영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A4A84B8-AFF7-4DAE-92C2-78DA9E44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00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8665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E86657"/>
                </a:solidFill>
                <a:latin typeface="Malgun Gothic"/>
                <a:ea typeface="Malgun Gothic"/>
                <a:cs typeface="Malgun Gothic"/>
              </a:rPr>
              <a:t>USER</a:t>
            </a:r>
          </a:p>
        </p:txBody>
      </p:sp>
      <p:cxnSp>
        <p:nvCxnSpPr>
          <p:cNvPr id="73" name=""/>
          <p:cNvCxnSpPr/>
          <p:nvPr/>
        </p:nvCxnSpPr>
        <p:spPr>
          <a:xfrm xmlns:a="http://schemas.openxmlformats.org/drawingml/2006/main">
            <a:off x="1638300" y="5715000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E86657"/>
            </a:solidFill>
            <a:prstDash val="soli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AF17E8A-096C-47DA-910A-546524C75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5435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A2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1A2B"/>
                </a:solidFill>
                <a:latin typeface="Malgun Gothic"/>
                <a:ea typeface="Malgun Gothic"/>
                <a:cs typeface="Malgun Gothic"/>
              </a:rPr>
              <a:t>중요하거나 애매한 제안만 최종 확정</a:t>
            </a:r>
          </a:p>
        </p:txBody>
      </p:sp>
    </p:spTree>
    <p:extLst>
      <p:ext uri="{BB962C8B-B14F-4D97-AF65-F5344CB8AC3E}">
        <p14:creationId xmlns:p14="http://schemas.microsoft.com/office/powerpoint/2010/main" val="11036932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58F541A-FFED-4F51-9E0D-F2DEB681C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F5BD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F5BD8"/>
                </a:solidFill>
                <a:latin typeface="Malgun Gothic"/>
                <a:ea typeface="Malgun Gothic"/>
                <a:cs typeface="Malgun Gothic"/>
              </a:rPr>
              <a:t>DECISION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7A0216-013E-4D04-AE23-FC95EA499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096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rPr>
              <a:t>7개 Action은 ‘자동 실행’과 ‘사용자 확인’을 명확히 나눕니다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476250" y="1285875"/>
            <a:ext cx="11239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4CB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DB268C-77ED-404C-B7EC-D0326FBC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E10721-7C65-44EA-9C5C-3BA6A1D31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81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F5BD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F5BD8"/>
                </a:solidFill>
                <a:latin typeface="Malgun Gothic"/>
                <a:ea typeface="Malgun Gothic"/>
                <a:cs typeface="Malgun Gothic"/>
              </a:rPr>
              <a:t>AGENT 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C84EE1-0CED-4567-817E-B9BEA1CFC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43100"/>
            <a:ext cx="25146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9EDFF"/>
          </a:solidFill>
          <a:ln xmlns:a="http://schemas.openxmlformats.org/drawingml/2006/main" w="9525">
            <a:solidFill>
              <a:srgbClr val="D8D4C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D0DCC9-6D0B-4EEF-AF2A-C88953567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F5BD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3F5BD8"/>
                </a:solidFill>
                <a:latin typeface="Malgun Gothic"/>
                <a:ea typeface="Malgun Gothic"/>
                <a:cs typeface="Malgun Gothic"/>
              </a:rPr>
              <a:t>CREATE_TASK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F6E79D-8932-47E6-A0E3-BA667E128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943100"/>
            <a:ext cx="25146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3F3EE"/>
          </a:solidFill>
          <a:ln xmlns:a="http://schemas.openxmlformats.org/drawingml/2006/main" w="9525">
            <a:solidFill>
              <a:srgbClr val="D8D4C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C6279F-348B-4A0F-A956-7C226E459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33600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8B7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F8B7B"/>
                </a:solidFill>
                <a:latin typeface="Malgun Gothic"/>
                <a:ea typeface="Malgun Gothic"/>
                <a:cs typeface="Malgun Gothic"/>
              </a:rPr>
              <a:t>UPDATE_TASK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7FB7B4-604B-488F-BCD4-3BBF7E57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43100"/>
            <a:ext cx="25146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3F3EE"/>
          </a:solidFill>
          <a:ln xmlns:a="http://schemas.openxmlformats.org/drawingml/2006/main" w="9525">
            <a:solidFill>
              <a:srgbClr val="D8D4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8F310F-B24E-4636-9D7D-4ACF811A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33600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8B7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F8B7B"/>
                </a:solidFill>
                <a:latin typeface="Malgun Gothic"/>
                <a:ea typeface="Malgun Gothic"/>
                <a:cs typeface="Malgun Gothic"/>
              </a:rPr>
              <a:t>LINK_TO_TASK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577353-BA77-48F5-9D49-B0D0D814C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943100"/>
            <a:ext cx="25146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8EED7"/>
          </a:solidFill>
          <a:ln xmlns:a="http://schemas.openxmlformats.org/drawingml/2006/main" w="9525">
            <a:solidFill>
              <a:srgbClr val="D8D4C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59108B-9649-4FDC-B7A4-2A4D1D9E7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133600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59B2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D59B2B"/>
                </a:solidFill>
                <a:latin typeface="Malgun Gothic"/>
                <a:ea typeface="Malgun Gothic"/>
                <a:cs typeface="Malgun Gothic"/>
              </a:rPr>
              <a:t>SET_WAITING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9D6D61-9CFE-424A-8825-DD15CE3B0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19400"/>
            <a:ext cx="25146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CE9E5"/>
          </a:solidFill>
          <a:ln xmlns:a="http://schemas.openxmlformats.org/drawingml/2006/main" w="9525">
            <a:solidFill>
              <a:srgbClr val="D8D4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C72408-E746-4A30-8E35-8BCC8673E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8665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E86657"/>
                </a:solidFill>
                <a:latin typeface="Malgun Gothic"/>
                <a:ea typeface="Malgun Gothic"/>
                <a:cs typeface="Malgun Gothic"/>
              </a:rPr>
              <a:t>MARK_COMPLETED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DB7B5D-0DC2-45EB-A57D-B877B68B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819400"/>
            <a:ext cx="25146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41B36"/>
          </a:solidFill>
          <a:ln xmlns:a="http://schemas.openxmlformats.org/drawingml/2006/main" w="9525">
            <a:solidFill>
              <a:srgbClr val="141B3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8F1F8C-6C9B-47EA-AD9A-C0D4E434F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09900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ASK_USER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019273-2691-487A-89E5-7769504D5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819400"/>
            <a:ext cx="25146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CE9E2"/>
          </a:solidFill>
          <a:ln xmlns:a="http://schemas.openxmlformats.org/drawingml/2006/main" w="9525">
            <a:solidFill>
              <a:srgbClr val="D8D4C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8314F0-8146-4159-BA32-C59A5B7A6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09900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8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686B78"/>
                </a:solidFill>
                <a:latin typeface="Malgun Gothic"/>
                <a:ea typeface="Malgun Gothic"/>
                <a:cs typeface="Malgun Gothic"/>
              </a:rPr>
              <a:t>IGNORE</a:t>
            </a:r>
          </a:p>
        </p:txBody>
      </p:sp>
      <p:cxnSp>
        <p:nvCxnSpPr>
          <p:cNvPr id="57" name=""/>
          <p:cNvCxnSpPr/>
          <p:nvPr/>
        </p:nvCxnSpPr>
        <p:spPr>
          <a:xfrm xmlns:a="http://schemas.openxmlformats.org/drawingml/2006/main">
            <a:off x="476250" y="3714750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4CB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94DB36-EEEF-45F4-8922-F47095074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19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F5BD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F5BD8"/>
                </a:solidFill>
                <a:latin typeface="Malgun Gothic"/>
                <a:ea typeface="Malgun Gothic"/>
                <a:cs typeface="Malgun Gothic"/>
              </a:rPr>
              <a:t>TASK STATUS</a:t>
            </a:r>
          </a:p>
        </p:txBody>
      </p:sp>
      <p:cxnSp>
        <p:nvCxnSpPr>
          <p:cNvPr id="59" name=""/>
          <p:cNvCxnSpPr/>
          <p:nvPr/>
        </p:nvCxnSpPr>
        <p:spPr>
          <a:xfrm xmlns:a="http://schemas.openxmlformats.org/drawingml/2006/main">
            <a:off x="2286000" y="49339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C91A4"/>
            </a:solidFill>
            <a:prstDash val="soli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BE673C-6841-4A07-9F3E-68D4BD45C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0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F4D6C9-CA4F-4035-B45B-BC4FF370E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rPr>
              <a:t>TODO</a:t>
            </a:r>
          </a:p>
        </p:txBody>
      </p:sp>
      <p:cxnSp>
        <p:nvCxnSpPr>
          <p:cNvPr id="62" name=""/>
          <p:cNvCxnSpPr/>
          <p:nvPr/>
        </p:nvCxnSpPr>
        <p:spPr>
          <a:xfrm xmlns:a="http://schemas.openxmlformats.org/drawingml/2006/main">
            <a:off x="4476750" y="49339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C91A4"/>
            </a:solidFill>
            <a:prstDash val="soli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3B0638-592B-4814-8C13-2C43ECBF9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572000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BE3F0F-F9DA-4DEA-9542-D059FE68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81012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rPr>
              <a:t>IN_PROGRESS</a:t>
            </a:r>
          </a:p>
        </p:txBody>
      </p:sp>
      <p:cxnSp>
        <p:nvCxnSpPr>
          <p:cNvPr id="65" name=""/>
          <p:cNvCxnSpPr/>
          <p:nvPr/>
        </p:nvCxnSpPr>
        <p:spPr>
          <a:xfrm xmlns:a="http://schemas.openxmlformats.org/drawingml/2006/main">
            <a:off x="6667500" y="49339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C91A4"/>
            </a:solidFill>
            <a:prstDash val="soli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D2C92D-80A5-4D8E-8E04-44484A98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572000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8EED7"/>
          </a:solidFill>
          <a:ln xmlns:a="http://schemas.openxmlformats.org/drawingml/2006/main" w="9525">
            <a:solidFill>
              <a:srgbClr val="D8D4C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3DFEDC-ED16-4482-80DD-CF6079638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1012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59B2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59B2B"/>
                </a:solidFill>
                <a:latin typeface="Malgun Gothic"/>
                <a:ea typeface="Malgun Gothic"/>
                <a:cs typeface="Malgun Gothic"/>
              </a:rPr>
              <a:t>WAITING_REPLY</a:t>
            </a:r>
          </a:p>
        </p:txBody>
      </p:sp>
      <p:cxnSp>
        <p:nvCxnSpPr>
          <p:cNvPr id="68" name=""/>
          <p:cNvCxnSpPr/>
          <p:nvPr/>
        </p:nvCxnSpPr>
        <p:spPr>
          <a:xfrm xmlns:a="http://schemas.openxmlformats.org/drawingml/2006/main">
            <a:off x="8858250" y="49339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C91A4"/>
            </a:solidFill>
            <a:prstDash val="soli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0D00D3-1307-4996-9A84-42793D4D0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572000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AD789A-4EA1-4611-84C4-21516990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81012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rPr>
              <a:t>COMPLETED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9981A0-1CDD-4243-8D9D-C1449C958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572000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0101ED-072A-4136-82AD-EA9426E20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1012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rPr>
              <a:t>CANCELLED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721B6F4-15DE-4A93-931A-AB63AB56C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76900"/>
            <a:ext cx="109728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41B36"/>
          </a:solidFill>
          <a:ln xmlns:a="http://schemas.openxmlformats.org/drawingml/2006/main" w="9525">
            <a:solidFill>
              <a:srgbClr val="141B3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7C83323-4D51-43D6-A5A2-3AB4AE196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55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완료·취소·중요 변경·낮은 신뢰도는 자동 반영을 멈추고 ASK_USER로 보냅니다.</a:t>
            </a:r>
          </a:p>
        </p:txBody>
      </p:sp>
    </p:spTree>
    <p:extLst>
      <p:ext uri="{BB962C8B-B14F-4D97-AF65-F5344CB8AC3E}">
        <p14:creationId xmlns:p14="http://schemas.microsoft.com/office/powerpoint/2010/main" val="18572737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9463F57-FE59-4AF7-B2C9-2B538B7B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F5BD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F5BD8"/>
                </a:solidFill>
                <a:latin typeface="Malgun Gothic"/>
                <a:ea typeface="Malgun Gothic"/>
                <a:cs typeface="Malgun Gothic"/>
              </a:rPr>
              <a:t>LIVE GMAIL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FC30DB-6DB0-4E88-BD2F-90084BF9D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096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rPr>
              <a:t>받은 메일과 보낸 회신이 하나의 업무 Timeline을 만듭니다</a:t>
            </a:r>
          </a:p>
        </p:txBody>
      </p:sp>
      <p:cxnSp>
        <p:nvCxnSpPr>
          <p:cNvPr id="41" name=""/>
          <p:cNvCxnSpPr/>
          <p:nvPr/>
        </p:nvCxnSpPr>
        <p:spPr>
          <a:xfrm xmlns:a="http://schemas.openxmlformats.org/drawingml/2006/main">
            <a:off x="476250" y="1285875"/>
            <a:ext cx="11239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4CB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96C256-038A-4D2A-8947-3EA543147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cxnSp>
        <p:nvCxnSpPr>
          <p:cNvPr id="43" name=""/>
          <p:cNvCxnSpPr/>
          <p:nvPr/>
        </p:nvCxnSpPr>
        <p:spPr>
          <a:xfrm xmlns:a="http://schemas.openxmlformats.org/drawingml/2006/main">
            <a:off x="1352550" y="1847850"/>
            <a:ext cx="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8D4CB"/>
            </a:solidFill>
            <a:prstDash val="solid"/>
          </a:ln>
        </p:spPr>
      </p:cxnSp>
      <p:cxnSp>
        <p:nvCxnSpPr>
          <p:cNvPr id="44" name=""/>
          <p:cNvCxnSpPr/>
          <p:nvPr/>
        </p:nvCxnSpPr>
        <p:spPr>
          <a:xfrm xmlns:a="http://schemas.openxmlformats.org/drawingml/2006/main">
            <a:off x="1352550" y="2019300"/>
            <a:ext cx="0" cy="26479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8D4CB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7E1C3A-BD1E-473B-9243-7B2424B7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193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5BD8"/>
          </a:solidFill>
          <a:ln xmlns:a="http://schemas.openxmlformats.org/drawingml/2006/main" w="47625">
            <a:solidFill>
              <a:srgbClr val="F7F4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D6A878-B39F-4828-A880-551ECFD7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193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F5BD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F5BD8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057704-67EB-4CD6-88CB-1DBAB4CF4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847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F5BD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F5BD8"/>
                </a:solidFill>
                <a:latin typeface="Malgun Gothic"/>
                <a:ea typeface="Malgun Gothic"/>
                <a:cs typeface="Malgun Gothic"/>
              </a:rPr>
              <a:t>받은 메일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DB0C30-F6DB-4FB1-9436-750F8FBE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1526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rPr>
              <a:t>신규 계정 권한 점검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E33AA1-4147-4A75-8724-26F7CA55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146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rPr>
              <a:t>업무 요청을 처음 감지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CC8420-FDF4-4A62-BA14-5453A761C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43100"/>
            <a:ext cx="2000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F5BD8"/>
          </a:solidFill>
          <a:ln xmlns:a="http://schemas.openxmlformats.org/drawingml/2006/main" w="9525">
            <a:solidFill>
              <a:srgbClr val="3F5B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C5EFD9-FB85-4CE3-B489-12D90130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002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CREATE_TASK</a:t>
            </a:r>
          </a:p>
        </p:txBody>
      </p:sp>
      <p:cxnSp>
        <p:nvCxnSpPr>
          <p:cNvPr id="52" name=""/>
          <p:cNvCxnSpPr/>
          <p:nvPr/>
        </p:nvCxnSpPr>
        <p:spPr>
          <a:xfrm xmlns:a="http://schemas.openxmlformats.org/drawingml/2006/main">
            <a:off x="8763000" y="208597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C91A4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E5220F-36E6-4D01-B60A-750867DE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847850"/>
            <a:ext cx="20193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1A7D48-FE46-4BC1-9303-6797A460E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0383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rPr>
              <a:t>TODO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DFFC32-65CE-4DB0-96B9-3233D358E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76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57D9"/>
          </a:solidFill>
          <a:ln xmlns:a="http://schemas.openxmlformats.org/drawingml/2006/main" w="47625">
            <a:solidFill>
              <a:srgbClr val="F7F4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2D7342-0237-4C62-A25A-439688B1B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766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257D9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7257D9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B2D49B-D19D-423D-810F-DBD7352F5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1051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257D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7257D9"/>
                </a:solidFill>
                <a:latin typeface="Malgun Gothic"/>
                <a:ea typeface="Malgun Gothic"/>
                <a:cs typeface="Malgun Gothic"/>
              </a:rPr>
              <a:t>보낸 회신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204B2C-D8CF-460A-9A2F-3435EFB9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4099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rPr>
              <a:t>Re: 신규 계정 권한 점검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48840C-EBCE-48BD-B5FF-C0A87B13B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7719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rPr>
              <a:t>내가 회신한 사실을 상태에 반영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FB66E9-2427-4DEB-A04D-B088E04E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00400"/>
            <a:ext cx="2000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257D9"/>
          </a:solidFill>
          <a:ln xmlns:a="http://schemas.openxmlformats.org/drawingml/2006/main" w="9525">
            <a:solidFill>
              <a:srgbClr val="7257D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2CAD93-BD5E-4FB6-A5B6-8F32FB79D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575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SET_WAITING</a:t>
            </a:r>
          </a:p>
        </p:txBody>
      </p:sp>
      <p:cxnSp>
        <p:nvCxnSpPr>
          <p:cNvPr id="62" name=""/>
          <p:cNvCxnSpPr/>
          <p:nvPr/>
        </p:nvCxnSpPr>
        <p:spPr>
          <a:xfrm xmlns:a="http://schemas.openxmlformats.org/drawingml/2006/main">
            <a:off x="8763000" y="334327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C91A4"/>
            </a:solidFill>
            <a:prstDash val="soli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E003A9-4D75-4593-90FF-4239D7D63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105150"/>
            <a:ext cx="20193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BAA95E-BAC4-4FA7-9EAD-53031EAC0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2956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rPr>
              <a:t>WAITING_REPLY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CFC58F-EA05-4F07-A07B-6FF9E590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33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B7B"/>
          </a:solidFill>
          <a:ln xmlns:a="http://schemas.openxmlformats.org/drawingml/2006/main" w="47625">
            <a:solidFill>
              <a:srgbClr val="F7F4E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5F6C3C-368B-42F9-BB5B-BE4CC01AB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339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8B7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F8B7B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A625BC-C61B-4698-8E21-5843D8FF4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3624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8B7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F8B7B"/>
                </a:solidFill>
                <a:latin typeface="Malgun Gothic"/>
                <a:ea typeface="Malgun Gothic"/>
                <a:cs typeface="Malgun Gothic"/>
              </a:rPr>
              <a:t>후속 받은 메일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05880F-1127-40F0-BDDB-75E1037B8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6672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rPr>
              <a:t>Re: 신규 계정 권한 점검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7D5ADF-26EB-4413-B436-7C176CB4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0292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rPr>
              <a:t>같은 Gmail Thread로 다시 진행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B97F0F-4E79-4FCD-8843-F0B12289A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57700"/>
            <a:ext cx="2000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8B7B"/>
          </a:solidFill>
          <a:ln xmlns:a="http://schemas.openxmlformats.org/drawingml/2006/main" w="9525">
            <a:solidFill>
              <a:srgbClr val="0F8B7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179123-72C3-468A-BF43-37D4CCFBE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148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UPDATE_TASK</a:t>
            </a:r>
          </a:p>
        </p:txBody>
      </p:sp>
      <p:cxnSp>
        <p:nvCxnSpPr>
          <p:cNvPr id="72" name=""/>
          <p:cNvCxnSpPr/>
          <p:nvPr/>
        </p:nvCxnSpPr>
        <p:spPr>
          <a:xfrm xmlns:a="http://schemas.openxmlformats.org/drawingml/2006/main">
            <a:off x="8763000" y="460057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C91A4"/>
            </a:solidFill>
            <a:prstDash val="solid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B8FFD16-7E92-429D-B622-45DD0D492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62450"/>
            <a:ext cx="20193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99ACA52-43A3-4A7E-8E78-0AFD06D0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5529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rPr>
              <a:t>IN_PROGRESS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9D758BE-CC92-4ACC-9577-CB42D3EC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524500"/>
            <a:ext cx="51625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3F3EE"/>
          </a:solidFill>
          <a:ln xmlns:a="http://schemas.openxmlformats.org/drawingml/2006/main" w="9525">
            <a:solidFill>
              <a:srgbClr val="E3F3E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C746C89-603C-4458-BBE5-489B75B1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676900"/>
            <a:ext cx="481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8B7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0F8B7B"/>
                </a:solidFill>
                <a:latin typeface="Malgun Gothic"/>
                <a:ea typeface="Malgun Gothic"/>
                <a:cs typeface="Malgun Gothic"/>
              </a:rPr>
              <a:t>Label은 신규 진입 Gate · 연결된 Thread는 Inbox/Sent 양쪽을 계속 추적</a:t>
            </a:r>
          </a:p>
        </p:txBody>
      </p:sp>
    </p:spTree>
    <p:extLst>
      <p:ext uri="{BB962C8B-B14F-4D97-AF65-F5344CB8AC3E}">
        <p14:creationId xmlns:p14="http://schemas.microsoft.com/office/powerpoint/2010/main" val="2717105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0B0DC6-48D2-4FC0-9BB4-524D2BCB5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F5BD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F5BD8"/>
                </a:solidFill>
                <a:latin typeface="Malgun Gothic"/>
                <a:ea typeface="Malgun Gothic"/>
                <a:cs typeface="Malgun Gothic"/>
              </a:rPr>
              <a:t>OPERATIONAL UX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DA2A9B-1A25-46B6-BCB2-D9366753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096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rPr>
              <a:t>사용자는 ‘Agent 내부’가 아니라 오늘 해야 할 일을 먼저 봅니다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476250" y="1285875"/>
            <a:ext cx="11239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4CB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321924-9A36-425F-81A9-A6F2AB66F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5bed1fcba64a70"/>
          <a:srcRect xmlns:a="http://schemas.openxmlformats.org/drawingml/2006/main" l="0" t="32689" r="0" b="326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" y="1676400"/>
            <a:ext cx="7048500" cy="2419350"/>
          </a:xfrm>
          <a:prstGeom xmlns:a="http://schemas.openxmlformats.org/drawingml/2006/main" prst="roundRect">
            <a:avLst>
              <a:gd name="adj" fmla="val 4724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D086D8-D3CC-480E-A37B-928ED60A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62200"/>
            <a:ext cx="14287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F7F8F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69C424-E944-4A89-AD8E-1C9EC5CAC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90875"/>
            <a:ext cx="14287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F7F8F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EBB4A2-B278-49D9-9E6A-A3CE12ED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90975"/>
            <a:ext cx="14287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F7F8F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9BAA8D-68C8-44DE-9A58-520D50AE7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86250"/>
            <a:ext cx="7048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D9E836-580B-4038-A249-F447DB881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F5BD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F5BD8"/>
                </a:solidFill>
                <a:latin typeface="Malgun Gothic"/>
                <a:ea typeface="Malgun Gothic"/>
                <a:cs typeface="Malgun Gothic"/>
              </a:rPr>
              <a:t>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FD7916-91C0-47DB-85C4-389659982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76750"/>
            <a:ext cx="542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rPr>
              <a:t>오늘의 우선 업무·검토 요청·최근 메일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90DD1F-0C52-47FF-B9A2-CEC26B6F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F5BD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F5BD8"/>
                </a:solidFill>
                <a:latin typeface="Malgun Gothic"/>
                <a:ea typeface="Malgun Gothic"/>
                <a:cs typeface="Malgun Gothic"/>
              </a:rPr>
              <a:t>내 업무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72B87F-EE46-428E-8617-E15E439E3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800600"/>
            <a:ext cx="542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rPr>
              <a:t>검색·상태 변경·완료 처리·메일 Timeline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E5A175-F20D-45CA-A9F2-BCC41C21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8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86B78"/>
                </a:solidFill>
                <a:latin typeface="Malgun Gothic"/>
                <a:ea typeface="Malgun Gothic"/>
                <a:cs typeface="Malgun Gothic"/>
              </a:rPr>
              <a:t>검토 요청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8EF18A-CD78-407F-8B90-ADEACA36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124450"/>
            <a:ext cx="542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rPr>
              <a:t>ASK_USER만 모아 사용자 확정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A8FBCA-510C-432C-8B8E-A65953F7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8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86B78"/>
                </a:solidFill>
                <a:latin typeface="Malgun Gothic"/>
                <a:ea typeface="Malgun Gothic"/>
                <a:cs typeface="Malgun Gothic"/>
              </a:rPr>
              <a:t>운영 상태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3312E7-CEAF-4762-921F-599A9E7EF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448300"/>
            <a:ext cx="542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rPr>
              <a:t>동기화·오류·Agent 실행 로그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0866A9-F800-4C50-A5B3-4754E3426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954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F5BD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F5BD8"/>
                </a:solidFill>
                <a:latin typeface="Malgun Gothic"/>
                <a:ea typeface="Malgun Gothic"/>
                <a:cs typeface="Malgun Gothic"/>
              </a:rPr>
              <a:t>사용 원칙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956B63-A4DE-49D1-97ED-A15A76DC1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8665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E86657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370A4B-B248-4BFA-9A1F-67CF159E1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95500"/>
            <a:ext cx="272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rPr>
              <a:t>자동 정리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379719-917D-4BBD-8260-66D0E1E8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19350"/>
            <a:ext cx="2724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rPr>
              <a:t>메일 연동 후 기본 ON</a:t>
            </a:r>
          </a:p>
          <a:p xmlns:a="http://schemas.openxmlformats.org/drawingml/2006/main">
            <a:pPr algn="l">
              <a:defRPr sz="1125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rPr>
              <a:t>필요할 때만 OFF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3E50DB-9610-4208-8281-B17DB9FF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670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F5BD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F5BD8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C1DB99-C52C-41AA-A169-8CC4EF5BD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48000"/>
            <a:ext cx="272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rPr>
              <a:t>우선순위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C34DF4-F3CE-459C-AF78-44F56A17D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371850"/>
            <a:ext cx="2724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rPr>
              <a:t>기한·발신자·도메인·키워드</a:t>
            </a:r>
          </a:p>
          <a:p xmlns:a="http://schemas.openxmlformats.org/drawingml/2006/main">
            <a:pPr algn="l">
              <a:defRPr sz="1125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rPr>
              <a:t>규칙을 설정에서 조정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B3324A-3BA0-44A8-A7DB-19A8A0D94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0195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F5BD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F5BD8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B71D45-7998-4D10-81DF-ABAFD8B4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000500"/>
            <a:ext cx="272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rPr>
              <a:t>직접 통제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E771BC-90E1-41E7-BE09-95B202962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324350"/>
            <a:ext cx="2724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rPr>
              <a:t>Task 추가·수정·완료와</a:t>
            </a:r>
          </a:p>
          <a:p xmlns:a="http://schemas.openxmlformats.org/drawingml/2006/main">
            <a:pPr algn="l">
              <a:defRPr sz="1125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rPr>
              <a:t>Agent 제안 확정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B8AE02-0582-4888-A817-96D8E9991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720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F5BD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F5BD8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4D3A2F-7A84-4208-A7AE-92C2931C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953000"/>
            <a:ext cx="272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rPr>
              <a:t>설명 가능성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2E9F29-ED08-4DD8-9898-34499CD4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276850"/>
            <a:ext cx="2724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rPr>
              <a:t>판단 근거·변경 전후·오류를</a:t>
            </a:r>
          </a:p>
          <a:p xmlns:a="http://schemas.openxmlformats.org/drawingml/2006/main">
            <a:pPr algn="l">
              <a:defRPr sz="1125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rPr>
              <a:t>운영 화면에서 확인</a:t>
            </a:r>
          </a:p>
        </p:txBody>
      </p:sp>
    </p:spTree>
    <p:extLst>
      <p:ext uri="{BB962C8B-B14F-4D97-AF65-F5344CB8AC3E}">
        <p14:creationId xmlns:p14="http://schemas.microsoft.com/office/powerpoint/2010/main" val="12988271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EB154CC-9D9D-46AD-8D7D-B725476B8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F5BD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F5BD8"/>
                </a:solidFill>
                <a:latin typeface="Malgun Gothic"/>
                <a:ea typeface="Malgun Gothic"/>
                <a:cs typeface="Malgun Gothic"/>
              </a:rPr>
              <a:t>VERIFICATION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DC25FD-2B6C-40ED-9993-A966D4060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096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rPr>
              <a:t>완성도는 ‘구현했다’가 아니라 반복 가능한 증적으로 확인했습니다</a:t>
            </a:r>
          </a:p>
        </p:txBody>
      </p:sp>
      <p:cxnSp>
        <p:nvCxnSpPr>
          <p:cNvPr id="39" name=""/>
          <p:cNvCxnSpPr/>
          <p:nvPr/>
        </p:nvCxnSpPr>
        <p:spPr>
          <a:xfrm xmlns:a="http://schemas.openxmlformats.org/drawingml/2006/main">
            <a:off x="476250" y="1285875"/>
            <a:ext cx="11239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4CB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6999B9-67EB-4244-A42A-CF5E83E9C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ECAA18-AEFD-42D2-A104-226A37041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14500"/>
            <a:ext cx="2514600" cy="2114550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A6460C-61F8-46AE-AA49-6C5642E7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14500"/>
            <a:ext cx="25146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BD8"/>
          </a:solidFill>
          <a:ln xmlns:a="http://schemas.openxmlformats.org/drawingml/2006/main" w="9525">
            <a:solidFill>
              <a:srgbClr val="3F5B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D63ED9-FA96-4C99-B031-85118AD1C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133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3F5BD8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3F5BD8"/>
                </a:solidFill>
                <a:latin typeface="Malgun Gothic"/>
                <a:ea typeface="Malgun Gothic"/>
                <a:cs typeface="Malgun Gothic"/>
              </a:rPr>
              <a:t>15 / 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70DB47-6533-40EC-BAA0-52BE9C45E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19400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rPr>
              <a:t>회사 LLM Live Case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290F69-D620-4CDA-BD65-BE664A045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76600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rPr>
              <a:t>합성·비식별 Ground Truth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E99C1E-5DE1-4331-8033-F0F1D84D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714500"/>
            <a:ext cx="2514600" cy="2114550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06024C-5C02-485B-A905-2256541C6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714500"/>
            <a:ext cx="25146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57D9"/>
          </a:solidFill>
          <a:ln xmlns:a="http://schemas.openxmlformats.org/drawingml/2006/main" w="9525">
            <a:solidFill>
              <a:srgbClr val="7257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1C6A76-29A9-4C15-9B88-BA29182A1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95500"/>
            <a:ext cx="2133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7257D9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7257D9"/>
                </a:solidFill>
                <a:latin typeface="Malgun Gothic"/>
                <a:ea typeface="Malgun Gothic"/>
                <a:cs typeface="Malgun Gothic"/>
              </a:rPr>
              <a:t>28 / 28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12CB6F-5D4C-4B5F-BF6C-BEC479BA7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819400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rPr>
              <a:t>Action 단계 일치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03A463-FDB8-4EA2-9E9E-9C9AD73BB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276600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rPr>
              <a:t>정의된 E2E 기대 Action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86DBE2-2BA8-4AD9-A0C0-0EE2D8D30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714500"/>
            <a:ext cx="2514600" cy="2114550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6341A1-8BD0-4E1A-BBC0-E677262D9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714500"/>
            <a:ext cx="25146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7B"/>
          </a:solidFill>
          <a:ln xmlns:a="http://schemas.openxmlformats.org/drawingml/2006/main" w="9525">
            <a:solidFill>
              <a:srgbClr val="0F8B7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DA11B5-1E17-4415-8FB6-A0A78B6B7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95500"/>
            <a:ext cx="2133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0F8B7B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0F8B7B"/>
                </a:solidFill>
                <a:latin typeface="Malgun Gothic"/>
                <a:ea typeface="Malgun Gothic"/>
                <a:cs typeface="Malgun Gothic"/>
              </a:rPr>
              <a:t>118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523FFD-1CB0-4B63-9AA0-1376750B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19400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rPr>
              <a:t>pytest passed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7E3788-FEAF-43A6-B8F6-C833CFE2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76600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rPr>
              <a:t>Core + Gmail + 운영 UI 회귀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8652ED-D0B9-40CA-B8F2-242622EEE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714500"/>
            <a:ext cx="2514600" cy="2114550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66E560-97E8-467C-9E55-C75002516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714500"/>
            <a:ext cx="25146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657"/>
          </a:solidFill>
          <a:ln xmlns:a="http://schemas.openxmlformats.org/drawingml/2006/main" w="9525">
            <a:solidFill>
              <a:srgbClr val="E8665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582625-1E7C-4E0C-8B2B-4775D9B12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95500"/>
            <a:ext cx="2133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E8665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E86657"/>
                </a:solidFill>
                <a:latin typeface="Malgun Gothic"/>
                <a:ea typeface="Malgun Gothic"/>
                <a:cs typeface="Malgun Gothic"/>
              </a:rPr>
              <a:t>20 / 20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8CC807-4D11-48C2-B7FD-792435258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19400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rPr>
              <a:t>Gmail 실메일 수용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923E57-724B-4F8B-AEEE-BC1058BA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76600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rPr>
              <a:t>별도 송신 계정 GL-001~020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5745B8-7252-4AC2-8FE6-4F522DBF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48150"/>
            <a:ext cx="10972800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141B36"/>
          </a:solidFill>
          <a:ln xmlns:a="http://schemas.openxmlformats.org/drawingml/2006/main" w="9525">
            <a:solidFill>
              <a:srgbClr val="141B3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AC9DEA-B9B0-4074-8F06-9CB341FF8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958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ED9C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7ED9CA"/>
                </a:solidFill>
                <a:latin typeface="Malgun Gothic"/>
                <a:ea typeface="Malgun Gothic"/>
                <a:cs typeface="Malgun Gothic"/>
              </a:rPr>
              <a:t>최근 Live 동기화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D32042-3D8A-4670-A579-18F3B5F87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SYNC-0BA30F517ECC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534E6F-BAB2-411E-85C6-DC71A8144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5529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309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64097C-BE9C-43AE-8065-7581F9EA2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9720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FC6D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BFC6DB"/>
                </a:solidFill>
                <a:latin typeface="Malgun Gothic"/>
                <a:ea typeface="Malgun Gothic"/>
                <a:cs typeface="Malgun Gothic"/>
              </a:rPr>
              <a:t>가져옴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C899D3-7593-4E26-9350-BAC9B8513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529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309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6C606E-A9C1-41C4-9D92-1BF3D9C6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9720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FC6D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BFC6DB"/>
                </a:solidFill>
                <a:latin typeface="Malgun Gothic"/>
                <a:ea typeface="Malgun Gothic"/>
                <a:cs typeface="Malgun Gothic"/>
              </a:rPr>
              <a:t>신규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8C6DD0-323A-44BC-9061-09FA185DF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529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309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092883-948C-4D42-81C3-BA5C77DD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720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FC6D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BFC6DB"/>
                </a:solidFill>
                <a:latin typeface="Malgun Gothic"/>
                <a:ea typeface="Malgun Gothic"/>
                <a:cs typeface="Malgun Gothic"/>
              </a:rPr>
              <a:t>중복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7A20B8-1835-4C17-A242-2C44E60B2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5529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309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ED9C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7ED9CA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E3B0E60-E0B2-49C9-B695-8DA9D87B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9720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FC6D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BFC6DB"/>
                </a:solidFill>
                <a:latin typeface="Malgun Gothic"/>
                <a:ea typeface="Malgun Gothic"/>
                <a:cs typeface="Malgun Gothic"/>
              </a:rPr>
              <a:t>실패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2A5FAFF-FD87-4F91-A46D-59B8007A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0550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rPr>
              <a:t>※ 수동 시간 절감 KPI는 실제 Baseline 측정 전까지 달성값으로 주장하지 않음</a:t>
            </a:r>
          </a:p>
        </p:txBody>
      </p:sp>
    </p:spTree>
    <p:extLst>
      <p:ext uri="{BB962C8B-B14F-4D97-AF65-F5344CB8AC3E}">
        <p14:creationId xmlns:p14="http://schemas.microsoft.com/office/powerpoint/2010/main" val="6202828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754F2F-9FE0-4CDE-8F46-E6881ECEA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F5BD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F5BD8"/>
                </a:solidFill>
                <a:latin typeface="Malgun Gothic"/>
                <a:ea typeface="Malgun Gothic"/>
                <a:cs typeface="Malgun Gothic"/>
              </a:rPr>
              <a:t>OPERATIONAL 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A7CF6A-38B7-4DD4-B922-367D7EF19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096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204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rPr>
              <a:t>실메일 자동화는 정확도보다 ‘안전하게 멈추고 복구하는가’가 중요합니다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476250" y="1285875"/>
            <a:ext cx="11239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4CB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D76390-A95D-4B63-83F5-604AE2712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53677D-8811-4ACE-9DF9-4570817DD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14500"/>
            <a:ext cx="525780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6940C6-A3B2-4B8D-A3C7-9F34B3ED5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621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F5BD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F5BD8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F9E2C6-6643-40DD-9145-C039D76EB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43100"/>
            <a:ext cx="3886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rPr>
              <a:t>READ-ONLY 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2B1992-4FA2-44E6-8FA2-849E252F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81250"/>
            <a:ext cx="3886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rPr>
              <a:t>Gmail OAuth는 gmail.readonly</a:t>
            </a:r>
          </a:p>
          <a:p xmlns:a="http://schemas.openxmlformats.org/drawingml/2006/main">
            <a:pPr algn="l">
              <a:defRPr sz="1275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rPr>
              <a:t>자동 발송·삭제는 범위 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6906A7-48E9-42F2-8BA8-75C52F150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14500"/>
            <a:ext cx="525780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AA2194-3647-4809-9801-7F5B6EB61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621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8B7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F8B7B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B7154E-E256-4213-B1AE-76FA57B6B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943100"/>
            <a:ext cx="3886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rPr>
              <a:t>TRANSACTION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D5E791-468F-494D-86BB-8CE832BDF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81250"/>
            <a:ext cx="3886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rPr>
              <a:t>Pydantic Validation 실패 시</a:t>
            </a:r>
          </a:p>
          <a:p xmlns:a="http://schemas.openxmlformats.org/drawingml/2006/main">
            <a:pPr algn="l">
              <a:defRPr sz="1275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rPr>
              <a:t>Task와 History 전체 Rollback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E770DA-053E-41A9-8970-A25CD07C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43300"/>
            <a:ext cx="525780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FDF03E-350B-4944-ABFA-35F8937E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909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8665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E86657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C17214-F38E-45A1-82D8-D479B8ECC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71900"/>
            <a:ext cx="3886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rPr>
              <a:t>HUMAN GATE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53D269-BE6C-4D8F-AE2D-6D9B34FFB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0050"/>
            <a:ext cx="3886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rPr>
              <a:t>완료·취소·모호한 후보는</a:t>
            </a:r>
          </a:p>
          <a:p xmlns:a="http://schemas.openxmlformats.org/drawingml/2006/main">
            <a:pPr algn="l">
              <a:defRPr sz="1275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rPr>
              <a:t>ASK_USER에서 사용자 확정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1CC7F2-17CD-4A7F-8B7E-88F13F695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25780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9613BA-4BE1-438C-98DB-387E279F2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909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59B2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D59B2B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733404-572B-4204-AF84-2A512ADC1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771900"/>
            <a:ext cx="3886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rPr>
              <a:t>AUDIT + RECOVERY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EF860E-B28E-4FEF-B990-E50A3F6F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210050"/>
            <a:ext cx="3886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rPr>
              <a:t>Secret Redaction·중복 방지</a:t>
            </a:r>
          </a:p>
          <a:p xmlns:a="http://schemas.openxmlformats.org/drawingml/2006/main">
            <a:pPr algn="l">
              <a:defRPr sz="1275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rPr>
              <a:t>SQLite Backup 무결성 검증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AE1DA5-87A5-4E69-910E-98E04F4F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91150"/>
            <a:ext cx="109728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8EED7"/>
          </a:solidFill>
          <a:ln xmlns:a="http://schemas.openxmlformats.org/drawingml/2006/main" w="9525">
            <a:solidFill>
              <a:srgbClr val="F8EED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F2CAA8-C2FA-4895-B505-BFA27F7F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626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59B2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D59B2B"/>
                </a:solidFill>
                <a:latin typeface="Malgun Gothic"/>
                <a:ea typeface="Malgun Gothic"/>
                <a:cs typeface="Malgun Gothic"/>
              </a:rPr>
              <a:t>로컬 검증 DB 무결성 오류 감지 → 원본 보존 → 정상 백업 검증 → 복원 완료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F4BA58-AB71-4A3C-9687-4D1B4CD10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562600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723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rPr>
              <a:t>integrity ok · Mail 22 · Task 7 · History 23</a:t>
            </a:r>
          </a:p>
        </p:txBody>
      </p:sp>
    </p:spTree>
    <p:extLst>
      <p:ext uri="{BB962C8B-B14F-4D97-AF65-F5344CB8AC3E}">
        <p14:creationId xmlns:p14="http://schemas.microsoft.com/office/powerpoint/2010/main" val="8003134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B3A62E2-A88B-47FD-AEB1-547CDD12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F5BD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F5BD8"/>
                </a:solidFill>
                <a:latin typeface="Malgun Gothic"/>
                <a:ea typeface="Malgun Gothic"/>
                <a:cs typeface="Malgun Gothic"/>
              </a:rPr>
              <a:t>DECISION &amp; NEXT GATE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563987-99B0-4147-AEAB-3AF3B4CB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096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547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rPr>
              <a:t>수요일에는 완성된 로컬 운영 흐름을 시연하고, 외부 Gate는 분리해 보고합니다</a:t>
            </a:r>
          </a:p>
        </p:txBody>
      </p:sp>
      <p:cxnSp>
        <p:nvCxnSpPr>
          <p:cNvPr id="39" name=""/>
          <p:cNvCxnSpPr/>
          <p:nvPr/>
        </p:nvCxnSpPr>
        <p:spPr>
          <a:xfrm xmlns:a="http://schemas.openxmlformats.org/drawingml/2006/main">
            <a:off x="476250" y="1285875"/>
            <a:ext cx="11239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4CB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CF1030-7A75-4243-B554-11D521001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86B78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A14164-F7C3-4E40-8D77-A1DCBD31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1619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8B7B"/>
          </a:solidFill>
          <a:ln xmlns:a="http://schemas.openxmlformats.org/drawingml/2006/main" w="9525">
            <a:solidFill>
              <a:srgbClr val="0F8B7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AFDB8E-BD26-4221-8807-E7E434DE7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335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DEMO READY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7AD018-431E-45B6-91C6-8BDE08EA8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52650"/>
            <a:ext cx="5219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rPr>
              <a:t>지금 시연할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52E85D-1C30-4DE6-B116-6FDE5092D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05100"/>
            <a:ext cx="5219700" cy="270510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9D2836-4502-4619-A3DE-7AF07DA45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71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B7B"/>
          </a:solidFill>
          <a:ln xmlns:a="http://schemas.openxmlformats.org/drawingml/2006/main" w="0">
            <a:solidFill>
              <a:srgbClr val="0F8B7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187F1C-88A1-4F5F-94BB-52C2DB441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765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rPr>
              <a:t>자동 Gmail 동기화 ON/OFF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C81C43-0751-4741-B7F1-D1F46AF32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71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B7B"/>
          </a:solidFill>
          <a:ln xmlns:a="http://schemas.openxmlformats.org/drawingml/2006/main" w="0">
            <a:solidFill>
              <a:srgbClr val="0F8B7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4B1727-8D8F-4A39-AD8E-7F17AD778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766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rPr>
              <a:t>신규 메일 → CREATE_TASK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FA3B06-F9FA-46C3-A598-8F6C14B49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B7B"/>
          </a:solidFill>
          <a:ln xmlns:a="http://schemas.openxmlformats.org/drawingml/2006/main" w="0">
            <a:solidFill>
              <a:srgbClr val="0F8B7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8FEEA2-3779-4FF3-95A4-22FA8053C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766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rPr>
              <a:t>보낸 회신 → WAITING_REPLY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2D7019-E3FD-4A64-BCD3-B8FBE0DCB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B7B"/>
          </a:solidFill>
          <a:ln xmlns:a="http://schemas.openxmlformats.org/drawingml/2006/main" w="0">
            <a:solidFill>
              <a:srgbClr val="0F8B7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49D3BB-9053-49A3-9131-C4C748AB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767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A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1A2B"/>
                </a:solidFill>
                <a:latin typeface="Malgun Gothic"/>
                <a:ea typeface="Malgun Gothic"/>
                <a:cs typeface="Malgun Gothic"/>
              </a:rPr>
              <a:t>후속 메일 → IN_PROGRESS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5087B8-7AEC-4FDB-B167-F98DF65D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B7B"/>
          </a:solidFill>
          <a:ln xmlns:a="http://schemas.openxmlformats.org/drawingml/2006/main" w="0">
            <a:solidFill>
              <a:srgbClr val="0F8B7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0C543D-604C-46AD-A9BB-152585724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767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A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1A2B"/>
                </a:solidFill>
                <a:latin typeface="Malgun Gothic"/>
                <a:ea typeface="Malgun Gothic"/>
                <a:cs typeface="Malgun Gothic"/>
              </a:rPr>
              <a:t>ASK_USER 확정과 Audit History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7DFC79-60C3-41C2-9D44-AEBB1ECA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72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B7B"/>
          </a:solidFill>
          <a:ln xmlns:a="http://schemas.openxmlformats.org/drawingml/2006/main" w="0">
            <a:solidFill>
              <a:srgbClr val="0F8B7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A0A4E7-E102-4980-9E10-2C8CC346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768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A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1A2B"/>
                </a:solidFill>
                <a:latin typeface="Malgun Gothic"/>
                <a:ea typeface="Malgun Gothic"/>
                <a:cs typeface="Malgun Gothic"/>
              </a:rPr>
              <a:t>우선순위·기한·완료 처리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9CB105-CA12-494C-9A8D-3F620413E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76400"/>
            <a:ext cx="1619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F5BD8"/>
          </a:solidFill>
          <a:ln xmlns:a="http://schemas.openxmlformats.org/drawingml/2006/main" w="9525">
            <a:solidFill>
              <a:srgbClr val="3F5B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8C17DE-57F0-4F4D-B2CF-DE9FB688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335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EXTERNAL GATE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4CF38E-FF34-4E4C-A346-B0AA5F483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52650"/>
            <a:ext cx="544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rPr>
              <a:t>사내 적용 전에 필요한 것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52F315-ED61-4032-901B-D6DF65458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05100"/>
            <a:ext cx="5448300" cy="270510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4C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9056CD-D195-4968-B2E2-6F1CE2A9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71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5BD8"/>
          </a:solidFill>
          <a:ln xmlns:a="http://schemas.openxmlformats.org/drawingml/2006/main" w="0">
            <a:solidFill>
              <a:srgbClr val="3F5B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CD8C68-EB46-48F4-AAEF-F93D77666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76550"/>
            <a:ext cx="470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rPr>
              <a:t>VM · TLS · Domain 배포 환경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081CC5-294E-471D-9C97-F056C07A7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71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5BD8"/>
          </a:solidFill>
          <a:ln xmlns:a="http://schemas.openxmlformats.org/drawingml/2006/main" w="0">
            <a:solidFill>
              <a:srgbClr val="3F5B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2815FA-3739-4074-AE80-6B3614B6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76600"/>
            <a:ext cx="470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rPr>
              <a:t>사내 인증/SSO와 다중 사용자 DB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2D015C-99CF-4254-AC76-0286B111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71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5BD8"/>
          </a:solidFill>
          <a:ln xmlns:a="http://schemas.openxmlformats.org/drawingml/2006/main" w="0">
            <a:solidFill>
              <a:srgbClr val="3F5B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0EB1A7-0947-4C3D-9B01-B10948200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76650"/>
            <a:ext cx="470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rPr>
              <a:t>Slack Webhook·Channel 승인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4F8097-E291-45F8-99C5-AC59BAE91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171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5BD8"/>
          </a:solidFill>
          <a:ln xmlns:a="http://schemas.openxmlformats.org/drawingml/2006/main" w="0">
            <a:solidFill>
              <a:srgbClr val="3F5BD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391D86-CE6E-4ACB-A884-022CF9ECD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76700"/>
            <a:ext cx="470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A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1A2B"/>
                </a:solidFill>
                <a:latin typeface="Malgun Gothic"/>
                <a:ea typeface="Malgun Gothic"/>
                <a:cs typeface="Malgun Gothic"/>
              </a:rPr>
              <a:t>중앙 모니터링 연동 기준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56A074-E463-4FC9-B866-A59897F9F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72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5BD8"/>
          </a:solidFill>
          <a:ln xmlns:a="http://schemas.openxmlformats.org/drawingml/2006/main" w="0">
            <a:solidFill>
              <a:srgbClr val="3F5BD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E05E39-8BF8-4537-9EB7-B5D526377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76750"/>
            <a:ext cx="470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A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1A2B"/>
                </a:solidFill>
                <a:latin typeface="Malgun Gothic"/>
                <a:ea typeface="Malgun Gothic"/>
                <a:cs typeface="Malgun Gothic"/>
              </a:rPr>
              <a:t>Outlook / Microsoft Graph는 마지막 Adapter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2D29A54-B22D-44A4-A9EE-070A9732C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483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8665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E86657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86D8973-6825-447E-A606-E0A57D68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810250"/>
            <a:ext cx="979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1A2B"/>
                </a:solidFill>
                <a:latin typeface="Malgun Gothic"/>
                <a:ea typeface="Malgun Gothic"/>
                <a:cs typeface="Malgun Gothic"/>
              </a:rPr>
              <a:t>외부 Gate가 남아 있어도 AI Master MVP는 유지·제출 가능하며, 실전 기능은 별도 Post-MVP 증적으로 관리합니다.</a:t>
            </a:r>
          </a:p>
        </p:txBody>
      </p:sp>
    </p:spTree>
    <p:extLst>
      <p:ext uri="{BB962C8B-B14F-4D97-AF65-F5344CB8AC3E}">
        <p14:creationId xmlns:p14="http://schemas.microsoft.com/office/powerpoint/2010/main" val="220966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2026-08-30T01:56:49.7170000Z</dcterms:created>
  <dcterms:modified xsi:type="dcterms:W3CDTF">2026-08-30T01:56:49.7170000Z</dcterms:modified>
</coreProperties>
</file>